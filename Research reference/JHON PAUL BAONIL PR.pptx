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60" r:id="rId5"/>
    <p:sldId id="261" r:id="rId6"/>
    <p:sldId id="302"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7" r:id="rId32"/>
    <p:sldId id="286" r:id="rId33"/>
    <p:sldId id="288" r:id="rId34"/>
    <p:sldId id="289" r:id="rId35"/>
    <p:sldId id="290" r:id="rId36"/>
    <p:sldId id="291" r:id="rId37"/>
    <p:sldId id="293" r:id="rId38"/>
    <p:sldId id="292" r:id="rId39"/>
    <p:sldId id="294" r:id="rId40"/>
    <p:sldId id="295" r:id="rId41"/>
    <p:sldId id="296" r:id="rId42"/>
    <p:sldId id="297" r:id="rId43"/>
    <p:sldId id="298" r:id="rId44"/>
    <p:sldId id="299" r:id="rId45"/>
    <p:sldId id="300" r:id="rId46"/>
    <p:sldId id="301" r:id="rId47"/>
    <p:sldId id="303" r:id="rId48"/>
    <p:sldId id="304" r:id="rId49"/>
    <p:sldId id="305" r:id="rId50"/>
    <p:sldId id="306" r:id="rId51"/>
    <p:sldId id="307" r:id="rId5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7907D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66" d="100"/>
          <a:sy n="66" d="100"/>
        </p:scale>
        <p:origin x="668" y="3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3FE04E8D-B692-4335-A50B-5C69422761AE}" type="datetimeFigureOut">
              <a:rPr lang="en-US" smtClean="0"/>
              <a:t>2/14/2025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274C5CF-B4F6-4A0B-99E8-678B0E26D915}" type="slidenum">
              <a:rPr lang="en-US" smtClean="0"/>
              <a:t>‹#›</a:t>
            </a:fld>
            <a:endParaRPr lang="en-US"/>
          </a:p>
        </p:txBody>
      </p:sp>
    </p:spTree>
    <p:extLst>
      <p:ext uri="{BB962C8B-B14F-4D97-AF65-F5344CB8AC3E}">
        <p14:creationId xmlns:p14="http://schemas.microsoft.com/office/powerpoint/2010/main" val="216878913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3FE04E8D-B692-4335-A50B-5C69422761AE}" type="datetimeFigureOut">
              <a:rPr lang="en-US" smtClean="0"/>
              <a:t>2/14/2025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274C5CF-B4F6-4A0B-99E8-678B0E26D915}" type="slidenum">
              <a:rPr lang="en-US" smtClean="0"/>
              <a:t>‹#›</a:t>
            </a:fld>
            <a:endParaRPr lang="en-US"/>
          </a:p>
        </p:txBody>
      </p:sp>
    </p:spTree>
    <p:extLst>
      <p:ext uri="{BB962C8B-B14F-4D97-AF65-F5344CB8AC3E}">
        <p14:creationId xmlns:p14="http://schemas.microsoft.com/office/powerpoint/2010/main" val="362194364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FE04E8D-B692-4335-A50B-5C69422761AE}" type="datetimeFigureOut">
              <a:rPr lang="en-US" smtClean="0"/>
              <a:t>2/14/2025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274C5CF-B4F6-4A0B-99E8-678B0E26D915}" type="slidenum">
              <a:rPr lang="en-US" smtClean="0"/>
              <a:t>‹#›</a:t>
            </a:fld>
            <a:endParaRPr lang="en-US"/>
          </a:p>
        </p:txBody>
      </p:sp>
    </p:spTree>
    <p:extLst>
      <p:ext uri="{BB962C8B-B14F-4D97-AF65-F5344CB8AC3E}">
        <p14:creationId xmlns:p14="http://schemas.microsoft.com/office/powerpoint/2010/main" val="108138345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3FE04E8D-B692-4335-A50B-5C69422761AE}" type="datetimeFigureOut">
              <a:rPr lang="en-US" smtClean="0"/>
              <a:t>2/14/2025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274C5CF-B4F6-4A0B-99E8-678B0E26D915}" type="slidenum">
              <a:rPr lang="en-US" smtClean="0"/>
              <a:t>‹#›</a:t>
            </a:fld>
            <a:endParaRPr lang="en-US"/>
          </a:p>
        </p:txBody>
      </p:sp>
    </p:spTree>
    <p:extLst>
      <p:ext uri="{BB962C8B-B14F-4D97-AF65-F5344CB8AC3E}">
        <p14:creationId xmlns:p14="http://schemas.microsoft.com/office/powerpoint/2010/main" val="7451892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3FE04E8D-B692-4335-A50B-5C69422761AE}" type="datetimeFigureOut">
              <a:rPr lang="en-US" smtClean="0"/>
              <a:t>2/14/2025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274C5CF-B4F6-4A0B-99E8-678B0E26D915}" type="slidenum">
              <a:rPr lang="en-US" smtClean="0"/>
              <a:t>‹#›</a:t>
            </a:fld>
            <a:endParaRPr lang="en-US"/>
          </a:p>
        </p:txBody>
      </p:sp>
    </p:spTree>
    <p:extLst>
      <p:ext uri="{BB962C8B-B14F-4D97-AF65-F5344CB8AC3E}">
        <p14:creationId xmlns:p14="http://schemas.microsoft.com/office/powerpoint/2010/main" val="289042497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3FE04E8D-B692-4335-A50B-5C69422761AE}" type="datetimeFigureOut">
              <a:rPr lang="en-US" smtClean="0"/>
              <a:t>2/14/2025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274C5CF-B4F6-4A0B-99E8-678B0E26D915}" type="slidenum">
              <a:rPr lang="en-US" smtClean="0"/>
              <a:t>‹#›</a:t>
            </a:fld>
            <a:endParaRPr lang="en-US"/>
          </a:p>
        </p:txBody>
      </p:sp>
    </p:spTree>
    <p:extLst>
      <p:ext uri="{BB962C8B-B14F-4D97-AF65-F5344CB8AC3E}">
        <p14:creationId xmlns:p14="http://schemas.microsoft.com/office/powerpoint/2010/main" val="48715390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FE04E8D-B692-4335-A50B-5C69422761AE}" type="datetimeFigureOut">
              <a:rPr lang="en-US" smtClean="0"/>
              <a:t>2/14/2025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274C5CF-B4F6-4A0B-99E8-678B0E26D915}" type="slidenum">
              <a:rPr lang="en-US" smtClean="0"/>
              <a:t>‹#›</a:t>
            </a:fld>
            <a:endParaRPr lang="en-US"/>
          </a:p>
        </p:txBody>
      </p:sp>
    </p:spTree>
    <p:extLst>
      <p:ext uri="{BB962C8B-B14F-4D97-AF65-F5344CB8AC3E}">
        <p14:creationId xmlns:p14="http://schemas.microsoft.com/office/powerpoint/2010/main" val="332059037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3FE04E8D-B692-4335-A50B-5C69422761AE}" type="datetimeFigureOut">
              <a:rPr lang="en-US" smtClean="0"/>
              <a:t>2/14/2025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274C5CF-B4F6-4A0B-99E8-678B0E26D915}" type="slidenum">
              <a:rPr lang="en-US" smtClean="0"/>
              <a:t>‹#›</a:t>
            </a:fld>
            <a:endParaRPr lang="en-US"/>
          </a:p>
        </p:txBody>
      </p:sp>
    </p:spTree>
    <p:extLst>
      <p:ext uri="{BB962C8B-B14F-4D97-AF65-F5344CB8AC3E}">
        <p14:creationId xmlns:p14="http://schemas.microsoft.com/office/powerpoint/2010/main" val="299135641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3FE04E8D-B692-4335-A50B-5C69422761AE}" type="datetimeFigureOut">
              <a:rPr lang="en-US" smtClean="0"/>
              <a:t>2/14/2025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274C5CF-B4F6-4A0B-99E8-678B0E26D915}" type="slidenum">
              <a:rPr lang="en-US" smtClean="0"/>
              <a:t>‹#›</a:t>
            </a:fld>
            <a:endParaRPr lang="en-US"/>
          </a:p>
        </p:txBody>
      </p:sp>
    </p:spTree>
    <p:extLst>
      <p:ext uri="{BB962C8B-B14F-4D97-AF65-F5344CB8AC3E}">
        <p14:creationId xmlns:p14="http://schemas.microsoft.com/office/powerpoint/2010/main" val="295637690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3FE04E8D-B692-4335-A50B-5C69422761AE}" type="datetimeFigureOut">
              <a:rPr lang="en-US" smtClean="0"/>
              <a:t>2/14/2025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274C5CF-B4F6-4A0B-99E8-678B0E26D915}" type="slidenum">
              <a:rPr lang="en-US" smtClean="0"/>
              <a:t>‹#›</a:t>
            </a:fld>
            <a:endParaRPr lang="en-US"/>
          </a:p>
        </p:txBody>
      </p:sp>
    </p:spTree>
    <p:extLst>
      <p:ext uri="{BB962C8B-B14F-4D97-AF65-F5344CB8AC3E}">
        <p14:creationId xmlns:p14="http://schemas.microsoft.com/office/powerpoint/2010/main" val="87716693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3FE04E8D-B692-4335-A50B-5C69422761AE}" type="datetimeFigureOut">
              <a:rPr lang="en-US" smtClean="0"/>
              <a:t>2/14/2025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274C5CF-B4F6-4A0B-99E8-678B0E26D915}" type="slidenum">
              <a:rPr lang="en-US" smtClean="0"/>
              <a:t>‹#›</a:t>
            </a:fld>
            <a:endParaRPr lang="en-US"/>
          </a:p>
        </p:txBody>
      </p:sp>
    </p:spTree>
    <p:extLst>
      <p:ext uri="{BB962C8B-B14F-4D97-AF65-F5344CB8AC3E}">
        <p14:creationId xmlns:p14="http://schemas.microsoft.com/office/powerpoint/2010/main" val="190132775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FE04E8D-B692-4335-A50B-5C69422761AE}" type="datetimeFigureOut">
              <a:rPr lang="en-US" smtClean="0"/>
              <a:t>2/14/2025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274C5CF-B4F6-4A0B-99E8-678B0E26D915}" type="slidenum">
              <a:rPr lang="en-US" smtClean="0"/>
              <a:t>‹#›</a:t>
            </a:fld>
            <a:endParaRPr lang="en-US"/>
          </a:p>
        </p:txBody>
      </p:sp>
    </p:spTree>
    <p:extLst>
      <p:ext uri="{BB962C8B-B14F-4D97-AF65-F5344CB8AC3E}">
        <p14:creationId xmlns:p14="http://schemas.microsoft.com/office/powerpoint/2010/main" val="204479715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Layout" Target="../slideLayouts/slideLayout1.xml"/><Relationship Id="rId4" Type="http://schemas.openxmlformats.org/officeDocument/2006/relationships/image" Target="../media/image3.svg"/></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Layout" Target="../slideLayouts/slideLayout1.xml"/><Relationship Id="rId4" Type="http://schemas.openxmlformats.org/officeDocument/2006/relationships/image" Target="../media/image3.sv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 name="Rectangle 45"/>
          <p:cNvSpPr/>
          <p:nvPr/>
        </p:nvSpPr>
        <p:spPr>
          <a:xfrm>
            <a:off x="0" y="-1"/>
            <a:ext cx="12192000" cy="7007361"/>
          </a:xfrm>
          <a:prstGeom prst="rect">
            <a:avLst/>
          </a:prstGeom>
          <a:blipFill>
            <a:blip r:embed="rId2"/>
            <a:stretch>
              <a:fillRect/>
            </a:stretch>
          </a:bli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Rectangle 46"/>
          <p:cNvSpPr/>
          <p:nvPr/>
        </p:nvSpPr>
        <p:spPr>
          <a:xfrm>
            <a:off x="-2" y="-1"/>
            <a:ext cx="12192000" cy="7007361"/>
          </a:xfrm>
          <a:prstGeom prst="rect">
            <a:avLst/>
          </a:prstGeom>
          <a:solidFill>
            <a:schemeClr val="tx1">
              <a:alpha val="4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Flowchart: Terminator 50"/>
          <p:cNvSpPr/>
          <p:nvPr/>
        </p:nvSpPr>
        <p:spPr>
          <a:xfrm>
            <a:off x="5635092" y="2391834"/>
            <a:ext cx="1392241" cy="341717"/>
          </a:xfrm>
          <a:prstGeom prst="flowChartTerminator">
            <a:avLst/>
          </a:prstGeom>
          <a:solidFill>
            <a:schemeClr val="accent1">
              <a:alpha val="42000"/>
            </a:schemeClr>
          </a:solidFill>
          <a:effectLst>
            <a:glow rad="127000">
              <a:schemeClr val="accent1">
                <a:alpha val="99000"/>
              </a:schemeClr>
            </a:glow>
          </a:effectLst>
          <a:scene3d>
            <a:camera prst="orthographicFront"/>
            <a:lightRig rig="threePt" dir="t"/>
          </a:scene3d>
          <a:sp3d>
            <a:bevelT prst="relaxedInse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Agency FB" panose="020B0503020202020204" pitchFamily="34" charset="0"/>
              </a:rPr>
              <a:t>LEADER: </a:t>
            </a:r>
          </a:p>
        </p:txBody>
      </p:sp>
      <p:sp>
        <p:nvSpPr>
          <p:cNvPr id="17" name="Flowchart: Terminator 16">
            <a:extLst>
              <a:ext uri="{FF2B5EF4-FFF2-40B4-BE49-F238E27FC236}">
                <a16:creationId xmlns:a16="http://schemas.microsoft.com/office/drawing/2014/main" id="{F451CC3F-E611-4D12-9603-649274D432F7}"/>
              </a:ext>
            </a:extLst>
          </p:cNvPr>
          <p:cNvSpPr/>
          <p:nvPr/>
        </p:nvSpPr>
        <p:spPr>
          <a:xfrm>
            <a:off x="5014646" y="2369344"/>
            <a:ext cx="2162708" cy="341717"/>
          </a:xfrm>
          <a:prstGeom prst="flowChartTerminator">
            <a:avLst/>
          </a:prstGeom>
          <a:solidFill>
            <a:schemeClr val="accent1">
              <a:alpha val="42000"/>
            </a:schemeClr>
          </a:solidFill>
          <a:effectLst>
            <a:glow rad="127000">
              <a:schemeClr val="accent1">
                <a:alpha val="99000"/>
              </a:schemeClr>
            </a:glow>
          </a:effectLst>
          <a:scene3d>
            <a:camera prst="orthographicFront"/>
            <a:lightRig rig="threePt" dir="t"/>
          </a:scene3d>
          <a:sp3d>
            <a:bevelT prst="relaxedInse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Agency FB" panose="020B0503020202020204" pitchFamily="34" charset="0"/>
              </a:rPr>
              <a:t>JE-IN MALIG-ON</a:t>
            </a:r>
          </a:p>
        </p:txBody>
      </p:sp>
      <p:sp>
        <p:nvSpPr>
          <p:cNvPr id="16" name="Flowchart: Terminator 15">
            <a:extLst>
              <a:ext uri="{FF2B5EF4-FFF2-40B4-BE49-F238E27FC236}">
                <a16:creationId xmlns:a16="http://schemas.microsoft.com/office/drawing/2014/main" id="{5E829341-8B57-4D54-8F3F-7A5F537D18D8}"/>
              </a:ext>
            </a:extLst>
          </p:cNvPr>
          <p:cNvSpPr/>
          <p:nvPr/>
        </p:nvSpPr>
        <p:spPr>
          <a:xfrm>
            <a:off x="5399879" y="2403211"/>
            <a:ext cx="1392241" cy="363884"/>
          </a:xfrm>
          <a:prstGeom prst="flowChartTerminator">
            <a:avLst/>
          </a:prstGeom>
          <a:solidFill>
            <a:schemeClr val="accent1">
              <a:alpha val="42000"/>
            </a:schemeClr>
          </a:solidFill>
          <a:effectLst>
            <a:glow rad="127000">
              <a:schemeClr val="accent1">
                <a:alpha val="99000"/>
              </a:schemeClr>
            </a:glow>
          </a:effectLst>
          <a:scene3d>
            <a:camera prst="orthographicFront"/>
            <a:lightRig rig="threePt" dir="t"/>
          </a:scene3d>
          <a:sp3d>
            <a:bevelT prst="relaxedInse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Agency FB" panose="020B0503020202020204" pitchFamily="34" charset="0"/>
              </a:rPr>
              <a:t>MEMBERS:</a:t>
            </a:r>
          </a:p>
        </p:txBody>
      </p:sp>
      <p:sp>
        <p:nvSpPr>
          <p:cNvPr id="18" name="Flowchart: Terminator 17">
            <a:extLst>
              <a:ext uri="{FF2B5EF4-FFF2-40B4-BE49-F238E27FC236}">
                <a16:creationId xmlns:a16="http://schemas.microsoft.com/office/drawing/2014/main" id="{4364DFFE-357E-4E59-926F-4D2D27AA5B3C}"/>
              </a:ext>
            </a:extLst>
          </p:cNvPr>
          <p:cNvSpPr/>
          <p:nvPr/>
        </p:nvSpPr>
        <p:spPr>
          <a:xfrm>
            <a:off x="4807212" y="2451622"/>
            <a:ext cx="2577574" cy="337933"/>
          </a:xfrm>
          <a:prstGeom prst="flowChartTerminator">
            <a:avLst/>
          </a:prstGeom>
          <a:solidFill>
            <a:schemeClr val="accent1">
              <a:alpha val="42000"/>
            </a:schemeClr>
          </a:solidFill>
          <a:effectLst>
            <a:glow rad="127000">
              <a:schemeClr val="accent1">
                <a:alpha val="99000"/>
              </a:schemeClr>
            </a:glow>
          </a:effectLst>
          <a:scene3d>
            <a:camera prst="orthographicFront"/>
            <a:lightRig rig="threePt" dir="t"/>
          </a:scene3d>
          <a:sp3d>
            <a:bevelT prst="relaxedInse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Agency FB" panose="020B0503020202020204" pitchFamily="34" charset="0"/>
              </a:rPr>
              <a:t>JHON PAUL BAONIL</a:t>
            </a:r>
          </a:p>
        </p:txBody>
      </p:sp>
      <p:sp>
        <p:nvSpPr>
          <p:cNvPr id="19" name="Flowchart: Terminator 18">
            <a:extLst>
              <a:ext uri="{FF2B5EF4-FFF2-40B4-BE49-F238E27FC236}">
                <a16:creationId xmlns:a16="http://schemas.microsoft.com/office/drawing/2014/main" id="{5E2E196A-DEDE-41BB-B063-4C650A4FEF3E}"/>
              </a:ext>
            </a:extLst>
          </p:cNvPr>
          <p:cNvSpPr/>
          <p:nvPr/>
        </p:nvSpPr>
        <p:spPr>
          <a:xfrm>
            <a:off x="4845308" y="2481531"/>
            <a:ext cx="2501381" cy="399570"/>
          </a:xfrm>
          <a:prstGeom prst="flowChartTerminator">
            <a:avLst/>
          </a:prstGeom>
          <a:solidFill>
            <a:schemeClr val="accent1">
              <a:alpha val="42000"/>
            </a:schemeClr>
          </a:solidFill>
          <a:effectLst>
            <a:glow rad="127000">
              <a:schemeClr val="accent1">
                <a:alpha val="99000"/>
              </a:schemeClr>
            </a:glow>
          </a:effectLst>
          <a:scene3d>
            <a:camera prst="orthographicFront"/>
            <a:lightRig rig="threePt" dir="t"/>
          </a:scene3d>
          <a:sp3d>
            <a:bevelT prst="relaxedInse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Agency FB" panose="020B0503020202020204" pitchFamily="34" charset="0"/>
              </a:rPr>
              <a:t>ROMEO CATADMAN </a:t>
            </a:r>
          </a:p>
        </p:txBody>
      </p:sp>
      <p:sp>
        <p:nvSpPr>
          <p:cNvPr id="20" name="Flowchart: Terminator 19">
            <a:extLst>
              <a:ext uri="{FF2B5EF4-FFF2-40B4-BE49-F238E27FC236}">
                <a16:creationId xmlns:a16="http://schemas.microsoft.com/office/drawing/2014/main" id="{FCDC5974-17E6-4309-84ED-9ED7E0DE1A43}"/>
              </a:ext>
            </a:extLst>
          </p:cNvPr>
          <p:cNvSpPr/>
          <p:nvPr/>
        </p:nvSpPr>
        <p:spPr>
          <a:xfrm>
            <a:off x="4623317" y="2451623"/>
            <a:ext cx="3068642" cy="364428"/>
          </a:xfrm>
          <a:prstGeom prst="flowChartTerminator">
            <a:avLst/>
          </a:prstGeom>
          <a:solidFill>
            <a:schemeClr val="accent1">
              <a:alpha val="42000"/>
            </a:schemeClr>
          </a:solidFill>
          <a:effectLst>
            <a:glow rad="127000">
              <a:schemeClr val="accent1">
                <a:alpha val="99000"/>
              </a:schemeClr>
            </a:glow>
          </a:effectLst>
          <a:scene3d>
            <a:camera prst="orthographicFront"/>
            <a:lightRig rig="threePt" dir="t"/>
          </a:scene3d>
          <a:sp3d>
            <a:bevelT prst="relaxedInse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Agency FB" panose="020B0503020202020204" pitchFamily="34" charset="0"/>
              </a:rPr>
              <a:t>FRANCIS FONCEL BELACHO</a:t>
            </a:r>
          </a:p>
        </p:txBody>
      </p:sp>
      <p:sp>
        <p:nvSpPr>
          <p:cNvPr id="21" name="Flowchart: Terminator 20">
            <a:extLst>
              <a:ext uri="{FF2B5EF4-FFF2-40B4-BE49-F238E27FC236}">
                <a16:creationId xmlns:a16="http://schemas.microsoft.com/office/drawing/2014/main" id="{A55316E9-B5E2-4BFF-BE54-BBB4677C51AF}"/>
              </a:ext>
            </a:extLst>
          </p:cNvPr>
          <p:cNvSpPr/>
          <p:nvPr/>
        </p:nvSpPr>
        <p:spPr>
          <a:xfrm>
            <a:off x="4561677" y="2451623"/>
            <a:ext cx="3068642" cy="364428"/>
          </a:xfrm>
          <a:prstGeom prst="flowChartTerminator">
            <a:avLst/>
          </a:prstGeom>
          <a:solidFill>
            <a:schemeClr val="accent1">
              <a:alpha val="42000"/>
            </a:schemeClr>
          </a:solidFill>
          <a:effectLst>
            <a:glow rad="127000">
              <a:schemeClr val="accent1">
                <a:alpha val="99000"/>
              </a:schemeClr>
            </a:glow>
          </a:effectLst>
          <a:scene3d>
            <a:camera prst="orthographicFront"/>
            <a:lightRig rig="threePt" dir="t"/>
          </a:scene3d>
          <a:sp3d>
            <a:bevelT prst="relaxedInse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Agency FB" panose="020B0503020202020204" pitchFamily="34" charset="0"/>
              </a:rPr>
              <a:t>WINTER DENIEGA</a:t>
            </a:r>
          </a:p>
        </p:txBody>
      </p:sp>
      <p:pic>
        <p:nvPicPr>
          <p:cNvPr id="3" name="Graphic 2" descr="Classroom with solid fill">
            <a:extLst>
              <a:ext uri="{FF2B5EF4-FFF2-40B4-BE49-F238E27FC236}">
                <a16:creationId xmlns:a16="http://schemas.microsoft.com/office/drawing/2014/main" id="{3EE1ECCE-3727-4B76-ABA2-5322D9F1A53B}"/>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4" y="-1"/>
            <a:ext cx="914400" cy="934315"/>
          </a:xfrm>
          <a:prstGeom prst="rect">
            <a:avLst/>
          </a:prstGeom>
        </p:spPr>
      </p:pic>
      <p:sp>
        <p:nvSpPr>
          <p:cNvPr id="7" name="Rectangle: Rounded Corners 6">
            <a:extLst>
              <a:ext uri="{FF2B5EF4-FFF2-40B4-BE49-F238E27FC236}">
                <a16:creationId xmlns:a16="http://schemas.microsoft.com/office/drawing/2014/main" id="{146C41C1-B506-43DE-AB57-A96286A65823}"/>
              </a:ext>
            </a:extLst>
          </p:cNvPr>
          <p:cNvSpPr/>
          <p:nvPr/>
        </p:nvSpPr>
        <p:spPr>
          <a:xfrm>
            <a:off x="912797" y="1645920"/>
            <a:ext cx="10366407" cy="1281625"/>
          </a:xfrm>
          <a:prstGeom prst="roundRect">
            <a:avLst/>
          </a:prstGeom>
          <a:solidFill>
            <a:schemeClr val="bg1">
              <a:lumMod val="85000"/>
            </a:schemeClr>
          </a:solidFill>
          <a:ln>
            <a:noFill/>
          </a:ln>
          <a:effectLst>
            <a:glow rad="749300">
              <a:schemeClr val="accent1">
                <a:satMod val="175000"/>
                <a:alpha val="60000"/>
              </a:schemeClr>
            </a:glow>
          </a:effectLst>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latin typeface="Bauhaus 93" panose="04030905020B02020C02" pitchFamily="82" charset="0"/>
              </a:rPr>
              <a:t>DETERMINANTS OF SMARTPHONE ADDICTION ON ACADEMIC PERFORMANCE OF THE STUDENTS ON DUMANJUG NATIONAL HIGH SCHOOL</a:t>
            </a:r>
          </a:p>
        </p:txBody>
      </p:sp>
      <p:sp>
        <p:nvSpPr>
          <p:cNvPr id="10" name="Rectangle 9">
            <a:extLst>
              <a:ext uri="{FF2B5EF4-FFF2-40B4-BE49-F238E27FC236}">
                <a16:creationId xmlns:a16="http://schemas.microsoft.com/office/drawing/2014/main" id="{ABA49893-8C72-4AB7-B15E-B1793E9E8299}"/>
              </a:ext>
            </a:extLst>
          </p:cNvPr>
          <p:cNvSpPr/>
          <p:nvPr/>
        </p:nvSpPr>
        <p:spPr>
          <a:xfrm>
            <a:off x="4094480" y="4064000"/>
            <a:ext cx="3464560" cy="640080"/>
          </a:xfrm>
          <a:prstGeom prst="rect">
            <a:avLst/>
          </a:prstGeom>
          <a:solidFill>
            <a:schemeClr val="bg2">
              <a:lumMod val="25000"/>
            </a:schemeClr>
          </a:solidFill>
          <a:effectLst>
            <a:glow rad="520700">
              <a:srgbClr val="FF0000">
                <a:alpha val="31000"/>
              </a:srgbClr>
            </a:glow>
            <a:outerShdw blurRad="50800" dist="38100" dir="8100000" algn="tr" rotWithShape="0">
              <a:prstClr val="black">
                <a:alpha val="40000"/>
              </a:prstClr>
            </a:outerShdw>
          </a:effectLst>
          <a:scene3d>
            <a:camera prst="orthographicFront"/>
            <a:lightRig rig="threePt" dir="t"/>
          </a:scene3d>
          <a:sp3d>
            <a:bevelT w="139700" prst="cross"/>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ln>
                  <a:solidFill>
                    <a:schemeClr val="bg2">
                      <a:lumMod val="75000"/>
                    </a:schemeClr>
                  </a:solidFill>
                </a:ln>
                <a:latin typeface="Footlight MT Light" panose="0204060206030A020304" pitchFamily="18" charset="0"/>
              </a:rPr>
              <a:t>GRADE 12 AQUILA</a:t>
            </a:r>
            <a:endParaRPr lang="en-PH" sz="3200" dirty="0">
              <a:ln>
                <a:solidFill>
                  <a:schemeClr val="bg2">
                    <a:lumMod val="75000"/>
                  </a:schemeClr>
                </a:solidFill>
              </a:ln>
              <a:latin typeface="Footlight MT Light" panose="0204060206030A020304" pitchFamily="18" charset="0"/>
            </a:endParaRPr>
          </a:p>
        </p:txBody>
      </p:sp>
    </p:spTree>
    <p:extLst>
      <p:ext uri="{BB962C8B-B14F-4D97-AF65-F5344CB8AC3E}">
        <p14:creationId xmlns:p14="http://schemas.microsoft.com/office/powerpoint/2010/main" val="190357464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 name="Rectangle 45"/>
          <p:cNvSpPr/>
          <p:nvPr/>
        </p:nvSpPr>
        <p:spPr>
          <a:xfrm>
            <a:off x="0" y="0"/>
            <a:ext cx="12192000" cy="6858000"/>
          </a:xfrm>
          <a:prstGeom prst="rect">
            <a:avLst/>
          </a:prstGeom>
          <a:blipFill>
            <a:blip r:embed="rId2"/>
            <a:stretch>
              <a:fillRect/>
            </a:stretch>
          </a:bli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Rectangle 46"/>
          <p:cNvSpPr/>
          <p:nvPr/>
        </p:nvSpPr>
        <p:spPr>
          <a:xfrm>
            <a:off x="0" y="0"/>
            <a:ext cx="12192000" cy="6858000"/>
          </a:xfrm>
          <a:prstGeom prst="rect">
            <a:avLst/>
          </a:prstGeom>
          <a:solidFill>
            <a:schemeClr val="tx1">
              <a:alpha val="4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Flowchart: Terminator 50"/>
          <p:cNvSpPr/>
          <p:nvPr/>
        </p:nvSpPr>
        <p:spPr>
          <a:xfrm>
            <a:off x="5242666" y="1348727"/>
            <a:ext cx="1392241" cy="334433"/>
          </a:xfrm>
          <a:prstGeom prst="flowChartTerminator">
            <a:avLst/>
          </a:prstGeom>
          <a:solidFill>
            <a:schemeClr val="accent1">
              <a:alpha val="42000"/>
            </a:schemeClr>
          </a:solidFill>
          <a:effectLst>
            <a:glow rad="127000">
              <a:schemeClr val="accent1">
                <a:alpha val="99000"/>
              </a:schemeClr>
            </a:glow>
          </a:effectLst>
          <a:scene3d>
            <a:camera prst="orthographicFront"/>
            <a:lightRig rig="threePt" dir="t"/>
          </a:scene3d>
          <a:sp3d>
            <a:bevelT prst="relaxedInse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Agency FB" panose="020B0503020202020204" pitchFamily="34" charset="0"/>
              </a:rPr>
              <a:t>LEADER: </a:t>
            </a:r>
          </a:p>
        </p:txBody>
      </p:sp>
      <p:sp>
        <p:nvSpPr>
          <p:cNvPr id="17" name="Flowchart: Terminator 16">
            <a:extLst>
              <a:ext uri="{FF2B5EF4-FFF2-40B4-BE49-F238E27FC236}">
                <a16:creationId xmlns:a16="http://schemas.microsoft.com/office/drawing/2014/main" id="{F451CC3F-E611-4D12-9603-649274D432F7}"/>
              </a:ext>
            </a:extLst>
          </p:cNvPr>
          <p:cNvSpPr/>
          <p:nvPr/>
        </p:nvSpPr>
        <p:spPr>
          <a:xfrm>
            <a:off x="4857432" y="2052611"/>
            <a:ext cx="2162708" cy="334433"/>
          </a:xfrm>
          <a:prstGeom prst="flowChartTerminator">
            <a:avLst/>
          </a:prstGeom>
          <a:solidFill>
            <a:schemeClr val="accent1">
              <a:alpha val="42000"/>
            </a:schemeClr>
          </a:solidFill>
          <a:effectLst>
            <a:glow rad="127000">
              <a:schemeClr val="accent1">
                <a:alpha val="99000"/>
              </a:schemeClr>
            </a:glow>
          </a:effectLst>
          <a:scene3d>
            <a:camera prst="orthographicFront"/>
            <a:lightRig rig="threePt" dir="t"/>
          </a:scene3d>
          <a:sp3d>
            <a:bevelT prst="relaxedInse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Agency FB" panose="020B0503020202020204" pitchFamily="34" charset="0"/>
              </a:rPr>
              <a:t>JE-IN MALIG-ON</a:t>
            </a:r>
          </a:p>
        </p:txBody>
      </p:sp>
      <p:sp>
        <p:nvSpPr>
          <p:cNvPr id="16" name="Flowchart: Terminator 15">
            <a:extLst>
              <a:ext uri="{FF2B5EF4-FFF2-40B4-BE49-F238E27FC236}">
                <a16:creationId xmlns:a16="http://schemas.microsoft.com/office/drawing/2014/main" id="{5E829341-8B57-4D54-8F3F-7A5F537D18D8}"/>
              </a:ext>
            </a:extLst>
          </p:cNvPr>
          <p:cNvSpPr/>
          <p:nvPr/>
        </p:nvSpPr>
        <p:spPr>
          <a:xfrm>
            <a:off x="5242666" y="3278576"/>
            <a:ext cx="1392241" cy="356128"/>
          </a:xfrm>
          <a:prstGeom prst="flowChartTerminator">
            <a:avLst/>
          </a:prstGeom>
          <a:solidFill>
            <a:schemeClr val="accent1">
              <a:alpha val="42000"/>
            </a:schemeClr>
          </a:solidFill>
          <a:effectLst>
            <a:glow rad="127000">
              <a:schemeClr val="accent1">
                <a:alpha val="99000"/>
              </a:schemeClr>
            </a:glow>
          </a:effectLst>
          <a:scene3d>
            <a:camera prst="orthographicFront"/>
            <a:lightRig rig="threePt" dir="t"/>
          </a:scene3d>
          <a:sp3d>
            <a:bevelT prst="relaxedInse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Agency FB" panose="020B0503020202020204" pitchFamily="34" charset="0"/>
              </a:rPr>
              <a:t>MEMBERS:</a:t>
            </a:r>
          </a:p>
        </p:txBody>
      </p:sp>
      <p:sp>
        <p:nvSpPr>
          <p:cNvPr id="18" name="Flowchart: Terminator 17">
            <a:extLst>
              <a:ext uri="{FF2B5EF4-FFF2-40B4-BE49-F238E27FC236}">
                <a16:creationId xmlns:a16="http://schemas.microsoft.com/office/drawing/2014/main" id="{4364DFFE-357E-4E59-926F-4D2D27AA5B3C}"/>
              </a:ext>
            </a:extLst>
          </p:cNvPr>
          <p:cNvSpPr/>
          <p:nvPr/>
        </p:nvSpPr>
        <p:spPr>
          <a:xfrm>
            <a:off x="4649999" y="3910266"/>
            <a:ext cx="2577574" cy="330730"/>
          </a:xfrm>
          <a:prstGeom prst="flowChartTerminator">
            <a:avLst/>
          </a:prstGeom>
          <a:solidFill>
            <a:schemeClr val="accent1">
              <a:alpha val="42000"/>
            </a:schemeClr>
          </a:solidFill>
          <a:effectLst>
            <a:glow rad="127000">
              <a:schemeClr val="accent1">
                <a:alpha val="99000"/>
              </a:schemeClr>
            </a:glow>
          </a:effectLst>
          <a:scene3d>
            <a:camera prst="orthographicFront"/>
            <a:lightRig rig="threePt" dir="t"/>
          </a:scene3d>
          <a:sp3d>
            <a:bevelT prst="relaxedInse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Agency FB" panose="020B0503020202020204" pitchFamily="34" charset="0"/>
              </a:rPr>
              <a:t>JHON PAUL BAONIL</a:t>
            </a:r>
          </a:p>
        </p:txBody>
      </p:sp>
      <p:sp>
        <p:nvSpPr>
          <p:cNvPr id="19" name="Flowchart: Terminator 18">
            <a:extLst>
              <a:ext uri="{FF2B5EF4-FFF2-40B4-BE49-F238E27FC236}">
                <a16:creationId xmlns:a16="http://schemas.microsoft.com/office/drawing/2014/main" id="{5E2E196A-DEDE-41BB-B063-4C650A4FEF3E}"/>
              </a:ext>
            </a:extLst>
          </p:cNvPr>
          <p:cNvSpPr/>
          <p:nvPr/>
        </p:nvSpPr>
        <p:spPr>
          <a:xfrm>
            <a:off x="4688095" y="4481845"/>
            <a:ext cx="2501381" cy="391053"/>
          </a:xfrm>
          <a:prstGeom prst="flowChartTerminator">
            <a:avLst/>
          </a:prstGeom>
          <a:solidFill>
            <a:schemeClr val="accent1">
              <a:alpha val="42000"/>
            </a:schemeClr>
          </a:solidFill>
          <a:effectLst>
            <a:glow rad="127000">
              <a:schemeClr val="accent1">
                <a:alpha val="99000"/>
              </a:schemeClr>
            </a:glow>
          </a:effectLst>
          <a:scene3d>
            <a:camera prst="orthographicFront"/>
            <a:lightRig rig="threePt" dir="t"/>
          </a:scene3d>
          <a:sp3d>
            <a:bevelT prst="relaxedInse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Agency FB" panose="020B0503020202020204" pitchFamily="34" charset="0"/>
              </a:rPr>
              <a:t>ROMEO CATADMAN </a:t>
            </a:r>
          </a:p>
        </p:txBody>
      </p:sp>
      <p:sp>
        <p:nvSpPr>
          <p:cNvPr id="20" name="Flowchart: Terminator 19">
            <a:extLst>
              <a:ext uri="{FF2B5EF4-FFF2-40B4-BE49-F238E27FC236}">
                <a16:creationId xmlns:a16="http://schemas.microsoft.com/office/drawing/2014/main" id="{FCDC5974-17E6-4309-84ED-9ED7E0DE1A43}"/>
              </a:ext>
            </a:extLst>
          </p:cNvPr>
          <p:cNvSpPr/>
          <p:nvPr/>
        </p:nvSpPr>
        <p:spPr>
          <a:xfrm>
            <a:off x="4404464" y="5106213"/>
            <a:ext cx="3068642" cy="356660"/>
          </a:xfrm>
          <a:prstGeom prst="flowChartTerminator">
            <a:avLst/>
          </a:prstGeom>
          <a:solidFill>
            <a:schemeClr val="accent1">
              <a:alpha val="42000"/>
            </a:schemeClr>
          </a:solidFill>
          <a:effectLst>
            <a:glow rad="127000">
              <a:schemeClr val="accent1">
                <a:alpha val="99000"/>
              </a:schemeClr>
            </a:glow>
          </a:effectLst>
          <a:scene3d>
            <a:camera prst="orthographicFront"/>
            <a:lightRig rig="threePt" dir="t"/>
          </a:scene3d>
          <a:sp3d>
            <a:bevelT prst="relaxedInse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Agency FB" panose="020B0503020202020204" pitchFamily="34" charset="0"/>
              </a:rPr>
              <a:t>FRANCIS FONCEL BELACHO</a:t>
            </a:r>
          </a:p>
        </p:txBody>
      </p:sp>
      <p:sp>
        <p:nvSpPr>
          <p:cNvPr id="21" name="Flowchart: Terminator 20">
            <a:extLst>
              <a:ext uri="{FF2B5EF4-FFF2-40B4-BE49-F238E27FC236}">
                <a16:creationId xmlns:a16="http://schemas.microsoft.com/office/drawing/2014/main" id="{A55316E9-B5E2-4BFF-BE54-BBB4677C51AF}"/>
              </a:ext>
            </a:extLst>
          </p:cNvPr>
          <p:cNvSpPr/>
          <p:nvPr/>
        </p:nvSpPr>
        <p:spPr>
          <a:xfrm>
            <a:off x="4404464" y="5677593"/>
            <a:ext cx="3068642" cy="356660"/>
          </a:xfrm>
          <a:prstGeom prst="flowChartTerminator">
            <a:avLst/>
          </a:prstGeom>
          <a:solidFill>
            <a:schemeClr val="accent1">
              <a:alpha val="42000"/>
            </a:schemeClr>
          </a:solidFill>
          <a:effectLst>
            <a:glow rad="127000">
              <a:schemeClr val="accent1">
                <a:alpha val="99000"/>
              </a:schemeClr>
            </a:glow>
          </a:effectLst>
          <a:scene3d>
            <a:camera prst="orthographicFront"/>
            <a:lightRig rig="threePt" dir="t"/>
          </a:scene3d>
          <a:sp3d>
            <a:bevelT prst="relaxedInse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Agency FB" panose="020B0503020202020204" pitchFamily="34" charset="0"/>
              </a:rPr>
              <a:t>WINTER DENIEGA</a:t>
            </a:r>
          </a:p>
        </p:txBody>
      </p:sp>
      <p:pic>
        <p:nvPicPr>
          <p:cNvPr id="3" name="Graphic 2" descr="Classroom with solid fill">
            <a:extLst>
              <a:ext uri="{FF2B5EF4-FFF2-40B4-BE49-F238E27FC236}">
                <a16:creationId xmlns:a16="http://schemas.microsoft.com/office/drawing/2014/main" id="{3EE1ECCE-3727-4B76-ABA2-5322D9F1A53B}"/>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4" y="0"/>
            <a:ext cx="914400" cy="914400"/>
          </a:xfrm>
          <a:prstGeom prst="rect">
            <a:avLst/>
          </a:prstGeom>
        </p:spPr>
      </p:pic>
      <p:sp>
        <p:nvSpPr>
          <p:cNvPr id="7" name="Rectangle: Rounded Corners 6">
            <a:extLst>
              <a:ext uri="{FF2B5EF4-FFF2-40B4-BE49-F238E27FC236}">
                <a16:creationId xmlns:a16="http://schemas.microsoft.com/office/drawing/2014/main" id="{146C41C1-B506-43DE-AB57-A96286A65823}"/>
              </a:ext>
            </a:extLst>
          </p:cNvPr>
          <p:cNvSpPr/>
          <p:nvPr/>
        </p:nvSpPr>
        <p:spPr>
          <a:xfrm>
            <a:off x="2300438" y="61091"/>
            <a:ext cx="7276699" cy="468298"/>
          </a:xfrm>
          <a:prstGeom prst="roundRect">
            <a:avLst/>
          </a:prstGeom>
          <a:solidFill>
            <a:schemeClr val="bg1">
              <a:lumMod val="85000"/>
            </a:schemeClr>
          </a:solidFill>
          <a:ln>
            <a:noFill/>
          </a:ln>
          <a:effectLst>
            <a:glow rad="749300">
              <a:schemeClr val="accent1">
                <a:satMod val="175000"/>
                <a:alpha val="60000"/>
              </a:schemeClr>
            </a:glow>
          </a:effectLst>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latin typeface="Bauhaus 93" panose="04030905020B02020C02" pitchFamily="82" charset="0"/>
              </a:rPr>
              <a:t>DETERMINANTS OF SMARTPHONE ADDICTION ON ACADEMIC PERFORMANCE OF THE STUDENTS ON DUMANJUG NATIONAL HIGH SCHOOL</a:t>
            </a:r>
          </a:p>
        </p:txBody>
      </p:sp>
    </p:spTree>
    <p:extLst>
      <p:ext uri="{BB962C8B-B14F-4D97-AF65-F5344CB8AC3E}">
        <p14:creationId xmlns:p14="http://schemas.microsoft.com/office/powerpoint/2010/main" val="42064110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Flowchart: Process 5">
            <a:extLst>
              <a:ext uri="{FF2B5EF4-FFF2-40B4-BE49-F238E27FC236}">
                <a16:creationId xmlns:a16="http://schemas.microsoft.com/office/drawing/2014/main" id="{EC33E5D3-B3E4-410E-B2F8-52A0B937285E}"/>
              </a:ext>
            </a:extLst>
          </p:cNvPr>
          <p:cNvSpPr/>
          <p:nvPr/>
        </p:nvSpPr>
        <p:spPr>
          <a:xfrm>
            <a:off x="0" y="0"/>
            <a:ext cx="12192000" cy="6858000"/>
          </a:xfrm>
          <a:prstGeom prst="flowChartProcess">
            <a:avLst/>
          </a:prstGeom>
          <a:solidFill>
            <a:schemeClr val="bg2">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7" name="Rectangle 6">
            <a:extLst>
              <a:ext uri="{FF2B5EF4-FFF2-40B4-BE49-F238E27FC236}">
                <a16:creationId xmlns:a16="http://schemas.microsoft.com/office/drawing/2014/main" id="{C6ECF0F5-35A2-48E0-A30B-A542E2B05F8A}"/>
              </a:ext>
            </a:extLst>
          </p:cNvPr>
          <p:cNvSpPr/>
          <p:nvPr/>
        </p:nvSpPr>
        <p:spPr>
          <a:xfrm>
            <a:off x="3962400" y="3086100"/>
            <a:ext cx="4267200" cy="685800"/>
          </a:xfrm>
          <a:prstGeom prst="rect">
            <a:avLst/>
          </a:prstGeom>
          <a:solidFill>
            <a:schemeClr val="bg1">
              <a:lumMod val="65000"/>
            </a:schemeClr>
          </a:solidFill>
          <a:ln>
            <a:noFill/>
          </a:ln>
          <a:effectLst>
            <a:outerShdw blurRad="177800" dist="38100" dir="8100000" sx="114000" sy="114000" algn="tr" rotWithShape="0">
              <a:prstClr val="black">
                <a:alpha val="15000"/>
              </a:prstClr>
            </a:outerShdw>
          </a:effectLst>
          <a:scene3d>
            <a:camera prst="orthographicFront"/>
            <a:lightRig rig="threePt" dir="t"/>
          </a:scene3d>
          <a:sp3d>
            <a:bevelT/>
            <a:bevelB w="152400" h="50800" prst="softRound"/>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dirty="0">
                <a:effectLst>
                  <a:outerShdw blurRad="76200" dist="228600" dir="9000000" sx="103000" sy="103000" algn="ctr" rotWithShape="0">
                    <a:srgbClr val="000000">
                      <a:alpha val="87000"/>
                    </a:srgbClr>
                  </a:outerShdw>
                </a:effectLst>
                <a:latin typeface="Bauhaus 93" panose="04030905020B02020C02" pitchFamily="82" charset="0"/>
              </a:rPr>
              <a:t>INTRODUCTION</a:t>
            </a:r>
            <a:endParaRPr lang="en-PH" sz="3600" dirty="0">
              <a:effectLst>
                <a:outerShdw blurRad="76200" dist="228600" dir="9000000" sx="103000" sy="103000" algn="ctr" rotWithShape="0">
                  <a:srgbClr val="000000">
                    <a:alpha val="87000"/>
                  </a:srgbClr>
                </a:outerShdw>
              </a:effectLst>
              <a:latin typeface="Bauhaus 93" panose="04030905020B02020C02" pitchFamily="82" charset="0"/>
            </a:endParaRPr>
          </a:p>
        </p:txBody>
      </p:sp>
    </p:spTree>
    <p:extLst>
      <p:ext uri="{BB962C8B-B14F-4D97-AF65-F5344CB8AC3E}">
        <p14:creationId xmlns:p14="http://schemas.microsoft.com/office/powerpoint/2010/main" val="100692243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Flowchart: Process 5">
            <a:extLst>
              <a:ext uri="{FF2B5EF4-FFF2-40B4-BE49-F238E27FC236}">
                <a16:creationId xmlns:a16="http://schemas.microsoft.com/office/drawing/2014/main" id="{EC33E5D3-B3E4-410E-B2F8-52A0B937285E}"/>
              </a:ext>
            </a:extLst>
          </p:cNvPr>
          <p:cNvSpPr/>
          <p:nvPr/>
        </p:nvSpPr>
        <p:spPr>
          <a:xfrm>
            <a:off x="0" y="0"/>
            <a:ext cx="12192000" cy="6858000"/>
          </a:xfrm>
          <a:prstGeom prst="flowChartProcess">
            <a:avLst/>
          </a:prstGeom>
          <a:solidFill>
            <a:schemeClr val="bg2">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7" name="Rectangle 6">
            <a:extLst>
              <a:ext uri="{FF2B5EF4-FFF2-40B4-BE49-F238E27FC236}">
                <a16:creationId xmlns:a16="http://schemas.microsoft.com/office/drawing/2014/main" id="{C6ECF0F5-35A2-48E0-A30B-A542E2B05F8A}"/>
              </a:ext>
            </a:extLst>
          </p:cNvPr>
          <p:cNvSpPr/>
          <p:nvPr/>
        </p:nvSpPr>
        <p:spPr>
          <a:xfrm>
            <a:off x="3854450" y="203200"/>
            <a:ext cx="4483100" cy="673100"/>
          </a:xfrm>
          <a:prstGeom prst="rect">
            <a:avLst/>
          </a:prstGeom>
          <a:solidFill>
            <a:schemeClr val="bg1">
              <a:lumMod val="65000"/>
            </a:schemeClr>
          </a:solidFill>
          <a:ln>
            <a:noFill/>
          </a:ln>
          <a:effectLst>
            <a:outerShdw blurRad="177800" dist="38100" dir="8100000" sx="114000" sy="114000" algn="tr" rotWithShape="0">
              <a:prstClr val="black">
                <a:alpha val="15000"/>
              </a:prstClr>
            </a:outerShdw>
          </a:effectLst>
          <a:scene3d>
            <a:camera prst="orthographicFront"/>
            <a:lightRig rig="threePt" dir="t"/>
          </a:scene3d>
          <a:sp3d>
            <a:bevelT/>
            <a:bevelB w="152400" h="50800" prst="softRound"/>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dirty="0">
                <a:effectLst>
                  <a:outerShdw blurRad="76200" dist="228600" dir="9000000" sx="103000" sy="103000" algn="ctr" rotWithShape="0">
                    <a:srgbClr val="000000">
                      <a:alpha val="87000"/>
                    </a:srgbClr>
                  </a:outerShdw>
                </a:effectLst>
                <a:latin typeface="Bauhaus 93" panose="04030905020B02020C02" pitchFamily="82" charset="0"/>
              </a:rPr>
              <a:t>Rational of the study</a:t>
            </a:r>
            <a:endParaRPr lang="en-PH" sz="3600" dirty="0">
              <a:effectLst>
                <a:outerShdw blurRad="76200" dist="228600" dir="9000000" sx="103000" sy="103000" algn="ctr" rotWithShape="0">
                  <a:srgbClr val="000000">
                    <a:alpha val="87000"/>
                  </a:srgbClr>
                </a:outerShdw>
              </a:effectLst>
              <a:latin typeface="Bauhaus 93" panose="04030905020B02020C02" pitchFamily="82" charset="0"/>
            </a:endParaRPr>
          </a:p>
        </p:txBody>
      </p:sp>
      <p:sp>
        <p:nvSpPr>
          <p:cNvPr id="2" name="Rectangle: Rounded Corners 1">
            <a:extLst>
              <a:ext uri="{FF2B5EF4-FFF2-40B4-BE49-F238E27FC236}">
                <a16:creationId xmlns:a16="http://schemas.microsoft.com/office/drawing/2014/main" id="{7085C663-2734-4846-A5B8-745D93BABC8D}"/>
              </a:ext>
            </a:extLst>
          </p:cNvPr>
          <p:cNvSpPr/>
          <p:nvPr/>
        </p:nvSpPr>
        <p:spPr>
          <a:xfrm>
            <a:off x="736600" y="2044700"/>
            <a:ext cx="10718800" cy="4445000"/>
          </a:xfrm>
          <a:prstGeom prst="roundRect">
            <a:avLst/>
          </a:prstGeom>
          <a:solidFill>
            <a:schemeClr val="bg1">
              <a:lumMod val="50000"/>
            </a:schemeClr>
          </a:solidFill>
          <a:effectLst>
            <a:outerShdw blurRad="419100" dist="50800" dir="21300000" sx="105000" sy="105000" algn="tr" rotWithShape="0">
              <a:prstClr val="black">
                <a:alpha val="6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2700" b="0" i="0" dirty="0">
                <a:solidFill>
                  <a:srgbClr val="000000"/>
                </a:solidFill>
                <a:effectLst/>
                <a:latin typeface="Agency FB" panose="020B0503020202020204" pitchFamily="34" charset="0"/>
              </a:rPr>
              <a:t>This study examines the connection between student academic performance and smartphone addiction, emphasizing the rising incidence of smartphone use and the problems that come with it. About 6.3% of the world's 6.8 billion smartphone users suffer from addiction, which can cause difficulties including social isolation, diminished focus, distraction, and time management, especially among teenagers. Many students at </a:t>
            </a:r>
            <a:r>
              <a:rPr lang="en-US" sz="2700" b="0" i="0" dirty="0" err="1">
                <a:solidFill>
                  <a:srgbClr val="000000"/>
                </a:solidFill>
                <a:effectLst/>
                <a:latin typeface="Agency FB" panose="020B0503020202020204" pitchFamily="34" charset="0"/>
              </a:rPr>
              <a:t>Dumanjug</a:t>
            </a:r>
            <a:r>
              <a:rPr lang="en-US" sz="2700" b="0" i="0" dirty="0">
                <a:solidFill>
                  <a:srgbClr val="000000"/>
                </a:solidFill>
                <a:effectLst/>
                <a:latin typeface="Agency FB" panose="020B0503020202020204" pitchFamily="34" charset="0"/>
              </a:rPr>
              <a:t> National High School, particularly those in higher grades, use their smartphones excessively for social media and gaming, which has a detrimental effect on their schoolwork and general well-being. In order to develop successful treatments for encouraging responsible digital citizenship, the research attempts to pinpoint the causes of smartphone addiction and its effects on academic achievement.</a:t>
            </a:r>
            <a:endParaRPr lang="en-PH" sz="2700" dirty="0">
              <a:latin typeface="Agency FB" panose="020B0503020202020204" pitchFamily="34" charset="0"/>
            </a:endParaRPr>
          </a:p>
        </p:txBody>
      </p:sp>
    </p:spTree>
    <p:extLst>
      <p:ext uri="{BB962C8B-B14F-4D97-AF65-F5344CB8AC3E}">
        <p14:creationId xmlns:p14="http://schemas.microsoft.com/office/powerpoint/2010/main" val="318661919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Flowchart: Process 5">
            <a:extLst>
              <a:ext uri="{FF2B5EF4-FFF2-40B4-BE49-F238E27FC236}">
                <a16:creationId xmlns:a16="http://schemas.microsoft.com/office/drawing/2014/main" id="{EC33E5D3-B3E4-410E-B2F8-52A0B937285E}"/>
              </a:ext>
            </a:extLst>
          </p:cNvPr>
          <p:cNvSpPr/>
          <p:nvPr/>
        </p:nvSpPr>
        <p:spPr>
          <a:xfrm>
            <a:off x="0" y="0"/>
            <a:ext cx="12192000" cy="6858000"/>
          </a:xfrm>
          <a:prstGeom prst="flowChartProcess">
            <a:avLst/>
          </a:prstGeom>
          <a:solidFill>
            <a:schemeClr val="bg2">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7" name="Rectangle 6">
            <a:extLst>
              <a:ext uri="{FF2B5EF4-FFF2-40B4-BE49-F238E27FC236}">
                <a16:creationId xmlns:a16="http://schemas.microsoft.com/office/drawing/2014/main" id="{C6ECF0F5-35A2-48E0-A30B-A542E2B05F8A}"/>
              </a:ext>
            </a:extLst>
          </p:cNvPr>
          <p:cNvSpPr/>
          <p:nvPr/>
        </p:nvSpPr>
        <p:spPr>
          <a:xfrm>
            <a:off x="3622675" y="203200"/>
            <a:ext cx="4946650" cy="647700"/>
          </a:xfrm>
          <a:prstGeom prst="rect">
            <a:avLst/>
          </a:prstGeom>
          <a:solidFill>
            <a:schemeClr val="bg1">
              <a:lumMod val="65000"/>
            </a:schemeClr>
          </a:solidFill>
          <a:ln>
            <a:noFill/>
          </a:ln>
          <a:effectLst>
            <a:outerShdw blurRad="177800" dist="38100" dir="8100000" sx="114000" sy="114000" algn="tr" rotWithShape="0">
              <a:prstClr val="black">
                <a:alpha val="15000"/>
              </a:prstClr>
            </a:outerShdw>
          </a:effectLst>
          <a:scene3d>
            <a:camera prst="orthographicFront"/>
            <a:lightRig rig="threePt" dir="t"/>
          </a:scene3d>
          <a:sp3d>
            <a:bevelT/>
            <a:bevelB w="152400" h="50800" prst="softRound"/>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effectLst>
                  <a:outerShdw blurRad="76200" dist="228600" dir="9000000" sx="103000" sy="103000" algn="ctr" rotWithShape="0">
                    <a:srgbClr val="000000">
                      <a:alpha val="87000"/>
                    </a:srgbClr>
                  </a:outerShdw>
                </a:effectLst>
                <a:latin typeface="Bauhaus 93" panose="04030905020B02020C02" pitchFamily="82" charset="0"/>
              </a:rPr>
              <a:t>STATEMENT OF THE </a:t>
            </a:r>
            <a:r>
              <a:rPr lang="en-US" sz="3200" dirty="0">
                <a:effectLst>
                  <a:outerShdw blurRad="76200" dist="228600" dir="9000000" sx="103000" sy="103000" algn="ctr" rotWithShape="0">
                    <a:srgbClr val="000000">
                      <a:alpha val="87000"/>
                    </a:srgbClr>
                  </a:outerShdw>
                </a:effectLst>
                <a:latin typeface="Bauhaus 93" panose="04030905020B02020C02" pitchFamily="82" charset="0"/>
              </a:rPr>
              <a:t>PROBLEM</a:t>
            </a:r>
            <a:r>
              <a:rPr lang="en-US" sz="2800" dirty="0">
                <a:effectLst>
                  <a:outerShdw blurRad="76200" dist="228600" dir="9000000" sx="103000" sy="103000" algn="ctr" rotWithShape="0">
                    <a:srgbClr val="000000">
                      <a:alpha val="87000"/>
                    </a:srgbClr>
                  </a:outerShdw>
                </a:effectLst>
                <a:latin typeface="Bauhaus 93" panose="04030905020B02020C02" pitchFamily="82" charset="0"/>
              </a:rPr>
              <a:t> </a:t>
            </a:r>
            <a:endParaRPr lang="en-PH" sz="2800" dirty="0">
              <a:effectLst>
                <a:outerShdw blurRad="76200" dist="228600" dir="9000000" sx="103000" sy="103000" algn="ctr" rotWithShape="0">
                  <a:srgbClr val="000000">
                    <a:alpha val="87000"/>
                  </a:srgbClr>
                </a:outerShdw>
              </a:effectLst>
              <a:latin typeface="Bauhaus 93" panose="04030905020B02020C02" pitchFamily="82" charset="0"/>
            </a:endParaRPr>
          </a:p>
        </p:txBody>
      </p:sp>
      <p:sp>
        <p:nvSpPr>
          <p:cNvPr id="2" name="Rectangle: Rounded Corners 1">
            <a:extLst>
              <a:ext uri="{FF2B5EF4-FFF2-40B4-BE49-F238E27FC236}">
                <a16:creationId xmlns:a16="http://schemas.microsoft.com/office/drawing/2014/main" id="{7085C663-2734-4846-A5B8-745D93BABC8D}"/>
              </a:ext>
            </a:extLst>
          </p:cNvPr>
          <p:cNvSpPr/>
          <p:nvPr/>
        </p:nvSpPr>
        <p:spPr>
          <a:xfrm>
            <a:off x="736600" y="2044700"/>
            <a:ext cx="10718800" cy="4445000"/>
          </a:xfrm>
          <a:prstGeom prst="roundRect">
            <a:avLst/>
          </a:prstGeom>
          <a:solidFill>
            <a:schemeClr val="bg1">
              <a:lumMod val="50000"/>
            </a:schemeClr>
          </a:solidFill>
          <a:effectLst>
            <a:outerShdw blurRad="419100" dist="50800" dir="21300000" sx="105000" sy="105000" algn="tr" rotWithShape="0">
              <a:prstClr val="black">
                <a:alpha val="6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4000" b="0" i="0" dirty="0">
                <a:solidFill>
                  <a:srgbClr val="000000"/>
                </a:solidFill>
                <a:effectLst/>
                <a:latin typeface="Segoe UI Historic" panose="020B0502040204020203" pitchFamily="34" charset="0"/>
              </a:rPr>
              <a:t>This study aims to investigate the determinants of smartphone addiction and its impact on academic performance among students at </a:t>
            </a:r>
            <a:r>
              <a:rPr lang="en-US" sz="4000" b="0" i="0" dirty="0" err="1">
                <a:solidFill>
                  <a:srgbClr val="000000"/>
                </a:solidFill>
                <a:effectLst/>
                <a:latin typeface="Segoe UI Historic" panose="020B0502040204020203" pitchFamily="34" charset="0"/>
              </a:rPr>
              <a:t>Dumanjug</a:t>
            </a:r>
            <a:r>
              <a:rPr lang="en-US" sz="4000" b="0" i="0" dirty="0">
                <a:solidFill>
                  <a:srgbClr val="000000"/>
                </a:solidFill>
                <a:effectLst/>
                <a:latin typeface="Segoe UI Historic" panose="020B0502040204020203" pitchFamily="34" charset="0"/>
              </a:rPr>
              <a:t> National High School. </a:t>
            </a:r>
            <a:endParaRPr lang="en-PH" sz="4000" dirty="0">
              <a:latin typeface="Agency FB" panose="020B0503020202020204" pitchFamily="34" charset="0"/>
            </a:endParaRPr>
          </a:p>
        </p:txBody>
      </p:sp>
    </p:spTree>
    <p:extLst>
      <p:ext uri="{BB962C8B-B14F-4D97-AF65-F5344CB8AC3E}">
        <p14:creationId xmlns:p14="http://schemas.microsoft.com/office/powerpoint/2010/main" val="57759026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Flowchart: Process 5">
            <a:extLst>
              <a:ext uri="{FF2B5EF4-FFF2-40B4-BE49-F238E27FC236}">
                <a16:creationId xmlns:a16="http://schemas.microsoft.com/office/drawing/2014/main" id="{EC33E5D3-B3E4-410E-B2F8-52A0B937285E}"/>
              </a:ext>
            </a:extLst>
          </p:cNvPr>
          <p:cNvSpPr/>
          <p:nvPr/>
        </p:nvSpPr>
        <p:spPr>
          <a:xfrm>
            <a:off x="0" y="0"/>
            <a:ext cx="12192000" cy="6858000"/>
          </a:xfrm>
          <a:prstGeom prst="flowChartProcess">
            <a:avLst/>
          </a:prstGeom>
          <a:solidFill>
            <a:schemeClr val="bg2">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7" name="Rectangle 6">
            <a:extLst>
              <a:ext uri="{FF2B5EF4-FFF2-40B4-BE49-F238E27FC236}">
                <a16:creationId xmlns:a16="http://schemas.microsoft.com/office/drawing/2014/main" id="{C6ECF0F5-35A2-48E0-A30B-A542E2B05F8A}"/>
              </a:ext>
            </a:extLst>
          </p:cNvPr>
          <p:cNvSpPr/>
          <p:nvPr/>
        </p:nvSpPr>
        <p:spPr>
          <a:xfrm>
            <a:off x="3622675" y="203200"/>
            <a:ext cx="4946650" cy="647700"/>
          </a:xfrm>
          <a:prstGeom prst="rect">
            <a:avLst/>
          </a:prstGeom>
          <a:solidFill>
            <a:schemeClr val="bg1">
              <a:lumMod val="65000"/>
            </a:schemeClr>
          </a:solidFill>
          <a:ln>
            <a:noFill/>
          </a:ln>
          <a:effectLst>
            <a:outerShdw blurRad="177800" dist="38100" dir="8100000" sx="114000" sy="114000" algn="tr" rotWithShape="0">
              <a:prstClr val="black">
                <a:alpha val="15000"/>
              </a:prstClr>
            </a:outerShdw>
          </a:effectLst>
          <a:scene3d>
            <a:camera prst="orthographicFront"/>
            <a:lightRig rig="threePt" dir="t"/>
          </a:scene3d>
          <a:sp3d>
            <a:bevelT/>
            <a:bevelB w="152400" h="50800" prst="softRound"/>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effectLst>
                  <a:outerShdw blurRad="76200" dist="228600" dir="9000000" sx="103000" sy="103000" algn="ctr" rotWithShape="0">
                    <a:srgbClr val="000000">
                      <a:alpha val="87000"/>
                    </a:srgbClr>
                  </a:outerShdw>
                </a:effectLst>
                <a:latin typeface="Bauhaus 93" panose="04030905020B02020C02" pitchFamily="82" charset="0"/>
              </a:rPr>
              <a:t>STATEMENT OF THE </a:t>
            </a:r>
            <a:r>
              <a:rPr lang="en-US" sz="3200" dirty="0">
                <a:effectLst>
                  <a:outerShdw blurRad="76200" dist="228600" dir="9000000" sx="103000" sy="103000" algn="ctr" rotWithShape="0">
                    <a:srgbClr val="000000">
                      <a:alpha val="87000"/>
                    </a:srgbClr>
                  </a:outerShdw>
                </a:effectLst>
                <a:latin typeface="Bauhaus 93" panose="04030905020B02020C02" pitchFamily="82" charset="0"/>
              </a:rPr>
              <a:t>PROBLEM</a:t>
            </a:r>
            <a:r>
              <a:rPr lang="en-US" sz="2800" dirty="0">
                <a:effectLst>
                  <a:outerShdw blurRad="76200" dist="228600" dir="9000000" sx="103000" sy="103000" algn="ctr" rotWithShape="0">
                    <a:srgbClr val="000000">
                      <a:alpha val="87000"/>
                    </a:srgbClr>
                  </a:outerShdw>
                </a:effectLst>
                <a:latin typeface="Bauhaus 93" panose="04030905020B02020C02" pitchFamily="82" charset="0"/>
              </a:rPr>
              <a:t> </a:t>
            </a:r>
            <a:endParaRPr lang="en-PH" sz="2800" dirty="0">
              <a:effectLst>
                <a:outerShdw blurRad="76200" dist="228600" dir="9000000" sx="103000" sy="103000" algn="ctr" rotWithShape="0">
                  <a:srgbClr val="000000">
                    <a:alpha val="87000"/>
                  </a:srgbClr>
                </a:outerShdw>
              </a:effectLst>
              <a:latin typeface="Bauhaus 93" panose="04030905020B02020C02" pitchFamily="82" charset="0"/>
            </a:endParaRPr>
          </a:p>
        </p:txBody>
      </p:sp>
      <p:sp>
        <p:nvSpPr>
          <p:cNvPr id="2" name="Rectangle: Rounded Corners 1">
            <a:extLst>
              <a:ext uri="{FF2B5EF4-FFF2-40B4-BE49-F238E27FC236}">
                <a16:creationId xmlns:a16="http://schemas.microsoft.com/office/drawing/2014/main" id="{7085C663-2734-4846-A5B8-745D93BABC8D}"/>
              </a:ext>
            </a:extLst>
          </p:cNvPr>
          <p:cNvSpPr/>
          <p:nvPr/>
        </p:nvSpPr>
        <p:spPr>
          <a:xfrm>
            <a:off x="736600" y="2044700"/>
            <a:ext cx="10718800" cy="4445000"/>
          </a:xfrm>
          <a:prstGeom prst="roundRect">
            <a:avLst/>
          </a:prstGeom>
          <a:solidFill>
            <a:schemeClr val="bg1">
              <a:lumMod val="50000"/>
            </a:schemeClr>
          </a:solidFill>
          <a:effectLst>
            <a:outerShdw blurRad="419100" dist="50800" dir="21300000" sx="105000" sy="105000" algn="tr" rotWithShape="0">
              <a:prstClr val="black">
                <a:alpha val="6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2000" b="0" i="0" dirty="0">
                <a:solidFill>
                  <a:srgbClr val="000000"/>
                </a:solidFill>
                <a:effectLst/>
                <a:latin typeface="Segoe UI Historic" panose="020B0502040204020203" pitchFamily="34" charset="0"/>
              </a:rPr>
              <a:t>Specific Questions:</a:t>
            </a:r>
          </a:p>
          <a:p>
            <a:pPr algn="just"/>
            <a:endParaRPr lang="en-US" sz="2000" dirty="0">
              <a:solidFill>
                <a:srgbClr val="000000"/>
              </a:solidFill>
              <a:latin typeface="Segoe UI Historic" panose="020B0502040204020203" pitchFamily="34" charset="0"/>
            </a:endParaRPr>
          </a:p>
          <a:p>
            <a:pPr algn="just"/>
            <a:r>
              <a:rPr lang="en-US" sz="2000" b="0" i="0" dirty="0">
                <a:solidFill>
                  <a:srgbClr val="000000"/>
                </a:solidFill>
                <a:effectLst/>
                <a:latin typeface="Segoe UI Historic" panose="020B0502040204020203" pitchFamily="34" charset="0"/>
              </a:rPr>
              <a:t> 1. What is the level of smartphone addiction among the students of </a:t>
            </a:r>
            <a:r>
              <a:rPr lang="en-US" sz="2000" b="0" i="0" dirty="0" err="1">
                <a:solidFill>
                  <a:srgbClr val="000000"/>
                </a:solidFill>
                <a:effectLst/>
                <a:latin typeface="Segoe UI Historic" panose="020B0502040204020203" pitchFamily="34" charset="0"/>
              </a:rPr>
              <a:t>Dumanjug</a:t>
            </a:r>
            <a:r>
              <a:rPr lang="en-US" sz="2000" b="0" i="0" dirty="0">
                <a:solidFill>
                  <a:srgbClr val="000000"/>
                </a:solidFill>
                <a:effectLst/>
                <a:latin typeface="Segoe UI Historic" panose="020B0502040204020203" pitchFamily="34" charset="0"/>
              </a:rPr>
              <a:t> National High School? </a:t>
            </a:r>
          </a:p>
          <a:p>
            <a:pPr algn="just"/>
            <a:endParaRPr lang="en-US" sz="2000" dirty="0">
              <a:solidFill>
                <a:srgbClr val="000000"/>
              </a:solidFill>
              <a:latin typeface="Segoe UI Historic" panose="020B0502040204020203" pitchFamily="34" charset="0"/>
            </a:endParaRPr>
          </a:p>
          <a:p>
            <a:pPr algn="just"/>
            <a:r>
              <a:rPr lang="en-US" sz="2000" b="0" i="0" dirty="0">
                <a:solidFill>
                  <a:srgbClr val="000000"/>
                </a:solidFill>
                <a:effectLst/>
                <a:latin typeface="Segoe UI Historic" panose="020B0502040204020203" pitchFamily="34" charset="0"/>
              </a:rPr>
              <a:t>2. What is the academic performance of the respondents in the first quarter?</a:t>
            </a:r>
          </a:p>
          <a:p>
            <a:pPr algn="just"/>
            <a:endParaRPr lang="en-US" sz="2000" dirty="0">
              <a:solidFill>
                <a:srgbClr val="000000"/>
              </a:solidFill>
              <a:latin typeface="Segoe UI Historic" panose="020B0502040204020203" pitchFamily="34" charset="0"/>
            </a:endParaRPr>
          </a:p>
          <a:p>
            <a:pPr algn="just"/>
            <a:r>
              <a:rPr lang="en-US" sz="2000" b="0" i="0" dirty="0">
                <a:solidFill>
                  <a:srgbClr val="000000"/>
                </a:solidFill>
                <a:effectLst/>
                <a:latin typeface="Segoe UI Historic" panose="020B0502040204020203" pitchFamily="34" charset="0"/>
              </a:rPr>
              <a:t> 3. What is the relationship between the level of smartphone addiction and academic performance? </a:t>
            </a:r>
          </a:p>
          <a:p>
            <a:pPr algn="just"/>
            <a:endParaRPr lang="en-US" sz="2000" dirty="0">
              <a:solidFill>
                <a:srgbClr val="000000"/>
              </a:solidFill>
              <a:latin typeface="Segoe UI Historic" panose="020B0502040204020203" pitchFamily="34" charset="0"/>
            </a:endParaRPr>
          </a:p>
          <a:p>
            <a:pPr algn="just"/>
            <a:r>
              <a:rPr lang="en-US" sz="2000" b="0" i="0" dirty="0">
                <a:solidFill>
                  <a:srgbClr val="000000"/>
                </a:solidFill>
                <a:effectLst/>
                <a:latin typeface="Segoe UI Historic" panose="020B0502040204020203" pitchFamily="34" charset="0"/>
              </a:rPr>
              <a:t>4. What are the factors that contribute to smartphone addictions of the students?</a:t>
            </a:r>
          </a:p>
          <a:p>
            <a:pPr algn="just"/>
            <a:endParaRPr lang="en-US" sz="2000" dirty="0">
              <a:solidFill>
                <a:srgbClr val="000000"/>
              </a:solidFill>
              <a:latin typeface="Segoe UI Historic" panose="020B0502040204020203" pitchFamily="34" charset="0"/>
            </a:endParaRPr>
          </a:p>
          <a:p>
            <a:pPr algn="just"/>
            <a:r>
              <a:rPr lang="en-US" sz="2000" b="0" i="0" dirty="0">
                <a:solidFill>
                  <a:srgbClr val="000000"/>
                </a:solidFill>
                <a:effectLst/>
                <a:latin typeface="Segoe UI Historic" panose="020B0502040204020203" pitchFamily="34" charset="0"/>
              </a:rPr>
              <a:t> 5. What strategies or interventions can be recommended to address smartphone addiction and improve academic performance among students?</a:t>
            </a:r>
            <a:endParaRPr lang="en-PH" sz="2000" dirty="0">
              <a:latin typeface="Agency FB" panose="020B0503020202020204" pitchFamily="34" charset="0"/>
            </a:endParaRPr>
          </a:p>
        </p:txBody>
      </p:sp>
    </p:spTree>
    <p:extLst>
      <p:ext uri="{BB962C8B-B14F-4D97-AF65-F5344CB8AC3E}">
        <p14:creationId xmlns:p14="http://schemas.microsoft.com/office/powerpoint/2010/main" val="20402361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Flowchart: Process 5">
            <a:extLst>
              <a:ext uri="{FF2B5EF4-FFF2-40B4-BE49-F238E27FC236}">
                <a16:creationId xmlns:a16="http://schemas.microsoft.com/office/drawing/2014/main" id="{EC33E5D3-B3E4-410E-B2F8-52A0B937285E}"/>
              </a:ext>
            </a:extLst>
          </p:cNvPr>
          <p:cNvSpPr/>
          <p:nvPr/>
        </p:nvSpPr>
        <p:spPr>
          <a:xfrm>
            <a:off x="0" y="0"/>
            <a:ext cx="12192000" cy="6858000"/>
          </a:xfrm>
          <a:prstGeom prst="flowChartProcess">
            <a:avLst/>
          </a:prstGeom>
          <a:solidFill>
            <a:schemeClr val="bg2">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7" name="Rectangle 6">
            <a:extLst>
              <a:ext uri="{FF2B5EF4-FFF2-40B4-BE49-F238E27FC236}">
                <a16:creationId xmlns:a16="http://schemas.microsoft.com/office/drawing/2014/main" id="{C6ECF0F5-35A2-48E0-A30B-A542E2B05F8A}"/>
              </a:ext>
            </a:extLst>
          </p:cNvPr>
          <p:cNvSpPr/>
          <p:nvPr/>
        </p:nvSpPr>
        <p:spPr>
          <a:xfrm>
            <a:off x="2738437" y="95250"/>
            <a:ext cx="6715125" cy="546100"/>
          </a:xfrm>
          <a:prstGeom prst="rect">
            <a:avLst/>
          </a:prstGeom>
          <a:solidFill>
            <a:schemeClr val="bg1">
              <a:lumMod val="65000"/>
            </a:schemeClr>
          </a:solidFill>
          <a:ln>
            <a:noFill/>
          </a:ln>
          <a:effectLst>
            <a:outerShdw blurRad="177800" dist="38100" dir="8100000" sx="114000" sy="114000" algn="tr" rotWithShape="0">
              <a:prstClr val="black">
                <a:alpha val="15000"/>
              </a:prstClr>
            </a:outerShdw>
          </a:effectLst>
          <a:scene3d>
            <a:camera prst="orthographicFront"/>
            <a:lightRig rig="threePt" dir="t"/>
          </a:scene3d>
          <a:sp3d>
            <a:bevelT/>
            <a:bevelB w="152400" h="50800" prst="softRound"/>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effectLst>
                  <a:outerShdw blurRad="76200" dist="228600" dir="9000000" sx="103000" sy="103000" algn="ctr" rotWithShape="0">
                    <a:srgbClr val="000000">
                      <a:alpha val="87000"/>
                    </a:srgbClr>
                  </a:outerShdw>
                </a:effectLst>
                <a:latin typeface="Bauhaus 93" panose="04030905020B02020C02" pitchFamily="82" charset="0"/>
              </a:rPr>
              <a:t>SCOPE AND DELIMITATION OF THE STUDY</a:t>
            </a:r>
            <a:endParaRPr lang="en-PH" sz="2800" dirty="0">
              <a:effectLst>
                <a:outerShdw blurRad="76200" dist="228600" dir="9000000" sx="103000" sy="103000" algn="ctr" rotWithShape="0">
                  <a:srgbClr val="000000">
                    <a:alpha val="87000"/>
                  </a:srgbClr>
                </a:outerShdw>
              </a:effectLst>
              <a:latin typeface="Bauhaus 93" panose="04030905020B02020C02" pitchFamily="82" charset="0"/>
            </a:endParaRPr>
          </a:p>
        </p:txBody>
      </p:sp>
      <p:sp>
        <p:nvSpPr>
          <p:cNvPr id="2" name="Rectangle: Rounded Corners 1">
            <a:extLst>
              <a:ext uri="{FF2B5EF4-FFF2-40B4-BE49-F238E27FC236}">
                <a16:creationId xmlns:a16="http://schemas.microsoft.com/office/drawing/2014/main" id="{7085C663-2734-4846-A5B8-745D93BABC8D}"/>
              </a:ext>
            </a:extLst>
          </p:cNvPr>
          <p:cNvSpPr/>
          <p:nvPr/>
        </p:nvSpPr>
        <p:spPr>
          <a:xfrm>
            <a:off x="736600" y="2044700"/>
            <a:ext cx="10718800" cy="4445000"/>
          </a:xfrm>
          <a:prstGeom prst="roundRect">
            <a:avLst/>
          </a:prstGeom>
          <a:solidFill>
            <a:schemeClr val="bg1">
              <a:lumMod val="50000"/>
            </a:schemeClr>
          </a:solidFill>
          <a:effectLst>
            <a:outerShdw blurRad="419100" dist="50800" dir="21300000" sx="105000" sy="105000" algn="tr" rotWithShape="0">
              <a:prstClr val="black">
                <a:alpha val="6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100" b="0" i="0" dirty="0">
                <a:solidFill>
                  <a:srgbClr val="000000"/>
                </a:solidFill>
                <a:effectLst/>
                <a:latin typeface="Agency FB" panose="020B0503020202020204" pitchFamily="34" charset="0"/>
              </a:rPr>
              <a:t>The study aims to identify and analyze the determinants of smartphone addiction among students at </a:t>
            </a:r>
            <a:r>
              <a:rPr lang="en-US" sz="3100" b="0" i="0" dirty="0" err="1">
                <a:solidFill>
                  <a:srgbClr val="000000"/>
                </a:solidFill>
                <a:effectLst/>
                <a:latin typeface="Agency FB" panose="020B0503020202020204" pitchFamily="34" charset="0"/>
              </a:rPr>
              <a:t>Dumanjug</a:t>
            </a:r>
            <a:r>
              <a:rPr lang="en-US" sz="3100" b="0" i="0" dirty="0">
                <a:solidFill>
                  <a:srgbClr val="000000"/>
                </a:solidFill>
                <a:effectLst/>
                <a:latin typeface="Agency FB" panose="020B0503020202020204" pitchFamily="34" charset="0"/>
              </a:rPr>
              <a:t> National High School, specifically focusing on senior high school students for the 2024-2025 school year. The research will explore factors such as craving and social relationships but will not include students from other regions, educational levels, specific smartphone apps, or external factors affecting academic performance like socio-economic status or family support. The study will involve a sample of 242 randomly selected students and will not assess the long-term consequences of smartphone addiction or the effectiveness of interventions.</a:t>
            </a:r>
            <a:endParaRPr lang="en-PH" sz="3100" dirty="0">
              <a:latin typeface="Agency FB" panose="020B0503020202020204" pitchFamily="34" charset="0"/>
            </a:endParaRPr>
          </a:p>
        </p:txBody>
      </p:sp>
    </p:spTree>
    <p:extLst>
      <p:ext uri="{BB962C8B-B14F-4D97-AF65-F5344CB8AC3E}">
        <p14:creationId xmlns:p14="http://schemas.microsoft.com/office/powerpoint/2010/main" val="281722498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Flowchart: Process 5">
            <a:extLst>
              <a:ext uri="{FF2B5EF4-FFF2-40B4-BE49-F238E27FC236}">
                <a16:creationId xmlns:a16="http://schemas.microsoft.com/office/drawing/2014/main" id="{EC33E5D3-B3E4-410E-B2F8-52A0B937285E}"/>
              </a:ext>
            </a:extLst>
          </p:cNvPr>
          <p:cNvSpPr/>
          <p:nvPr/>
        </p:nvSpPr>
        <p:spPr>
          <a:xfrm>
            <a:off x="0" y="0"/>
            <a:ext cx="12192000" cy="6858000"/>
          </a:xfrm>
          <a:prstGeom prst="flowChartProcess">
            <a:avLst/>
          </a:prstGeom>
          <a:solidFill>
            <a:schemeClr val="bg2">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7" name="Rectangle 6">
            <a:extLst>
              <a:ext uri="{FF2B5EF4-FFF2-40B4-BE49-F238E27FC236}">
                <a16:creationId xmlns:a16="http://schemas.microsoft.com/office/drawing/2014/main" id="{C6ECF0F5-35A2-48E0-A30B-A542E2B05F8A}"/>
              </a:ext>
            </a:extLst>
          </p:cNvPr>
          <p:cNvSpPr/>
          <p:nvPr/>
        </p:nvSpPr>
        <p:spPr>
          <a:xfrm>
            <a:off x="4169568" y="104775"/>
            <a:ext cx="3852863" cy="527050"/>
          </a:xfrm>
          <a:prstGeom prst="rect">
            <a:avLst/>
          </a:prstGeom>
          <a:solidFill>
            <a:schemeClr val="bg1">
              <a:lumMod val="65000"/>
            </a:schemeClr>
          </a:solidFill>
          <a:ln>
            <a:noFill/>
          </a:ln>
          <a:effectLst>
            <a:outerShdw blurRad="177800" dist="38100" dir="8100000" sx="114000" sy="114000" algn="tr" rotWithShape="0">
              <a:prstClr val="black">
                <a:alpha val="15000"/>
              </a:prstClr>
            </a:outerShdw>
          </a:effectLst>
          <a:scene3d>
            <a:camera prst="orthographicFront"/>
            <a:lightRig rig="threePt" dir="t"/>
          </a:scene3d>
          <a:sp3d>
            <a:bevelT/>
            <a:bevelB w="152400" h="50800" prst="softRound"/>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effectLst>
                  <a:outerShdw blurRad="76200" dist="228600" dir="9000000" sx="103000" sy="103000" algn="ctr" rotWithShape="0">
                    <a:srgbClr val="000000">
                      <a:alpha val="87000"/>
                    </a:srgbClr>
                  </a:outerShdw>
                </a:effectLst>
                <a:latin typeface="Bauhaus 93" panose="04030905020B02020C02" pitchFamily="82" charset="0"/>
              </a:rPr>
              <a:t>RESEARCH HYPOTHESES </a:t>
            </a:r>
            <a:endParaRPr lang="en-PH" sz="2800" dirty="0">
              <a:effectLst>
                <a:outerShdw blurRad="76200" dist="228600" dir="9000000" sx="103000" sy="103000" algn="ctr" rotWithShape="0">
                  <a:srgbClr val="000000">
                    <a:alpha val="87000"/>
                  </a:srgbClr>
                </a:outerShdw>
              </a:effectLst>
              <a:latin typeface="Bauhaus 93" panose="04030905020B02020C02" pitchFamily="82" charset="0"/>
            </a:endParaRPr>
          </a:p>
        </p:txBody>
      </p:sp>
      <p:sp>
        <p:nvSpPr>
          <p:cNvPr id="2" name="Rectangle: Rounded Corners 1">
            <a:extLst>
              <a:ext uri="{FF2B5EF4-FFF2-40B4-BE49-F238E27FC236}">
                <a16:creationId xmlns:a16="http://schemas.microsoft.com/office/drawing/2014/main" id="{7085C663-2734-4846-A5B8-745D93BABC8D}"/>
              </a:ext>
            </a:extLst>
          </p:cNvPr>
          <p:cNvSpPr/>
          <p:nvPr/>
        </p:nvSpPr>
        <p:spPr>
          <a:xfrm>
            <a:off x="736600" y="2044700"/>
            <a:ext cx="10718800" cy="4445000"/>
          </a:xfrm>
          <a:prstGeom prst="roundRect">
            <a:avLst/>
          </a:prstGeom>
          <a:solidFill>
            <a:schemeClr val="bg1">
              <a:lumMod val="50000"/>
            </a:schemeClr>
          </a:solidFill>
          <a:effectLst>
            <a:outerShdw blurRad="419100" dist="50800" dir="21300000" sx="105000" sy="105000" algn="tr" rotWithShape="0">
              <a:prstClr val="black">
                <a:alpha val="6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600" b="0" i="0" dirty="0">
                <a:solidFill>
                  <a:srgbClr val="000000"/>
                </a:solidFill>
                <a:effectLst/>
                <a:latin typeface="Agency FB" panose="020B0503020202020204" pitchFamily="34" charset="0"/>
              </a:rPr>
              <a:t>The research is guided by two hypotheses: the null hypothesis (Ho) states that there is no significant relationship between smartphone addiction and academic performance among the students, while the alternate hypothesis (Ha) posits that smartphone addiction significantly influences their academic performance.</a:t>
            </a:r>
            <a:endParaRPr lang="en-PH" sz="3600" dirty="0">
              <a:latin typeface="Agency FB" panose="020B0503020202020204" pitchFamily="34" charset="0"/>
            </a:endParaRPr>
          </a:p>
        </p:txBody>
      </p:sp>
    </p:spTree>
    <p:extLst>
      <p:ext uri="{BB962C8B-B14F-4D97-AF65-F5344CB8AC3E}">
        <p14:creationId xmlns:p14="http://schemas.microsoft.com/office/powerpoint/2010/main" val="181061463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Flowchart: Process 5">
            <a:extLst>
              <a:ext uri="{FF2B5EF4-FFF2-40B4-BE49-F238E27FC236}">
                <a16:creationId xmlns:a16="http://schemas.microsoft.com/office/drawing/2014/main" id="{EC33E5D3-B3E4-410E-B2F8-52A0B937285E}"/>
              </a:ext>
            </a:extLst>
          </p:cNvPr>
          <p:cNvSpPr/>
          <p:nvPr/>
        </p:nvSpPr>
        <p:spPr>
          <a:xfrm>
            <a:off x="0" y="0"/>
            <a:ext cx="12192000" cy="6858000"/>
          </a:xfrm>
          <a:prstGeom prst="flowChartProcess">
            <a:avLst/>
          </a:prstGeom>
          <a:solidFill>
            <a:schemeClr val="bg2">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7" name="Rectangle 6">
            <a:extLst>
              <a:ext uri="{FF2B5EF4-FFF2-40B4-BE49-F238E27FC236}">
                <a16:creationId xmlns:a16="http://schemas.microsoft.com/office/drawing/2014/main" id="{C6ECF0F5-35A2-48E0-A30B-A542E2B05F8A}"/>
              </a:ext>
            </a:extLst>
          </p:cNvPr>
          <p:cNvSpPr/>
          <p:nvPr/>
        </p:nvSpPr>
        <p:spPr>
          <a:xfrm>
            <a:off x="3678634" y="103187"/>
            <a:ext cx="4834732" cy="530225"/>
          </a:xfrm>
          <a:prstGeom prst="rect">
            <a:avLst/>
          </a:prstGeom>
          <a:solidFill>
            <a:schemeClr val="bg1">
              <a:lumMod val="65000"/>
            </a:schemeClr>
          </a:solidFill>
          <a:ln>
            <a:noFill/>
          </a:ln>
          <a:effectLst>
            <a:outerShdw blurRad="177800" dist="38100" dir="8100000" sx="114000" sy="114000" algn="tr" rotWithShape="0">
              <a:prstClr val="black">
                <a:alpha val="15000"/>
              </a:prstClr>
            </a:outerShdw>
          </a:effectLst>
          <a:scene3d>
            <a:camera prst="orthographicFront"/>
            <a:lightRig rig="threePt" dir="t"/>
          </a:scene3d>
          <a:sp3d>
            <a:bevelT/>
            <a:bevelB w="152400" h="50800" prst="softRound"/>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effectLst>
                  <a:outerShdw blurRad="76200" dist="228600" dir="9000000" sx="103000" sy="103000" algn="ctr" rotWithShape="0">
                    <a:srgbClr val="000000">
                      <a:alpha val="87000"/>
                    </a:srgbClr>
                  </a:outerShdw>
                </a:effectLst>
                <a:latin typeface="Bauhaus 93" panose="04030905020B02020C02" pitchFamily="82" charset="0"/>
              </a:rPr>
              <a:t>BACKGROUND OF THE STUDY </a:t>
            </a:r>
            <a:endParaRPr lang="en-PH" sz="2800" dirty="0">
              <a:effectLst>
                <a:outerShdw blurRad="76200" dist="228600" dir="9000000" sx="103000" sy="103000" algn="ctr" rotWithShape="0">
                  <a:srgbClr val="000000">
                    <a:alpha val="87000"/>
                  </a:srgbClr>
                </a:outerShdw>
              </a:effectLst>
              <a:latin typeface="Bauhaus 93" panose="04030905020B02020C02" pitchFamily="82" charset="0"/>
            </a:endParaRPr>
          </a:p>
        </p:txBody>
      </p:sp>
      <p:sp>
        <p:nvSpPr>
          <p:cNvPr id="2" name="Rectangle: Rounded Corners 1">
            <a:extLst>
              <a:ext uri="{FF2B5EF4-FFF2-40B4-BE49-F238E27FC236}">
                <a16:creationId xmlns:a16="http://schemas.microsoft.com/office/drawing/2014/main" id="{7085C663-2734-4846-A5B8-745D93BABC8D}"/>
              </a:ext>
            </a:extLst>
          </p:cNvPr>
          <p:cNvSpPr/>
          <p:nvPr/>
        </p:nvSpPr>
        <p:spPr>
          <a:xfrm>
            <a:off x="736600" y="2044700"/>
            <a:ext cx="10718800" cy="4445000"/>
          </a:xfrm>
          <a:prstGeom prst="roundRect">
            <a:avLst/>
          </a:prstGeom>
          <a:solidFill>
            <a:schemeClr val="bg1">
              <a:lumMod val="50000"/>
            </a:schemeClr>
          </a:solidFill>
          <a:effectLst>
            <a:outerShdw blurRad="419100" dist="50800" dir="21300000" sx="105000" sy="105000" algn="tr" rotWithShape="0">
              <a:prstClr val="black">
                <a:alpha val="6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2900" b="0" i="0" dirty="0">
                <a:solidFill>
                  <a:srgbClr val="000000"/>
                </a:solidFill>
                <a:effectLst/>
                <a:latin typeface="Agency FB" panose="020B0503020202020204" pitchFamily="34" charset="0"/>
              </a:rPr>
              <a:t>Smartphones have become highly sought-after gadgets, but their overuse is leading to smartphone addiction, a disorder characterized by compulsive use of mobile devices. While smartphones primarily serve as communication tools, their use often extends to social media and gaming, further contributing to addiction. Research indicates a concerning link between smartphone usage and academic achievement, particularly influenced by the nature of tasks students engage in while using these devices. Studies have identified various predictors of smartphone addiction, including daily usage patterns, social networking site addiction, impulsiveness, and physical issues like wrist pain, with significant implications for students' attention and academic performance.</a:t>
            </a:r>
            <a:endParaRPr lang="en-PH" sz="2900" dirty="0">
              <a:latin typeface="Agency FB" panose="020B0503020202020204" pitchFamily="34" charset="0"/>
            </a:endParaRPr>
          </a:p>
        </p:txBody>
      </p:sp>
    </p:spTree>
    <p:extLst>
      <p:ext uri="{BB962C8B-B14F-4D97-AF65-F5344CB8AC3E}">
        <p14:creationId xmlns:p14="http://schemas.microsoft.com/office/powerpoint/2010/main" val="100994638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Flowchart: Process 5">
            <a:extLst>
              <a:ext uri="{FF2B5EF4-FFF2-40B4-BE49-F238E27FC236}">
                <a16:creationId xmlns:a16="http://schemas.microsoft.com/office/drawing/2014/main" id="{EC33E5D3-B3E4-410E-B2F8-52A0B937285E}"/>
              </a:ext>
            </a:extLst>
          </p:cNvPr>
          <p:cNvSpPr/>
          <p:nvPr/>
        </p:nvSpPr>
        <p:spPr>
          <a:xfrm>
            <a:off x="0" y="0"/>
            <a:ext cx="12192000" cy="6858000"/>
          </a:xfrm>
          <a:prstGeom prst="flowChartProcess">
            <a:avLst/>
          </a:prstGeom>
          <a:solidFill>
            <a:schemeClr val="bg2">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7" name="Rectangle 6">
            <a:extLst>
              <a:ext uri="{FF2B5EF4-FFF2-40B4-BE49-F238E27FC236}">
                <a16:creationId xmlns:a16="http://schemas.microsoft.com/office/drawing/2014/main" id="{C6ECF0F5-35A2-48E0-A30B-A542E2B05F8A}"/>
              </a:ext>
            </a:extLst>
          </p:cNvPr>
          <p:cNvSpPr/>
          <p:nvPr/>
        </p:nvSpPr>
        <p:spPr>
          <a:xfrm>
            <a:off x="3678634" y="103187"/>
            <a:ext cx="4834732" cy="530225"/>
          </a:xfrm>
          <a:prstGeom prst="rect">
            <a:avLst/>
          </a:prstGeom>
          <a:solidFill>
            <a:schemeClr val="bg1">
              <a:lumMod val="65000"/>
            </a:schemeClr>
          </a:solidFill>
          <a:ln>
            <a:noFill/>
          </a:ln>
          <a:effectLst>
            <a:outerShdw blurRad="177800" dist="38100" dir="8100000" sx="114000" sy="114000" algn="tr" rotWithShape="0">
              <a:prstClr val="black">
                <a:alpha val="15000"/>
              </a:prstClr>
            </a:outerShdw>
          </a:effectLst>
          <a:scene3d>
            <a:camera prst="orthographicFront"/>
            <a:lightRig rig="threePt" dir="t"/>
          </a:scene3d>
          <a:sp3d>
            <a:bevelT/>
            <a:bevelB w="152400" h="50800" prst="softRound"/>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effectLst>
                  <a:outerShdw blurRad="76200" dist="228600" dir="9000000" sx="103000" sy="103000" algn="ctr" rotWithShape="0">
                    <a:srgbClr val="000000">
                      <a:alpha val="87000"/>
                    </a:srgbClr>
                  </a:outerShdw>
                </a:effectLst>
                <a:latin typeface="Bauhaus 93" panose="04030905020B02020C02" pitchFamily="82" charset="0"/>
              </a:rPr>
              <a:t>BACKGROUND OF THE STUDY </a:t>
            </a:r>
            <a:endParaRPr lang="en-PH" sz="2800" dirty="0">
              <a:effectLst>
                <a:outerShdw blurRad="76200" dist="228600" dir="9000000" sx="103000" sy="103000" algn="ctr" rotWithShape="0">
                  <a:srgbClr val="000000">
                    <a:alpha val="87000"/>
                  </a:srgbClr>
                </a:outerShdw>
              </a:effectLst>
              <a:latin typeface="Bauhaus 93" panose="04030905020B02020C02" pitchFamily="82" charset="0"/>
            </a:endParaRPr>
          </a:p>
        </p:txBody>
      </p:sp>
      <p:sp>
        <p:nvSpPr>
          <p:cNvPr id="2" name="Rectangle: Rounded Corners 1">
            <a:extLst>
              <a:ext uri="{FF2B5EF4-FFF2-40B4-BE49-F238E27FC236}">
                <a16:creationId xmlns:a16="http://schemas.microsoft.com/office/drawing/2014/main" id="{7085C663-2734-4846-A5B8-745D93BABC8D}"/>
              </a:ext>
            </a:extLst>
          </p:cNvPr>
          <p:cNvSpPr/>
          <p:nvPr/>
        </p:nvSpPr>
        <p:spPr>
          <a:xfrm>
            <a:off x="736600" y="2044700"/>
            <a:ext cx="10718800" cy="4445000"/>
          </a:xfrm>
          <a:prstGeom prst="roundRect">
            <a:avLst/>
          </a:prstGeom>
          <a:solidFill>
            <a:schemeClr val="bg1">
              <a:lumMod val="50000"/>
            </a:schemeClr>
          </a:solidFill>
          <a:effectLst>
            <a:outerShdw blurRad="419100" dist="50800" dir="21300000" sx="105000" sy="105000" algn="tr" rotWithShape="0">
              <a:prstClr val="black">
                <a:alpha val="6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400" b="0" i="0" dirty="0">
                <a:solidFill>
                  <a:srgbClr val="000000"/>
                </a:solidFill>
                <a:effectLst/>
                <a:latin typeface="Agency FB" panose="020B0503020202020204" pitchFamily="34" charset="0"/>
              </a:rPr>
              <a:t>The adverse effects of smartphone addiction extend beyond academics, impacting work-related tasks and overall mindfulness, leading to serious consequences such as accidents. In educational settings, excessive smartphone use distracts students from lessons as they often engage in web surfing, social networking, and checking messages instead of focusing on their studies. This shift in attention and time spent on smartphones hampers their academic performance, highlighting the urgent need to address this growing issue among the younger generation.</a:t>
            </a:r>
          </a:p>
        </p:txBody>
      </p:sp>
    </p:spTree>
    <p:extLst>
      <p:ext uri="{BB962C8B-B14F-4D97-AF65-F5344CB8AC3E}">
        <p14:creationId xmlns:p14="http://schemas.microsoft.com/office/powerpoint/2010/main" val="194422152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Flowchart: Process 5">
            <a:extLst>
              <a:ext uri="{FF2B5EF4-FFF2-40B4-BE49-F238E27FC236}">
                <a16:creationId xmlns:a16="http://schemas.microsoft.com/office/drawing/2014/main" id="{EC33E5D3-B3E4-410E-B2F8-52A0B937285E}"/>
              </a:ext>
            </a:extLst>
          </p:cNvPr>
          <p:cNvSpPr/>
          <p:nvPr/>
        </p:nvSpPr>
        <p:spPr>
          <a:xfrm>
            <a:off x="0" y="0"/>
            <a:ext cx="12192000" cy="6858000"/>
          </a:xfrm>
          <a:prstGeom prst="flowChartProcess">
            <a:avLst/>
          </a:prstGeom>
          <a:solidFill>
            <a:schemeClr val="bg2">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7" name="Rectangle 6">
            <a:extLst>
              <a:ext uri="{FF2B5EF4-FFF2-40B4-BE49-F238E27FC236}">
                <a16:creationId xmlns:a16="http://schemas.microsoft.com/office/drawing/2014/main" id="{C6ECF0F5-35A2-48E0-A30B-A542E2B05F8A}"/>
              </a:ext>
            </a:extLst>
          </p:cNvPr>
          <p:cNvSpPr/>
          <p:nvPr/>
        </p:nvSpPr>
        <p:spPr>
          <a:xfrm>
            <a:off x="3678634" y="103187"/>
            <a:ext cx="4834732" cy="530225"/>
          </a:xfrm>
          <a:prstGeom prst="rect">
            <a:avLst/>
          </a:prstGeom>
          <a:solidFill>
            <a:schemeClr val="bg1">
              <a:lumMod val="65000"/>
            </a:schemeClr>
          </a:solidFill>
          <a:ln>
            <a:noFill/>
          </a:ln>
          <a:effectLst>
            <a:outerShdw blurRad="177800" dist="38100" dir="8100000" sx="114000" sy="114000" algn="tr" rotWithShape="0">
              <a:prstClr val="black">
                <a:alpha val="15000"/>
              </a:prstClr>
            </a:outerShdw>
          </a:effectLst>
          <a:scene3d>
            <a:camera prst="orthographicFront"/>
            <a:lightRig rig="threePt" dir="t"/>
          </a:scene3d>
          <a:sp3d>
            <a:bevelT/>
            <a:bevelB w="152400" h="50800" prst="softRound"/>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effectLst>
                  <a:outerShdw blurRad="76200" dist="228600" dir="9000000" sx="103000" sy="103000" algn="ctr" rotWithShape="0">
                    <a:srgbClr val="000000">
                      <a:alpha val="87000"/>
                    </a:srgbClr>
                  </a:outerShdw>
                </a:effectLst>
                <a:latin typeface="Bauhaus 93" panose="04030905020B02020C02" pitchFamily="82" charset="0"/>
              </a:rPr>
              <a:t>BACKGROUND OF THE STUDY </a:t>
            </a:r>
            <a:endParaRPr lang="en-PH" sz="2800" dirty="0">
              <a:effectLst>
                <a:outerShdw blurRad="76200" dist="228600" dir="9000000" sx="103000" sy="103000" algn="ctr" rotWithShape="0">
                  <a:srgbClr val="000000">
                    <a:alpha val="87000"/>
                  </a:srgbClr>
                </a:outerShdw>
              </a:effectLst>
              <a:latin typeface="Bauhaus 93" panose="04030905020B02020C02" pitchFamily="82" charset="0"/>
            </a:endParaRPr>
          </a:p>
        </p:txBody>
      </p:sp>
      <p:sp>
        <p:nvSpPr>
          <p:cNvPr id="2" name="Rectangle: Rounded Corners 1">
            <a:extLst>
              <a:ext uri="{FF2B5EF4-FFF2-40B4-BE49-F238E27FC236}">
                <a16:creationId xmlns:a16="http://schemas.microsoft.com/office/drawing/2014/main" id="{7085C663-2734-4846-A5B8-745D93BABC8D}"/>
              </a:ext>
            </a:extLst>
          </p:cNvPr>
          <p:cNvSpPr/>
          <p:nvPr/>
        </p:nvSpPr>
        <p:spPr>
          <a:xfrm>
            <a:off x="736600" y="2044700"/>
            <a:ext cx="10718800" cy="4445000"/>
          </a:xfrm>
          <a:prstGeom prst="roundRect">
            <a:avLst/>
          </a:prstGeom>
          <a:solidFill>
            <a:schemeClr val="bg1">
              <a:lumMod val="50000"/>
            </a:schemeClr>
          </a:solidFill>
          <a:ln>
            <a:noFill/>
          </a:ln>
          <a:effectLst>
            <a:outerShdw blurRad="419100" dist="50800" dir="21300000" sx="105000" sy="105000" algn="tr" rotWithShape="0">
              <a:prstClr val="black">
                <a:alpha val="6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100" b="0" i="0" dirty="0">
                <a:solidFill>
                  <a:srgbClr val="000000"/>
                </a:solidFill>
                <a:effectLst/>
                <a:latin typeface="Agency FB" panose="020B0503020202020204" pitchFamily="34" charset="0"/>
              </a:rPr>
              <a:t>Although smartphones are already very popular devices, over usage of them is causing smartphone addiction, an illness marked by compulsive mobile device use. Smartphones are mostly used for communication, but they are also frequently used for social media and gaming, which can lead to addiction. Studies reveal a troubling correlation between smartphone use and academic performance, which is especially impacted by the types of activities pupils perform on these devices. Numerous indicators of smartphone addiction have been found in studies, including impulsiveness, daily usage habits, addiction to social networking sites, and physical problems like wrist pain. </a:t>
            </a:r>
          </a:p>
        </p:txBody>
      </p:sp>
    </p:spTree>
    <p:extLst>
      <p:ext uri="{BB962C8B-B14F-4D97-AF65-F5344CB8AC3E}">
        <p14:creationId xmlns:p14="http://schemas.microsoft.com/office/powerpoint/2010/main" val="205945437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Flowchart: Process 5">
            <a:extLst>
              <a:ext uri="{FF2B5EF4-FFF2-40B4-BE49-F238E27FC236}">
                <a16:creationId xmlns:a16="http://schemas.microsoft.com/office/drawing/2014/main" id="{EC33E5D3-B3E4-410E-B2F8-52A0B937285E}"/>
              </a:ext>
            </a:extLst>
          </p:cNvPr>
          <p:cNvSpPr/>
          <p:nvPr/>
        </p:nvSpPr>
        <p:spPr>
          <a:xfrm>
            <a:off x="0" y="0"/>
            <a:ext cx="12192000" cy="6858000"/>
          </a:xfrm>
          <a:prstGeom prst="flowChartProcess">
            <a:avLst/>
          </a:prstGeom>
          <a:solidFill>
            <a:schemeClr val="bg2">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7" name="Rectangle 6">
            <a:extLst>
              <a:ext uri="{FF2B5EF4-FFF2-40B4-BE49-F238E27FC236}">
                <a16:creationId xmlns:a16="http://schemas.microsoft.com/office/drawing/2014/main" id="{C6ECF0F5-35A2-48E0-A30B-A542E2B05F8A}"/>
              </a:ext>
            </a:extLst>
          </p:cNvPr>
          <p:cNvSpPr/>
          <p:nvPr/>
        </p:nvSpPr>
        <p:spPr>
          <a:xfrm>
            <a:off x="3678634" y="103187"/>
            <a:ext cx="4834732" cy="530225"/>
          </a:xfrm>
          <a:prstGeom prst="rect">
            <a:avLst/>
          </a:prstGeom>
          <a:solidFill>
            <a:schemeClr val="bg1">
              <a:lumMod val="65000"/>
            </a:schemeClr>
          </a:solidFill>
          <a:ln>
            <a:noFill/>
          </a:ln>
          <a:effectLst>
            <a:outerShdw blurRad="177800" dist="38100" dir="8100000" sx="114000" sy="114000" algn="tr" rotWithShape="0">
              <a:prstClr val="black">
                <a:alpha val="15000"/>
              </a:prstClr>
            </a:outerShdw>
          </a:effectLst>
          <a:scene3d>
            <a:camera prst="orthographicFront"/>
            <a:lightRig rig="threePt" dir="t"/>
          </a:scene3d>
          <a:sp3d>
            <a:bevelT/>
            <a:bevelB w="152400" h="50800" prst="softRound"/>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effectLst>
                  <a:outerShdw blurRad="76200" dist="228600" dir="9000000" sx="103000" sy="103000" algn="ctr" rotWithShape="0">
                    <a:srgbClr val="000000">
                      <a:alpha val="87000"/>
                    </a:srgbClr>
                  </a:outerShdw>
                </a:effectLst>
                <a:latin typeface="Bauhaus 93" panose="04030905020B02020C02" pitchFamily="82" charset="0"/>
              </a:rPr>
              <a:t>BACKGROUND OF THE STUDY </a:t>
            </a:r>
            <a:endParaRPr lang="en-PH" sz="2800" dirty="0">
              <a:effectLst>
                <a:outerShdw blurRad="76200" dist="228600" dir="9000000" sx="103000" sy="103000" algn="ctr" rotWithShape="0">
                  <a:srgbClr val="000000">
                    <a:alpha val="87000"/>
                  </a:srgbClr>
                </a:outerShdw>
              </a:effectLst>
              <a:latin typeface="Bauhaus 93" panose="04030905020B02020C02" pitchFamily="82" charset="0"/>
            </a:endParaRPr>
          </a:p>
        </p:txBody>
      </p:sp>
      <p:sp>
        <p:nvSpPr>
          <p:cNvPr id="2" name="Rectangle: Rounded Corners 1">
            <a:extLst>
              <a:ext uri="{FF2B5EF4-FFF2-40B4-BE49-F238E27FC236}">
                <a16:creationId xmlns:a16="http://schemas.microsoft.com/office/drawing/2014/main" id="{7085C663-2734-4846-A5B8-745D93BABC8D}"/>
              </a:ext>
            </a:extLst>
          </p:cNvPr>
          <p:cNvSpPr/>
          <p:nvPr/>
        </p:nvSpPr>
        <p:spPr>
          <a:xfrm>
            <a:off x="736600" y="2044700"/>
            <a:ext cx="10718800" cy="4445000"/>
          </a:xfrm>
          <a:prstGeom prst="roundRect">
            <a:avLst/>
          </a:prstGeom>
          <a:solidFill>
            <a:schemeClr val="bg1">
              <a:lumMod val="50000"/>
            </a:schemeClr>
          </a:solidFill>
          <a:ln>
            <a:noFill/>
          </a:ln>
          <a:effectLst>
            <a:outerShdw blurRad="419100" dist="50800" dir="21300000" sx="105000" sy="105000" algn="tr" rotWithShape="0">
              <a:prstClr val="black">
                <a:alpha val="6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4000" b="0" i="0" dirty="0">
                <a:solidFill>
                  <a:srgbClr val="000000"/>
                </a:solidFill>
                <a:effectLst/>
                <a:latin typeface="Agency FB" panose="020B0503020202020204" pitchFamily="34" charset="0"/>
              </a:rPr>
              <a:t>These predictors have a big impact on students' academic performance and attention span. Beyond the classroom, smartphone addiction has detrimental effects on work-related activities and general mindfulness, which can result in accidents and other negative outcomes.</a:t>
            </a:r>
          </a:p>
        </p:txBody>
      </p:sp>
    </p:spTree>
    <p:extLst>
      <p:ext uri="{BB962C8B-B14F-4D97-AF65-F5344CB8AC3E}">
        <p14:creationId xmlns:p14="http://schemas.microsoft.com/office/powerpoint/2010/main" val="169305721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Flowchart: Process 5">
            <a:extLst>
              <a:ext uri="{FF2B5EF4-FFF2-40B4-BE49-F238E27FC236}">
                <a16:creationId xmlns:a16="http://schemas.microsoft.com/office/drawing/2014/main" id="{EC33E5D3-B3E4-410E-B2F8-52A0B937285E}"/>
              </a:ext>
            </a:extLst>
          </p:cNvPr>
          <p:cNvSpPr/>
          <p:nvPr/>
        </p:nvSpPr>
        <p:spPr>
          <a:xfrm>
            <a:off x="0" y="-396240"/>
            <a:ext cx="12192000" cy="7254240"/>
          </a:xfrm>
          <a:prstGeom prst="flowChartProcess">
            <a:avLst/>
          </a:prstGeom>
          <a:solidFill>
            <a:schemeClr val="bg2">
              <a:lumMod val="50000"/>
            </a:schemeClr>
          </a:solidFill>
          <a:effectLst>
            <a:outerShdw blurRad="50800" dist="38100" dir="2700000" algn="tl" rotWithShape="0">
              <a:prstClr val="black">
                <a:alpha val="40000"/>
              </a:prstClr>
            </a:outerShdw>
          </a:effectLst>
          <a:scene3d>
            <a:camera prst="orthographicFront"/>
            <a:lightRig rig="threePt" dir="t"/>
          </a:scene3d>
          <a:sp3d>
            <a:bevelT w="165100" prst="coolSlan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3" name="Rectangle: Diagonal Corners Rounded 2">
            <a:extLst>
              <a:ext uri="{FF2B5EF4-FFF2-40B4-BE49-F238E27FC236}">
                <a16:creationId xmlns:a16="http://schemas.microsoft.com/office/drawing/2014/main" id="{3B46C2BD-1167-4296-A75A-45E5EA23C611}"/>
              </a:ext>
            </a:extLst>
          </p:cNvPr>
          <p:cNvSpPr/>
          <p:nvPr/>
        </p:nvSpPr>
        <p:spPr>
          <a:xfrm>
            <a:off x="3815080" y="172720"/>
            <a:ext cx="4561840" cy="406400"/>
          </a:xfrm>
          <a:prstGeom prst="round2DiagRect">
            <a:avLst/>
          </a:prstGeom>
          <a:solidFill>
            <a:schemeClr val="bg1">
              <a:lumMod val="65000"/>
            </a:schemeClr>
          </a:solidFill>
          <a:ln>
            <a:noFill/>
          </a:ln>
          <a:effectLst>
            <a:outerShdw blurRad="355600" dist="165100" dir="10800000" sx="106000" sy="106000" rotWithShape="0">
              <a:prstClr val="black">
                <a:alpha val="58000"/>
              </a:prstClr>
            </a:outerShdw>
          </a:effectLst>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Bauhaus 93" panose="04030905020B02020C02" pitchFamily="82" charset="0"/>
              </a:rPr>
              <a:t>CONCEPTUAL FRAMEWORK OF THE STUDY</a:t>
            </a:r>
            <a:endParaRPr lang="en-PH" dirty="0">
              <a:solidFill>
                <a:schemeClr val="tx1"/>
              </a:solidFill>
              <a:latin typeface="Bauhaus 93" panose="04030905020B02020C02" pitchFamily="82" charset="0"/>
            </a:endParaRPr>
          </a:p>
        </p:txBody>
      </p:sp>
      <p:sp>
        <p:nvSpPr>
          <p:cNvPr id="4" name="Flowchart: Terminator 3">
            <a:extLst>
              <a:ext uri="{FF2B5EF4-FFF2-40B4-BE49-F238E27FC236}">
                <a16:creationId xmlns:a16="http://schemas.microsoft.com/office/drawing/2014/main" id="{3829D0D2-BAE3-4113-A64B-13281F3356FA}"/>
              </a:ext>
            </a:extLst>
          </p:cNvPr>
          <p:cNvSpPr/>
          <p:nvPr/>
        </p:nvSpPr>
        <p:spPr>
          <a:xfrm>
            <a:off x="4295140" y="878840"/>
            <a:ext cx="3601720" cy="640080"/>
          </a:xfrm>
          <a:prstGeom prst="flowChartTerminator">
            <a:avLst/>
          </a:prstGeom>
          <a:solidFill>
            <a:schemeClr val="bg1">
              <a:lumMod val="65000"/>
            </a:schemeClr>
          </a:solidFill>
          <a:ln>
            <a:noFill/>
          </a:ln>
          <a:effectLst>
            <a:innerShdw blurRad="114300" dist="88900" dir="10140000">
              <a:prstClr val="black"/>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lumMod val="85000"/>
                    <a:lumOff val="15000"/>
                  </a:schemeClr>
                </a:solidFill>
                <a:latin typeface="Agency FB" panose="020B0503020202020204" pitchFamily="34" charset="0"/>
              </a:rPr>
              <a:t>DETERMINANTS OF SMARTPHONE ADDICTION</a:t>
            </a:r>
            <a:endParaRPr lang="en-PH" dirty="0">
              <a:solidFill>
                <a:schemeClr val="tx1">
                  <a:lumMod val="85000"/>
                  <a:lumOff val="15000"/>
                </a:schemeClr>
              </a:solidFill>
              <a:latin typeface="Agency FB" panose="020B0503020202020204" pitchFamily="34" charset="0"/>
            </a:endParaRPr>
          </a:p>
        </p:txBody>
      </p:sp>
      <p:sp>
        <p:nvSpPr>
          <p:cNvPr id="8" name="Down Arrow 340">
            <a:extLst>
              <a:ext uri="{FF2B5EF4-FFF2-40B4-BE49-F238E27FC236}">
                <a16:creationId xmlns:a16="http://schemas.microsoft.com/office/drawing/2014/main" id="{095BBA47-8B1A-43AB-AEF0-86BC91F15736}"/>
              </a:ext>
            </a:extLst>
          </p:cNvPr>
          <p:cNvSpPr/>
          <p:nvPr/>
        </p:nvSpPr>
        <p:spPr>
          <a:xfrm>
            <a:off x="5986461" y="1599565"/>
            <a:ext cx="219075" cy="438150"/>
          </a:xfrm>
          <a:prstGeom prst="downArrow">
            <a:avLst>
              <a:gd name="adj1" fmla="val 50000"/>
              <a:gd name="adj2" fmla="val 50000"/>
            </a:avLst>
          </a:prstGeom>
          <a:solidFill>
            <a:schemeClr val="lt1"/>
          </a:solidFill>
          <a:ln w="12700" cap="flat" cmpd="sng">
            <a:solidFill>
              <a:schemeClr val="dk1"/>
            </a:solidFill>
            <a:prstDash val="solid"/>
            <a:miter lim="800000"/>
            <a:headEnd type="none" w="sm" len="sm"/>
            <a:tailEnd type="none" w="sm" len="sm"/>
          </a:ln>
          <a:effectLst>
            <a:glow rad="101600">
              <a:schemeClr val="accent3">
                <a:satMod val="175000"/>
                <a:alpha val="40000"/>
              </a:schemeClr>
            </a:glow>
            <a:outerShdw blurRad="50800" dist="38100" dir="8100000" algn="tr" rotWithShape="0">
              <a:prstClr val="black">
                <a:alpha val="40000"/>
              </a:prstClr>
            </a:outerShdw>
          </a:effectLst>
          <a:scene3d>
            <a:camera prst="orthographicFront"/>
            <a:lightRig rig="threePt" dir="t"/>
          </a:scene3d>
          <a:sp3d>
            <a:bevelT w="165100" prst="coolSlant"/>
            <a:bevelB w="152400" h="50800" prst="softRound"/>
          </a:sp3d>
        </p:spPr>
        <p:txBody>
          <a:bodyPr spcFirstLastPara="1" wrap="square" lIns="91425" tIns="91425" rIns="91425" bIns="91425" anchor="ctr" anchorCtr="0">
            <a:noAutofit/>
          </a:bodyPr>
          <a:lstStyle/>
          <a:p>
            <a:pPr>
              <a:lnSpc>
                <a:spcPct val="107000"/>
              </a:lnSpc>
              <a:spcAft>
                <a:spcPts val="800"/>
              </a:spcAft>
            </a:pPr>
            <a:r>
              <a:rPr lang="en-GB" sz="1100" dirty="0">
                <a:effectLst/>
                <a:latin typeface="Calibri" panose="020F0502020204030204" pitchFamily="34" charset="0"/>
                <a:ea typeface="Calibri" panose="020F0502020204030204" pitchFamily="34" charset="0"/>
              </a:rPr>
              <a:t> </a:t>
            </a:r>
            <a:endParaRPr lang="en-PH" sz="1100" dirty="0">
              <a:effectLst/>
              <a:latin typeface="Calibri" panose="020F0502020204030204" pitchFamily="34" charset="0"/>
              <a:ea typeface="Calibri" panose="020F0502020204030204" pitchFamily="34" charset="0"/>
            </a:endParaRPr>
          </a:p>
        </p:txBody>
      </p:sp>
      <p:sp>
        <p:nvSpPr>
          <p:cNvPr id="9" name="Rectangle: Rounded Corners 8">
            <a:extLst>
              <a:ext uri="{FF2B5EF4-FFF2-40B4-BE49-F238E27FC236}">
                <a16:creationId xmlns:a16="http://schemas.microsoft.com/office/drawing/2014/main" id="{C568D74B-CF3B-49C0-B294-830A77D8B407}"/>
              </a:ext>
            </a:extLst>
          </p:cNvPr>
          <p:cNvSpPr/>
          <p:nvPr/>
        </p:nvSpPr>
        <p:spPr>
          <a:xfrm>
            <a:off x="8600440" y="2616200"/>
            <a:ext cx="1106906" cy="640080"/>
          </a:xfrm>
          <a:prstGeom prst="roundRect">
            <a:avLst/>
          </a:prstGeom>
          <a:solidFill>
            <a:schemeClr val="bg1">
              <a:lumMod val="65000"/>
            </a:schemeClr>
          </a:solidFill>
          <a:effectLst>
            <a:outerShdw blurRad="76200" dist="38100" dir="11700000" sx="107000" sy="107000" algn="tr" rotWithShape="0">
              <a:prstClr val="black">
                <a:alpha val="73000"/>
              </a:prstClr>
            </a:outerShdw>
          </a:effectLst>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latin typeface="Agency FB" panose="020B0503020202020204" pitchFamily="34" charset="0"/>
              </a:rPr>
              <a:t>SMARTPHONE ADDICTION</a:t>
            </a:r>
            <a:endParaRPr lang="en-PH" sz="1600" dirty="0">
              <a:solidFill>
                <a:schemeClr val="tx1"/>
              </a:solidFill>
              <a:latin typeface="Agency FB" panose="020B0503020202020204" pitchFamily="34" charset="0"/>
            </a:endParaRPr>
          </a:p>
        </p:txBody>
      </p:sp>
      <p:sp>
        <p:nvSpPr>
          <p:cNvPr id="10" name="Rectangle: Rounded Corners 9">
            <a:extLst>
              <a:ext uri="{FF2B5EF4-FFF2-40B4-BE49-F238E27FC236}">
                <a16:creationId xmlns:a16="http://schemas.microsoft.com/office/drawing/2014/main" id="{EE4379B8-43A3-497C-B5C0-3A3F4C8971A1}"/>
              </a:ext>
            </a:extLst>
          </p:cNvPr>
          <p:cNvSpPr/>
          <p:nvPr/>
        </p:nvSpPr>
        <p:spPr>
          <a:xfrm>
            <a:off x="7109927" y="2616200"/>
            <a:ext cx="1106906" cy="640080"/>
          </a:xfrm>
          <a:prstGeom prst="roundRect">
            <a:avLst/>
          </a:prstGeom>
          <a:solidFill>
            <a:schemeClr val="bg1">
              <a:lumMod val="65000"/>
            </a:schemeClr>
          </a:solidFill>
          <a:effectLst>
            <a:outerShdw blurRad="76200" dist="38100" dir="11700000" sx="107000" sy="107000" algn="tr" rotWithShape="0">
              <a:prstClr val="black">
                <a:alpha val="73000"/>
              </a:prstClr>
            </a:outerShdw>
          </a:effectLst>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latin typeface="Agency FB" panose="020B0503020202020204" pitchFamily="34" charset="0"/>
              </a:rPr>
              <a:t>SMARTPHONE ADDICTION</a:t>
            </a:r>
            <a:endParaRPr lang="en-PH" sz="1600" dirty="0">
              <a:solidFill>
                <a:schemeClr val="tx1"/>
              </a:solidFill>
              <a:latin typeface="Agency FB" panose="020B0503020202020204" pitchFamily="34" charset="0"/>
            </a:endParaRPr>
          </a:p>
        </p:txBody>
      </p:sp>
      <p:sp>
        <p:nvSpPr>
          <p:cNvPr id="11" name="Rectangle: Rounded Corners 10">
            <a:extLst>
              <a:ext uri="{FF2B5EF4-FFF2-40B4-BE49-F238E27FC236}">
                <a16:creationId xmlns:a16="http://schemas.microsoft.com/office/drawing/2014/main" id="{5FA4533E-1A53-49AF-95FC-DFEFA9E612FC}"/>
              </a:ext>
            </a:extLst>
          </p:cNvPr>
          <p:cNvSpPr/>
          <p:nvPr/>
        </p:nvSpPr>
        <p:spPr>
          <a:xfrm>
            <a:off x="5465678" y="2616200"/>
            <a:ext cx="1260642" cy="640080"/>
          </a:xfrm>
          <a:prstGeom prst="roundRect">
            <a:avLst/>
          </a:prstGeom>
          <a:solidFill>
            <a:schemeClr val="bg1">
              <a:lumMod val="65000"/>
            </a:schemeClr>
          </a:solidFill>
          <a:effectLst>
            <a:outerShdw blurRad="76200" dist="38100" dir="11700000" sx="107000" sy="107000" algn="tr" rotWithShape="0">
              <a:prstClr val="black">
                <a:alpha val="73000"/>
              </a:prstClr>
            </a:outerShdw>
          </a:effectLst>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latin typeface="Agency FB" panose="020B0503020202020204" pitchFamily="34" charset="0"/>
              </a:rPr>
              <a:t>SOCIAL RELATIONSHIPS</a:t>
            </a:r>
            <a:endParaRPr lang="en-PH" sz="1600" dirty="0">
              <a:solidFill>
                <a:schemeClr val="tx1"/>
              </a:solidFill>
              <a:latin typeface="Agency FB" panose="020B0503020202020204" pitchFamily="34" charset="0"/>
            </a:endParaRPr>
          </a:p>
        </p:txBody>
      </p:sp>
      <p:sp>
        <p:nvSpPr>
          <p:cNvPr id="12" name="Rectangle: Rounded Corners 11">
            <a:extLst>
              <a:ext uri="{FF2B5EF4-FFF2-40B4-BE49-F238E27FC236}">
                <a16:creationId xmlns:a16="http://schemas.microsoft.com/office/drawing/2014/main" id="{C206D3D5-1C4D-44E1-9B23-D2C9CFEA431B}"/>
              </a:ext>
            </a:extLst>
          </p:cNvPr>
          <p:cNvSpPr/>
          <p:nvPr/>
        </p:nvSpPr>
        <p:spPr>
          <a:xfrm>
            <a:off x="3815080" y="2616200"/>
            <a:ext cx="1260642" cy="640080"/>
          </a:xfrm>
          <a:prstGeom prst="roundRect">
            <a:avLst/>
          </a:prstGeom>
          <a:solidFill>
            <a:schemeClr val="bg1">
              <a:lumMod val="65000"/>
            </a:schemeClr>
          </a:solidFill>
          <a:effectLst>
            <a:outerShdw blurRad="76200" dist="38100" dir="11700000" sx="107000" sy="107000" algn="tr" rotWithShape="0">
              <a:prstClr val="black">
                <a:alpha val="73000"/>
              </a:prstClr>
            </a:outerShdw>
          </a:effectLst>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latin typeface="Agency FB" panose="020B0503020202020204" pitchFamily="34" charset="0"/>
              </a:rPr>
              <a:t>SOCIAL RELATIONSHIPS</a:t>
            </a:r>
            <a:endParaRPr lang="en-PH" sz="1600" dirty="0">
              <a:solidFill>
                <a:schemeClr val="tx1"/>
              </a:solidFill>
              <a:latin typeface="Agency FB" panose="020B0503020202020204" pitchFamily="34" charset="0"/>
            </a:endParaRPr>
          </a:p>
        </p:txBody>
      </p:sp>
      <p:sp>
        <p:nvSpPr>
          <p:cNvPr id="13" name="Rectangle: Rounded Corners 12">
            <a:extLst>
              <a:ext uri="{FF2B5EF4-FFF2-40B4-BE49-F238E27FC236}">
                <a16:creationId xmlns:a16="http://schemas.microsoft.com/office/drawing/2014/main" id="{DD4AE3D7-A718-4DD0-8BCA-425162287AD8}"/>
              </a:ext>
            </a:extLst>
          </p:cNvPr>
          <p:cNvSpPr/>
          <p:nvPr/>
        </p:nvSpPr>
        <p:spPr>
          <a:xfrm>
            <a:off x="2164482" y="2616200"/>
            <a:ext cx="1260642" cy="640080"/>
          </a:xfrm>
          <a:prstGeom prst="roundRect">
            <a:avLst/>
          </a:prstGeom>
          <a:solidFill>
            <a:schemeClr val="bg1">
              <a:lumMod val="65000"/>
            </a:schemeClr>
          </a:solidFill>
          <a:effectLst>
            <a:outerShdw blurRad="76200" dist="38100" dir="11700000" sx="107000" sy="107000" algn="tr" rotWithShape="0">
              <a:prstClr val="black">
                <a:alpha val="73000"/>
              </a:prstClr>
            </a:outerShdw>
          </a:effectLst>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latin typeface="Agency FB" panose="020B0503020202020204" pitchFamily="34" charset="0"/>
              </a:rPr>
              <a:t>CRAVINGS</a:t>
            </a:r>
            <a:endParaRPr lang="en-PH" sz="1600" dirty="0">
              <a:solidFill>
                <a:schemeClr val="tx1"/>
              </a:solidFill>
              <a:latin typeface="Agency FB" panose="020B0503020202020204" pitchFamily="34" charset="0"/>
            </a:endParaRPr>
          </a:p>
        </p:txBody>
      </p:sp>
      <p:cxnSp>
        <p:nvCxnSpPr>
          <p:cNvPr id="15" name="Straight Connector 14">
            <a:extLst>
              <a:ext uri="{FF2B5EF4-FFF2-40B4-BE49-F238E27FC236}">
                <a16:creationId xmlns:a16="http://schemas.microsoft.com/office/drawing/2014/main" id="{F2983AFD-4282-42B5-A4F5-7D85CEEE11DE}"/>
              </a:ext>
            </a:extLst>
          </p:cNvPr>
          <p:cNvCxnSpPr>
            <a:cxnSpLocks/>
          </p:cNvCxnSpPr>
          <p:nvPr/>
        </p:nvCxnSpPr>
        <p:spPr>
          <a:xfrm flipV="1">
            <a:off x="2727960" y="2117090"/>
            <a:ext cx="6471920" cy="2349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7" name="Down Arrow 340">
            <a:extLst>
              <a:ext uri="{FF2B5EF4-FFF2-40B4-BE49-F238E27FC236}">
                <a16:creationId xmlns:a16="http://schemas.microsoft.com/office/drawing/2014/main" id="{C9665B26-43DD-43AE-879B-2F5F525CE849}"/>
              </a:ext>
            </a:extLst>
          </p:cNvPr>
          <p:cNvSpPr/>
          <p:nvPr/>
        </p:nvSpPr>
        <p:spPr>
          <a:xfrm>
            <a:off x="6010917" y="2162810"/>
            <a:ext cx="160336" cy="438150"/>
          </a:xfrm>
          <a:prstGeom prst="downArrow">
            <a:avLst>
              <a:gd name="adj1" fmla="val 50000"/>
              <a:gd name="adj2" fmla="val 50000"/>
            </a:avLst>
          </a:prstGeom>
          <a:solidFill>
            <a:schemeClr val="lt1"/>
          </a:solidFill>
          <a:ln w="12700" cap="flat" cmpd="sng">
            <a:solidFill>
              <a:schemeClr val="dk1"/>
            </a:solidFill>
            <a:prstDash val="solid"/>
            <a:miter lim="800000"/>
            <a:headEnd type="none" w="sm" len="sm"/>
            <a:tailEnd type="none" w="sm" len="sm"/>
          </a:ln>
          <a:effectLst>
            <a:glow rad="101600">
              <a:schemeClr val="accent3">
                <a:satMod val="175000"/>
                <a:alpha val="40000"/>
              </a:schemeClr>
            </a:glow>
            <a:outerShdw blurRad="50800" dist="38100" dir="8100000" algn="tr" rotWithShape="0">
              <a:prstClr val="black">
                <a:alpha val="40000"/>
              </a:prstClr>
            </a:outerShdw>
          </a:effectLst>
          <a:scene3d>
            <a:camera prst="orthographicFront"/>
            <a:lightRig rig="threePt" dir="t"/>
          </a:scene3d>
          <a:sp3d>
            <a:bevelT w="165100" prst="coolSlant"/>
            <a:bevelB w="152400" h="50800" prst="softRound"/>
          </a:sp3d>
        </p:spPr>
        <p:txBody>
          <a:bodyPr spcFirstLastPara="1" wrap="square" lIns="91425" tIns="91425" rIns="91425" bIns="91425" anchor="ctr" anchorCtr="0">
            <a:noAutofit/>
          </a:bodyPr>
          <a:lstStyle/>
          <a:p>
            <a:pPr>
              <a:lnSpc>
                <a:spcPct val="107000"/>
              </a:lnSpc>
              <a:spcAft>
                <a:spcPts val="800"/>
              </a:spcAft>
            </a:pPr>
            <a:r>
              <a:rPr lang="en-GB" sz="1100" dirty="0">
                <a:effectLst/>
                <a:latin typeface="Calibri" panose="020F0502020204030204" pitchFamily="34" charset="0"/>
                <a:ea typeface="Calibri" panose="020F0502020204030204" pitchFamily="34" charset="0"/>
              </a:rPr>
              <a:t> </a:t>
            </a:r>
            <a:endParaRPr lang="en-PH" sz="1100" dirty="0">
              <a:effectLst/>
              <a:latin typeface="Calibri" panose="020F0502020204030204" pitchFamily="34" charset="0"/>
              <a:ea typeface="Calibri" panose="020F0502020204030204" pitchFamily="34" charset="0"/>
            </a:endParaRPr>
          </a:p>
        </p:txBody>
      </p:sp>
      <p:sp>
        <p:nvSpPr>
          <p:cNvPr id="18" name="Down Arrow 340">
            <a:extLst>
              <a:ext uri="{FF2B5EF4-FFF2-40B4-BE49-F238E27FC236}">
                <a16:creationId xmlns:a16="http://schemas.microsoft.com/office/drawing/2014/main" id="{17157034-5E2E-4D65-910A-78179C3C87D2}"/>
              </a:ext>
            </a:extLst>
          </p:cNvPr>
          <p:cNvSpPr/>
          <p:nvPr/>
        </p:nvSpPr>
        <p:spPr>
          <a:xfrm>
            <a:off x="7553842" y="2147570"/>
            <a:ext cx="219075" cy="438150"/>
          </a:xfrm>
          <a:prstGeom prst="downArrow">
            <a:avLst>
              <a:gd name="adj1" fmla="val 50000"/>
              <a:gd name="adj2" fmla="val 50000"/>
            </a:avLst>
          </a:prstGeom>
          <a:solidFill>
            <a:schemeClr val="lt1"/>
          </a:solidFill>
          <a:ln w="12700" cap="flat" cmpd="sng">
            <a:solidFill>
              <a:schemeClr val="dk1"/>
            </a:solidFill>
            <a:prstDash val="solid"/>
            <a:miter lim="800000"/>
            <a:headEnd type="none" w="sm" len="sm"/>
            <a:tailEnd type="none" w="sm" len="sm"/>
          </a:ln>
          <a:effectLst>
            <a:glow rad="101600">
              <a:schemeClr val="accent3">
                <a:satMod val="175000"/>
                <a:alpha val="40000"/>
              </a:schemeClr>
            </a:glow>
            <a:outerShdw blurRad="50800" dist="38100" dir="8100000" algn="tr" rotWithShape="0">
              <a:prstClr val="black">
                <a:alpha val="40000"/>
              </a:prstClr>
            </a:outerShdw>
          </a:effectLst>
          <a:scene3d>
            <a:camera prst="orthographicFront"/>
            <a:lightRig rig="threePt" dir="t"/>
          </a:scene3d>
          <a:sp3d>
            <a:bevelT w="165100" prst="coolSlant"/>
            <a:bevelB w="152400" h="50800" prst="softRound"/>
          </a:sp3d>
        </p:spPr>
        <p:txBody>
          <a:bodyPr spcFirstLastPara="1" wrap="square" lIns="91425" tIns="91425" rIns="91425" bIns="91425" anchor="ctr" anchorCtr="0">
            <a:noAutofit/>
          </a:bodyPr>
          <a:lstStyle/>
          <a:p>
            <a:pPr>
              <a:lnSpc>
                <a:spcPct val="107000"/>
              </a:lnSpc>
              <a:spcAft>
                <a:spcPts val="800"/>
              </a:spcAft>
            </a:pPr>
            <a:r>
              <a:rPr lang="en-GB" sz="1100" dirty="0">
                <a:effectLst/>
                <a:latin typeface="Calibri" panose="020F0502020204030204" pitchFamily="34" charset="0"/>
                <a:ea typeface="Calibri" panose="020F0502020204030204" pitchFamily="34" charset="0"/>
              </a:rPr>
              <a:t> </a:t>
            </a:r>
            <a:endParaRPr lang="en-PH" sz="1100" dirty="0">
              <a:effectLst/>
              <a:latin typeface="Calibri" panose="020F0502020204030204" pitchFamily="34" charset="0"/>
              <a:ea typeface="Calibri" panose="020F0502020204030204" pitchFamily="34" charset="0"/>
            </a:endParaRPr>
          </a:p>
        </p:txBody>
      </p:sp>
      <p:sp>
        <p:nvSpPr>
          <p:cNvPr id="20" name="Down Arrow 340">
            <a:extLst>
              <a:ext uri="{FF2B5EF4-FFF2-40B4-BE49-F238E27FC236}">
                <a16:creationId xmlns:a16="http://schemas.microsoft.com/office/drawing/2014/main" id="{268848C3-30D1-4710-A833-D7AF8BE7BD56}"/>
              </a:ext>
            </a:extLst>
          </p:cNvPr>
          <p:cNvSpPr/>
          <p:nvPr/>
        </p:nvSpPr>
        <p:spPr>
          <a:xfrm>
            <a:off x="9032005" y="2147570"/>
            <a:ext cx="219075" cy="438150"/>
          </a:xfrm>
          <a:prstGeom prst="downArrow">
            <a:avLst>
              <a:gd name="adj1" fmla="val 50000"/>
              <a:gd name="adj2" fmla="val 50000"/>
            </a:avLst>
          </a:prstGeom>
          <a:solidFill>
            <a:schemeClr val="lt1"/>
          </a:solidFill>
          <a:ln w="12700" cap="flat" cmpd="sng">
            <a:solidFill>
              <a:schemeClr val="dk1"/>
            </a:solidFill>
            <a:prstDash val="solid"/>
            <a:miter lim="800000"/>
            <a:headEnd type="none" w="sm" len="sm"/>
            <a:tailEnd type="none" w="sm" len="sm"/>
          </a:ln>
          <a:effectLst>
            <a:glow rad="101600">
              <a:schemeClr val="accent3">
                <a:satMod val="175000"/>
                <a:alpha val="40000"/>
              </a:schemeClr>
            </a:glow>
            <a:outerShdw blurRad="50800" dist="38100" dir="8100000" algn="tr" rotWithShape="0">
              <a:prstClr val="black">
                <a:alpha val="40000"/>
              </a:prstClr>
            </a:outerShdw>
          </a:effectLst>
          <a:scene3d>
            <a:camera prst="orthographicFront"/>
            <a:lightRig rig="threePt" dir="t"/>
          </a:scene3d>
          <a:sp3d>
            <a:bevelT w="165100" prst="coolSlant"/>
            <a:bevelB w="152400" h="50800" prst="softRound"/>
          </a:sp3d>
        </p:spPr>
        <p:txBody>
          <a:bodyPr spcFirstLastPara="1" wrap="square" lIns="91425" tIns="91425" rIns="91425" bIns="91425" anchor="ctr" anchorCtr="0">
            <a:noAutofit/>
          </a:bodyPr>
          <a:lstStyle/>
          <a:p>
            <a:pPr>
              <a:lnSpc>
                <a:spcPct val="107000"/>
              </a:lnSpc>
              <a:spcAft>
                <a:spcPts val="800"/>
              </a:spcAft>
            </a:pPr>
            <a:r>
              <a:rPr lang="en-GB" sz="1100" dirty="0">
                <a:effectLst/>
                <a:latin typeface="Calibri" panose="020F0502020204030204" pitchFamily="34" charset="0"/>
                <a:ea typeface="Calibri" panose="020F0502020204030204" pitchFamily="34" charset="0"/>
              </a:rPr>
              <a:t> </a:t>
            </a:r>
            <a:endParaRPr lang="en-PH" sz="1100" dirty="0">
              <a:effectLst/>
              <a:latin typeface="Calibri" panose="020F0502020204030204" pitchFamily="34" charset="0"/>
              <a:ea typeface="Calibri" panose="020F0502020204030204" pitchFamily="34" charset="0"/>
            </a:endParaRPr>
          </a:p>
        </p:txBody>
      </p:sp>
      <p:sp>
        <p:nvSpPr>
          <p:cNvPr id="21" name="Down Arrow 340">
            <a:extLst>
              <a:ext uri="{FF2B5EF4-FFF2-40B4-BE49-F238E27FC236}">
                <a16:creationId xmlns:a16="http://schemas.microsoft.com/office/drawing/2014/main" id="{DCD07AB3-DD12-480A-B9C2-4105A553A838}"/>
              </a:ext>
            </a:extLst>
          </p:cNvPr>
          <p:cNvSpPr/>
          <p:nvPr/>
        </p:nvSpPr>
        <p:spPr>
          <a:xfrm>
            <a:off x="4335863" y="2157730"/>
            <a:ext cx="219075" cy="438150"/>
          </a:xfrm>
          <a:prstGeom prst="downArrow">
            <a:avLst>
              <a:gd name="adj1" fmla="val 50000"/>
              <a:gd name="adj2" fmla="val 50000"/>
            </a:avLst>
          </a:prstGeom>
          <a:solidFill>
            <a:schemeClr val="lt1"/>
          </a:solidFill>
          <a:ln w="12700" cap="flat" cmpd="sng">
            <a:solidFill>
              <a:schemeClr val="dk1"/>
            </a:solidFill>
            <a:prstDash val="solid"/>
            <a:miter lim="800000"/>
            <a:headEnd type="none" w="sm" len="sm"/>
            <a:tailEnd type="none" w="sm" len="sm"/>
          </a:ln>
          <a:effectLst>
            <a:glow rad="101600">
              <a:schemeClr val="accent3">
                <a:satMod val="175000"/>
                <a:alpha val="40000"/>
              </a:schemeClr>
            </a:glow>
            <a:outerShdw blurRad="50800" dist="38100" dir="8100000" algn="tr" rotWithShape="0">
              <a:prstClr val="black">
                <a:alpha val="40000"/>
              </a:prstClr>
            </a:outerShdw>
          </a:effectLst>
          <a:scene3d>
            <a:camera prst="orthographicFront"/>
            <a:lightRig rig="threePt" dir="t"/>
          </a:scene3d>
          <a:sp3d>
            <a:bevelT w="165100" prst="coolSlant"/>
            <a:bevelB w="152400" h="50800" prst="softRound"/>
          </a:sp3d>
        </p:spPr>
        <p:txBody>
          <a:bodyPr spcFirstLastPara="1" wrap="square" lIns="91425" tIns="91425" rIns="91425" bIns="91425" anchor="ctr" anchorCtr="0">
            <a:noAutofit/>
          </a:bodyPr>
          <a:lstStyle/>
          <a:p>
            <a:pPr>
              <a:lnSpc>
                <a:spcPct val="107000"/>
              </a:lnSpc>
              <a:spcAft>
                <a:spcPts val="800"/>
              </a:spcAft>
            </a:pPr>
            <a:r>
              <a:rPr lang="en-GB" sz="1100" dirty="0">
                <a:effectLst/>
                <a:latin typeface="Calibri" panose="020F0502020204030204" pitchFamily="34" charset="0"/>
                <a:ea typeface="Calibri" panose="020F0502020204030204" pitchFamily="34" charset="0"/>
              </a:rPr>
              <a:t> </a:t>
            </a:r>
            <a:endParaRPr lang="en-PH" sz="1100" dirty="0">
              <a:effectLst/>
              <a:latin typeface="Calibri" panose="020F0502020204030204" pitchFamily="34" charset="0"/>
              <a:ea typeface="Calibri" panose="020F0502020204030204" pitchFamily="34" charset="0"/>
            </a:endParaRPr>
          </a:p>
        </p:txBody>
      </p:sp>
      <p:sp>
        <p:nvSpPr>
          <p:cNvPr id="22" name="Down Arrow 340">
            <a:extLst>
              <a:ext uri="{FF2B5EF4-FFF2-40B4-BE49-F238E27FC236}">
                <a16:creationId xmlns:a16="http://schemas.microsoft.com/office/drawing/2014/main" id="{CF21E87F-DAA5-4081-8F30-E78F3D07F4CC}"/>
              </a:ext>
            </a:extLst>
          </p:cNvPr>
          <p:cNvSpPr/>
          <p:nvPr/>
        </p:nvSpPr>
        <p:spPr>
          <a:xfrm>
            <a:off x="2683443" y="2162810"/>
            <a:ext cx="219075" cy="438150"/>
          </a:xfrm>
          <a:prstGeom prst="downArrow">
            <a:avLst>
              <a:gd name="adj1" fmla="val 50000"/>
              <a:gd name="adj2" fmla="val 50000"/>
            </a:avLst>
          </a:prstGeom>
          <a:solidFill>
            <a:schemeClr val="lt1"/>
          </a:solidFill>
          <a:ln w="12700" cap="flat" cmpd="sng">
            <a:solidFill>
              <a:schemeClr val="dk1"/>
            </a:solidFill>
            <a:prstDash val="solid"/>
            <a:miter lim="800000"/>
            <a:headEnd type="none" w="sm" len="sm"/>
            <a:tailEnd type="none" w="sm" len="sm"/>
          </a:ln>
          <a:effectLst>
            <a:glow rad="101600">
              <a:schemeClr val="accent3">
                <a:satMod val="175000"/>
                <a:alpha val="40000"/>
              </a:schemeClr>
            </a:glow>
            <a:outerShdw blurRad="50800" dist="38100" dir="8100000" algn="tr" rotWithShape="0">
              <a:prstClr val="black">
                <a:alpha val="40000"/>
              </a:prstClr>
            </a:outerShdw>
          </a:effectLst>
          <a:scene3d>
            <a:camera prst="orthographicFront"/>
            <a:lightRig rig="threePt" dir="t"/>
          </a:scene3d>
          <a:sp3d>
            <a:bevelT w="165100" prst="coolSlant"/>
            <a:bevelB w="152400" h="50800" prst="softRound"/>
          </a:sp3d>
        </p:spPr>
        <p:txBody>
          <a:bodyPr spcFirstLastPara="1" wrap="square" lIns="91425" tIns="91425" rIns="91425" bIns="91425" anchor="ctr" anchorCtr="0">
            <a:noAutofit/>
          </a:bodyPr>
          <a:lstStyle/>
          <a:p>
            <a:pPr>
              <a:lnSpc>
                <a:spcPct val="107000"/>
              </a:lnSpc>
              <a:spcAft>
                <a:spcPts val="800"/>
              </a:spcAft>
            </a:pPr>
            <a:r>
              <a:rPr lang="en-GB" sz="1100" dirty="0">
                <a:effectLst/>
                <a:latin typeface="Calibri" panose="020F0502020204030204" pitchFamily="34" charset="0"/>
                <a:ea typeface="Calibri" panose="020F0502020204030204" pitchFamily="34" charset="0"/>
              </a:rPr>
              <a:t> </a:t>
            </a:r>
            <a:endParaRPr lang="en-PH" sz="1100" dirty="0">
              <a:effectLst/>
              <a:latin typeface="Calibri" panose="020F0502020204030204" pitchFamily="34" charset="0"/>
              <a:ea typeface="Calibri" panose="020F0502020204030204" pitchFamily="34" charset="0"/>
            </a:endParaRPr>
          </a:p>
        </p:txBody>
      </p:sp>
      <p:cxnSp>
        <p:nvCxnSpPr>
          <p:cNvPr id="29" name="Straight Arrow Connector 28">
            <a:extLst>
              <a:ext uri="{FF2B5EF4-FFF2-40B4-BE49-F238E27FC236}">
                <a16:creationId xmlns:a16="http://schemas.microsoft.com/office/drawing/2014/main" id="{77CD0AB0-08AB-459D-A39E-62C1DAA28C2B}"/>
              </a:ext>
            </a:extLst>
          </p:cNvPr>
          <p:cNvCxnSpPr>
            <a:cxnSpLocks/>
          </p:cNvCxnSpPr>
          <p:nvPr/>
        </p:nvCxnSpPr>
        <p:spPr>
          <a:xfrm flipH="1">
            <a:off x="6121667" y="3281680"/>
            <a:ext cx="3019877" cy="1159193"/>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3" name="Straight Arrow Connector 32">
            <a:extLst>
              <a:ext uri="{FF2B5EF4-FFF2-40B4-BE49-F238E27FC236}">
                <a16:creationId xmlns:a16="http://schemas.microsoft.com/office/drawing/2014/main" id="{417226EE-A2F4-41A2-B980-8E280274B568}"/>
              </a:ext>
            </a:extLst>
          </p:cNvPr>
          <p:cNvCxnSpPr>
            <a:cxnSpLocks/>
          </p:cNvCxnSpPr>
          <p:nvPr/>
        </p:nvCxnSpPr>
        <p:spPr>
          <a:xfrm flipH="1">
            <a:off x="6121667" y="3273107"/>
            <a:ext cx="1541713" cy="1154514"/>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8" name="Straight Arrow Connector 37">
            <a:extLst>
              <a:ext uri="{FF2B5EF4-FFF2-40B4-BE49-F238E27FC236}">
                <a16:creationId xmlns:a16="http://schemas.microsoft.com/office/drawing/2014/main" id="{2ED19534-E638-4A8A-A4E3-52E3F4D697CC}"/>
              </a:ext>
            </a:extLst>
          </p:cNvPr>
          <p:cNvCxnSpPr>
            <a:cxnSpLocks/>
          </p:cNvCxnSpPr>
          <p:nvPr/>
        </p:nvCxnSpPr>
        <p:spPr>
          <a:xfrm>
            <a:off x="6095998" y="3284440"/>
            <a:ext cx="6416" cy="1156433"/>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3" name="Straight Arrow Connector 42">
            <a:extLst>
              <a:ext uri="{FF2B5EF4-FFF2-40B4-BE49-F238E27FC236}">
                <a16:creationId xmlns:a16="http://schemas.microsoft.com/office/drawing/2014/main" id="{42E47CB3-AF97-4290-AE6C-F782553BD948}"/>
              </a:ext>
            </a:extLst>
          </p:cNvPr>
          <p:cNvCxnSpPr>
            <a:cxnSpLocks/>
          </p:cNvCxnSpPr>
          <p:nvPr/>
        </p:nvCxnSpPr>
        <p:spPr>
          <a:xfrm>
            <a:off x="4445400" y="3268966"/>
            <a:ext cx="1637764" cy="1158655"/>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5" name="Straight Arrow Connector 44">
            <a:extLst>
              <a:ext uri="{FF2B5EF4-FFF2-40B4-BE49-F238E27FC236}">
                <a16:creationId xmlns:a16="http://schemas.microsoft.com/office/drawing/2014/main" id="{C15A8AA5-FBB2-453E-BE62-9157C712C9AF}"/>
              </a:ext>
            </a:extLst>
          </p:cNvPr>
          <p:cNvCxnSpPr>
            <a:cxnSpLocks/>
          </p:cNvCxnSpPr>
          <p:nvPr/>
        </p:nvCxnSpPr>
        <p:spPr>
          <a:xfrm>
            <a:off x="2727960" y="3284440"/>
            <a:ext cx="3348785" cy="1156433"/>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9" name="Rectangle: Rounded Corners 48">
            <a:extLst>
              <a:ext uri="{FF2B5EF4-FFF2-40B4-BE49-F238E27FC236}">
                <a16:creationId xmlns:a16="http://schemas.microsoft.com/office/drawing/2014/main" id="{DC125E8A-1FDA-4D29-B139-9E8FD28D6C85}"/>
              </a:ext>
            </a:extLst>
          </p:cNvPr>
          <p:cNvSpPr/>
          <p:nvPr/>
        </p:nvSpPr>
        <p:spPr>
          <a:xfrm>
            <a:off x="4275216" y="4417462"/>
            <a:ext cx="3740496" cy="640080"/>
          </a:xfrm>
          <a:prstGeom prst="roundRect">
            <a:avLst/>
          </a:prstGeom>
          <a:effectLst>
            <a:glow rad="190500">
              <a:schemeClr val="accent4">
                <a:satMod val="175000"/>
                <a:alpha val="40000"/>
              </a:schemeClr>
            </a:glow>
            <a:outerShdw blurRad="139700" dist="88900" dir="8700000" sx="104000" sy="104000" algn="tr" rotWithShape="0">
              <a:prstClr val="black">
                <a:alpha val="50000"/>
              </a:prstClr>
            </a:outerShdw>
          </a:effectLst>
          <a:scene3d>
            <a:camera prst="orthographicFront"/>
            <a:lightRig rig="threePt" dir="t"/>
          </a:scene3d>
          <a:sp3d>
            <a:bevelT w="254000" prst="coolSlan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07000"/>
              </a:lnSpc>
              <a:spcAft>
                <a:spcPts val="800"/>
              </a:spcAft>
            </a:pPr>
            <a:r>
              <a:rPr lang="en-GB" b="1" dirty="0">
                <a:solidFill>
                  <a:srgbClr val="000000"/>
                </a:solidFill>
                <a:effectLst/>
                <a:latin typeface="Agency FB" panose="020B0503020202020204" pitchFamily="34" charset="0"/>
                <a:ea typeface="Calibri" panose="020F0502020204030204" pitchFamily="34" charset="0"/>
              </a:rPr>
              <a:t>SENIOR HIGH SCHOOL STUDENTS ACADEMIC PERFORMANCE</a:t>
            </a:r>
            <a:endParaRPr lang="en-PH" dirty="0">
              <a:effectLst/>
              <a:latin typeface="Agency FB" panose="020B0503020202020204" pitchFamily="34" charset="0"/>
              <a:ea typeface="Calibri" panose="020F0502020204030204" pitchFamily="34" charset="0"/>
            </a:endParaRPr>
          </a:p>
        </p:txBody>
      </p:sp>
      <p:sp>
        <p:nvSpPr>
          <p:cNvPr id="50" name="Down Arrow 340">
            <a:extLst>
              <a:ext uri="{FF2B5EF4-FFF2-40B4-BE49-F238E27FC236}">
                <a16:creationId xmlns:a16="http://schemas.microsoft.com/office/drawing/2014/main" id="{3592EC87-7AA5-4337-9FE5-16A470ED4C24}"/>
              </a:ext>
            </a:extLst>
          </p:cNvPr>
          <p:cNvSpPr/>
          <p:nvPr/>
        </p:nvSpPr>
        <p:spPr>
          <a:xfrm>
            <a:off x="5987527" y="5159575"/>
            <a:ext cx="219075" cy="438150"/>
          </a:xfrm>
          <a:prstGeom prst="downArrow">
            <a:avLst>
              <a:gd name="adj1" fmla="val 50000"/>
              <a:gd name="adj2" fmla="val 50000"/>
            </a:avLst>
          </a:prstGeom>
          <a:solidFill>
            <a:schemeClr val="lt1"/>
          </a:solidFill>
          <a:ln w="12700" cap="flat" cmpd="sng">
            <a:solidFill>
              <a:schemeClr val="dk1"/>
            </a:solidFill>
            <a:prstDash val="solid"/>
            <a:miter lim="800000"/>
            <a:headEnd type="none" w="sm" len="sm"/>
            <a:tailEnd type="none" w="sm" len="sm"/>
          </a:ln>
          <a:effectLst>
            <a:glow rad="101600">
              <a:schemeClr val="accent3">
                <a:satMod val="175000"/>
                <a:alpha val="40000"/>
              </a:schemeClr>
            </a:glow>
            <a:outerShdw blurRad="50800" dist="38100" dir="8100000" algn="tr" rotWithShape="0">
              <a:prstClr val="black">
                <a:alpha val="40000"/>
              </a:prstClr>
            </a:outerShdw>
          </a:effectLst>
          <a:scene3d>
            <a:camera prst="orthographicFront"/>
            <a:lightRig rig="threePt" dir="t"/>
          </a:scene3d>
          <a:sp3d>
            <a:bevelT w="165100" prst="coolSlant"/>
            <a:bevelB w="152400" h="50800" prst="softRound"/>
          </a:sp3d>
        </p:spPr>
        <p:txBody>
          <a:bodyPr spcFirstLastPara="1" wrap="square" lIns="91425" tIns="91425" rIns="91425" bIns="91425" anchor="ctr" anchorCtr="0">
            <a:noAutofit/>
          </a:bodyPr>
          <a:lstStyle/>
          <a:p>
            <a:pPr>
              <a:lnSpc>
                <a:spcPct val="107000"/>
              </a:lnSpc>
              <a:spcAft>
                <a:spcPts val="800"/>
              </a:spcAft>
            </a:pPr>
            <a:r>
              <a:rPr lang="en-GB" sz="1100" dirty="0">
                <a:effectLst/>
                <a:latin typeface="Calibri" panose="020F0502020204030204" pitchFamily="34" charset="0"/>
                <a:ea typeface="Calibri" panose="020F0502020204030204" pitchFamily="34" charset="0"/>
              </a:rPr>
              <a:t> </a:t>
            </a:r>
            <a:endParaRPr lang="en-PH" sz="1100" dirty="0">
              <a:effectLst/>
              <a:latin typeface="Calibri" panose="020F0502020204030204" pitchFamily="34" charset="0"/>
              <a:ea typeface="Calibri" panose="020F0502020204030204" pitchFamily="34" charset="0"/>
            </a:endParaRPr>
          </a:p>
        </p:txBody>
      </p:sp>
      <p:sp>
        <p:nvSpPr>
          <p:cNvPr id="51" name="Rectangle: Rounded Corners 50">
            <a:extLst>
              <a:ext uri="{FF2B5EF4-FFF2-40B4-BE49-F238E27FC236}">
                <a16:creationId xmlns:a16="http://schemas.microsoft.com/office/drawing/2014/main" id="{1CBADD96-415D-4A70-9E96-899C80218C37}"/>
              </a:ext>
            </a:extLst>
          </p:cNvPr>
          <p:cNvSpPr/>
          <p:nvPr/>
        </p:nvSpPr>
        <p:spPr>
          <a:xfrm>
            <a:off x="4271739" y="5799222"/>
            <a:ext cx="3740496" cy="640080"/>
          </a:xfrm>
          <a:prstGeom prst="roundRect">
            <a:avLst/>
          </a:prstGeom>
          <a:effectLst>
            <a:glow rad="355600">
              <a:schemeClr val="accent6">
                <a:lumMod val="75000"/>
                <a:alpha val="65000"/>
              </a:schemeClr>
            </a:glow>
            <a:outerShdw blurRad="139700" dist="88900" dir="8700000" sx="104000" sy="104000" algn="tr" rotWithShape="0">
              <a:prstClr val="black">
                <a:alpha val="50000"/>
              </a:prstClr>
            </a:outerShdw>
          </a:effectLst>
          <a:scene3d>
            <a:camera prst="orthographicFront"/>
            <a:lightRig rig="threePt" dir="t"/>
          </a:scene3d>
          <a:sp3d>
            <a:bevelT w="254000" prst="coolSlan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07000"/>
              </a:lnSpc>
              <a:spcAft>
                <a:spcPts val="800"/>
              </a:spcAft>
            </a:pPr>
            <a:r>
              <a:rPr lang="en-US" b="1" dirty="0">
                <a:solidFill>
                  <a:srgbClr val="000000"/>
                </a:solidFill>
                <a:effectLst/>
                <a:latin typeface="Agency FB" panose="020B0503020202020204" pitchFamily="34" charset="0"/>
                <a:ea typeface="Calibri" panose="020F0502020204030204" pitchFamily="34" charset="0"/>
              </a:rPr>
              <a:t>PROPOSED INTERVENTION PROGRAM TO MINIMIZE STUDENTS PHONE ADDICTION</a:t>
            </a:r>
            <a:endParaRPr lang="en-PH" dirty="0">
              <a:effectLst/>
              <a:latin typeface="Agency FB" panose="020B0503020202020204" pitchFamily="34" charset="0"/>
              <a:ea typeface="Calibri" panose="020F0502020204030204" pitchFamily="34" charset="0"/>
            </a:endParaRPr>
          </a:p>
        </p:txBody>
      </p:sp>
    </p:spTree>
    <p:extLst>
      <p:ext uri="{BB962C8B-B14F-4D97-AF65-F5344CB8AC3E}">
        <p14:creationId xmlns:p14="http://schemas.microsoft.com/office/powerpoint/2010/main" val="403642288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Flowchart: Process 5">
            <a:extLst>
              <a:ext uri="{FF2B5EF4-FFF2-40B4-BE49-F238E27FC236}">
                <a16:creationId xmlns:a16="http://schemas.microsoft.com/office/drawing/2014/main" id="{EC33E5D3-B3E4-410E-B2F8-52A0B937285E}"/>
              </a:ext>
            </a:extLst>
          </p:cNvPr>
          <p:cNvSpPr/>
          <p:nvPr/>
        </p:nvSpPr>
        <p:spPr>
          <a:xfrm>
            <a:off x="0" y="0"/>
            <a:ext cx="12192000" cy="6858000"/>
          </a:xfrm>
          <a:prstGeom prst="flowChartProcess">
            <a:avLst/>
          </a:prstGeom>
          <a:solidFill>
            <a:schemeClr val="bg2">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7" name="Rectangle 6">
            <a:extLst>
              <a:ext uri="{FF2B5EF4-FFF2-40B4-BE49-F238E27FC236}">
                <a16:creationId xmlns:a16="http://schemas.microsoft.com/office/drawing/2014/main" id="{C6ECF0F5-35A2-48E0-A30B-A542E2B05F8A}"/>
              </a:ext>
            </a:extLst>
          </p:cNvPr>
          <p:cNvSpPr/>
          <p:nvPr/>
        </p:nvSpPr>
        <p:spPr>
          <a:xfrm>
            <a:off x="3678634" y="103187"/>
            <a:ext cx="4834732" cy="530225"/>
          </a:xfrm>
          <a:prstGeom prst="rect">
            <a:avLst/>
          </a:prstGeom>
          <a:solidFill>
            <a:schemeClr val="bg1">
              <a:lumMod val="65000"/>
            </a:schemeClr>
          </a:solidFill>
          <a:ln>
            <a:noFill/>
          </a:ln>
          <a:effectLst>
            <a:outerShdw blurRad="177800" dist="38100" dir="8100000" sx="114000" sy="114000" algn="tr" rotWithShape="0">
              <a:prstClr val="black">
                <a:alpha val="15000"/>
              </a:prstClr>
            </a:outerShdw>
          </a:effectLst>
          <a:scene3d>
            <a:camera prst="orthographicFront"/>
            <a:lightRig rig="threePt" dir="t"/>
          </a:scene3d>
          <a:sp3d>
            <a:bevelT/>
            <a:bevelB w="152400" h="50800" prst="softRound"/>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effectLst>
                  <a:outerShdw blurRad="76200" dist="228600" dir="9000000" sx="103000" sy="103000" algn="ctr" rotWithShape="0">
                    <a:srgbClr val="000000">
                      <a:alpha val="87000"/>
                    </a:srgbClr>
                  </a:outerShdw>
                </a:effectLst>
                <a:latin typeface="Bauhaus 93" panose="04030905020B02020C02" pitchFamily="82" charset="0"/>
              </a:rPr>
              <a:t>DEFINITION OF TERMS</a:t>
            </a:r>
            <a:endParaRPr lang="en-PH" sz="2800" dirty="0">
              <a:effectLst>
                <a:outerShdw blurRad="76200" dist="228600" dir="9000000" sx="103000" sy="103000" algn="ctr" rotWithShape="0">
                  <a:srgbClr val="000000">
                    <a:alpha val="87000"/>
                  </a:srgbClr>
                </a:outerShdw>
              </a:effectLst>
              <a:latin typeface="Bauhaus 93" panose="04030905020B02020C02" pitchFamily="82" charset="0"/>
            </a:endParaRPr>
          </a:p>
        </p:txBody>
      </p:sp>
      <p:sp>
        <p:nvSpPr>
          <p:cNvPr id="2" name="Rectangle: Rounded Corners 1">
            <a:extLst>
              <a:ext uri="{FF2B5EF4-FFF2-40B4-BE49-F238E27FC236}">
                <a16:creationId xmlns:a16="http://schemas.microsoft.com/office/drawing/2014/main" id="{7085C663-2734-4846-A5B8-745D93BABC8D}"/>
              </a:ext>
            </a:extLst>
          </p:cNvPr>
          <p:cNvSpPr/>
          <p:nvPr/>
        </p:nvSpPr>
        <p:spPr>
          <a:xfrm>
            <a:off x="736600" y="2044700"/>
            <a:ext cx="10718800" cy="4445000"/>
          </a:xfrm>
          <a:prstGeom prst="roundRect">
            <a:avLst/>
          </a:prstGeom>
          <a:solidFill>
            <a:schemeClr val="bg1">
              <a:lumMod val="50000"/>
            </a:schemeClr>
          </a:solidFill>
          <a:ln>
            <a:noFill/>
          </a:ln>
          <a:effectLst>
            <a:outerShdw blurRad="419100" dist="50800" dir="21300000" sx="105000" sy="105000" algn="tr" rotWithShape="0">
              <a:prstClr val="black">
                <a:alpha val="6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4000" b="0" i="1" dirty="0">
                <a:solidFill>
                  <a:srgbClr val="000000"/>
                </a:solidFill>
                <a:effectLst/>
                <a:highlight>
                  <a:srgbClr val="008000"/>
                </a:highlight>
                <a:latin typeface="Agency FB" panose="020B0503020202020204" pitchFamily="34" charset="0"/>
              </a:rPr>
              <a:t>Academic performance</a:t>
            </a:r>
            <a:r>
              <a:rPr lang="en-US" sz="4000" b="0" i="0" dirty="0">
                <a:solidFill>
                  <a:srgbClr val="000000"/>
                </a:solidFill>
                <a:effectLst/>
                <a:highlight>
                  <a:srgbClr val="008000"/>
                </a:highlight>
                <a:latin typeface="Agency FB" panose="020B0503020202020204" pitchFamily="34" charset="0"/>
              </a:rPr>
              <a:t> </a:t>
            </a:r>
            <a:r>
              <a:rPr lang="en-US" sz="4000" b="0" i="0" dirty="0">
                <a:solidFill>
                  <a:srgbClr val="000000"/>
                </a:solidFill>
                <a:effectLst/>
                <a:latin typeface="Agency FB" panose="020B0503020202020204" pitchFamily="34" charset="0"/>
              </a:rPr>
              <a:t>- Indicates a student’s achievement after completing a course or subject from an institution. It measures student’s learning across various academic subjects, which is assessed by formative and summative assessment.</a:t>
            </a:r>
          </a:p>
          <a:p>
            <a:pPr algn="just"/>
            <a:endParaRPr lang="en-US" sz="4000" b="0" i="0" dirty="0">
              <a:solidFill>
                <a:srgbClr val="000000"/>
              </a:solidFill>
              <a:effectLst/>
              <a:latin typeface="Agency FB" panose="020B0503020202020204" pitchFamily="34" charset="0"/>
            </a:endParaRPr>
          </a:p>
          <a:p>
            <a:pPr algn="just"/>
            <a:r>
              <a:rPr lang="en-US" sz="4000" b="0" i="1" dirty="0">
                <a:solidFill>
                  <a:srgbClr val="000000"/>
                </a:solidFill>
                <a:effectLst/>
                <a:highlight>
                  <a:srgbClr val="008000"/>
                </a:highlight>
                <a:latin typeface="Agency FB" panose="020B0503020202020204" pitchFamily="34" charset="0"/>
              </a:rPr>
              <a:t>Determinants </a:t>
            </a:r>
            <a:r>
              <a:rPr lang="en-US" sz="4000" b="0" i="0" dirty="0">
                <a:solidFill>
                  <a:srgbClr val="000000"/>
                </a:solidFill>
                <a:effectLst/>
                <a:latin typeface="Agency FB" panose="020B0503020202020204" pitchFamily="34" charset="0"/>
              </a:rPr>
              <a:t>- It is an element that determines the outcome.</a:t>
            </a:r>
          </a:p>
        </p:txBody>
      </p:sp>
    </p:spTree>
    <p:extLst>
      <p:ext uri="{BB962C8B-B14F-4D97-AF65-F5344CB8AC3E}">
        <p14:creationId xmlns:p14="http://schemas.microsoft.com/office/powerpoint/2010/main" val="26675679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Flowchart: Process 5">
            <a:extLst>
              <a:ext uri="{FF2B5EF4-FFF2-40B4-BE49-F238E27FC236}">
                <a16:creationId xmlns:a16="http://schemas.microsoft.com/office/drawing/2014/main" id="{EC33E5D3-B3E4-410E-B2F8-52A0B937285E}"/>
              </a:ext>
            </a:extLst>
          </p:cNvPr>
          <p:cNvSpPr/>
          <p:nvPr/>
        </p:nvSpPr>
        <p:spPr>
          <a:xfrm>
            <a:off x="0" y="0"/>
            <a:ext cx="12192000" cy="6858000"/>
          </a:xfrm>
          <a:prstGeom prst="flowChartProcess">
            <a:avLst/>
          </a:prstGeom>
          <a:solidFill>
            <a:schemeClr val="bg2">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7" name="Rectangle 6">
            <a:extLst>
              <a:ext uri="{FF2B5EF4-FFF2-40B4-BE49-F238E27FC236}">
                <a16:creationId xmlns:a16="http://schemas.microsoft.com/office/drawing/2014/main" id="{C6ECF0F5-35A2-48E0-A30B-A542E2B05F8A}"/>
              </a:ext>
            </a:extLst>
          </p:cNvPr>
          <p:cNvSpPr/>
          <p:nvPr/>
        </p:nvSpPr>
        <p:spPr>
          <a:xfrm>
            <a:off x="3678634" y="103187"/>
            <a:ext cx="4834732" cy="530225"/>
          </a:xfrm>
          <a:prstGeom prst="rect">
            <a:avLst/>
          </a:prstGeom>
          <a:solidFill>
            <a:schemeClr val="bg1">
              <a:lumMod val="65000"/>
            </a:schemeClr>
          </a:solidFill>
          <a:ln>
            <a:noFill/>
          </a:ln>
          <a:effectLst>
            <a:outerShdw blurRad="177800" dist="38100" dir="8100000" sx="114000" sy="114000" algn="tr" rotWithShape="0">
              <a:prstClr val="black">
                <a:alpha val="15000"/>
              </a:prstClr>
            </a:outerShdw>
          </a:effectLst>
          <a:scene3d>
            <a:camera prst="orthographicFront"/>
            <a:lightRig rig="threePt" dir="t"/>
          </a:scene3d>
          <a:sp3d>
            <a:bevelT/>
            <a:bevelB w="152400" h="50800" prst="softRound"/>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effectLst>
                  <a:outerShdw blurRad="76200" dist="228600" dir="9000000" sx="103000" sy="103000" algn="ctr" rotWithShape="0">
                    <a:srgbClr val="000000">
                      <a:alpha val="87000"/>
                    </a:srgbClr>
                  </a:outerShdw>
                </a:effectLst>
                <a:latin typeface="Bauhaus 93" panose="04030905020B02020C02" pitchFamily="82" charset="0"/>
              </a:rPr>
              <a:t>DEFINITION OF TERMS</a:t>
            </a:r>
            <a:endParaRPr lang="en-PH" sz="2800" dirty="0">
              <a:effectLst>
                <a:outerShdw blurRad="76200" dist="228600" dir="9000000" sx="103000" sy="103000" algn="ctr" rotWithShape="0">
                  <a:srgbClr val="000000">
                    <a:alpha val="87000"/>
                  </a:srgbClr>
                </a:outerShdw>
              </a:effectLst>
              <a:latin typeface="Bauhaus 93" panose="04030905020B02020C02" pitchFamily="82" charset="0"/>
            </a:endParaRPr>
          </a:p>
        </p:txBody>
      </p:sp>
      <p:sp>
        <p:nvSpPr>
          <p:cNvPr id="2" name="Rectangle: Rounded Corners 1">
            <a:extLst>
              <a:ext uri="{FF2B5EF4-FFF2-40B4-BE49-F238E27FC236}">
                <a16:creationId xmlns:a16="http://schemas.microsoft.com/office/drawing/2014/main" id="{7085C663-2734-4846-A5B8-745D93BABC8D}"/>
              </a:ext>
            </a:extLst>
          </p:cNvPr>
          <p:cNvSpPr/>
          <p:nvPr/>
        </p:nvSpPr>
        <p:spPr>
          <a:xfrm>
            <a:off x="736600" y="2044700"/>
            <a:ext cx="10718800" cy="4445000"/>
          </a:xfrm>
          <a:prstGeom prst="roundRect">
            <a:avLst/>
          </a:prstGeom>
          <a:solidFill>
            <a:schemeClr val="bg1">
              <a:lumMod val="50000"/>
            </a:schemeClr>
          </a:solidFill>
          <a:ln>
            <a:noFill/>
          </a:ln>
          <a:effectLst>
            <a:outerShdw blurRad="419100" dist="50800" dir="21300000" sx="105000" sy="105000" algn="tr" rotWithShape="0">
              <a:prstClr val="black">
                <a:alpha val="6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2800" b="0" i="1" dirty="0">
                <a:solidFill>
                  <a:srgbClr val="000000"/>
                </a:solidFill>
                <a:effectLst/>
                <a:highlight>
                  <a:srgbClr val="008000"/>
                </a:highlight>
                <a:latin typeface="Agency FB" panose="020B0503020202020204" pitchFamily="34" charset="0"/>
              </a:rPr>
              <a:t>Demographic Profile </a:t>
            </a:r>
            <a:r>
              <a:rPr lang="en-US" sz="2800" b="0" dirty="0">
                <a:solidFill>
                  <a:srgbClr val="000000"/>
                </a:solidFill>
                <a:effectLst/>
                <a:latin typeface="Agency FB" panose="020B0503020202020204" pitchFamily="34" charset="0"/>
              </a:rPr>
              <a:t>- It is the information of the respondents like gender, age, sex, etc.</a:t>
            </a:r>
          </a:p>
          <a:p>
            <a:pPr algn="just"/>
            <a:endParaRPr lang="en-US" sz="2800" b="0" dirty="0">
              <a:solidFill>
                <a:srgbClr val="000000"/>
              </a:solidFill>
              <a:effectLst/>
              <a:latin typeface="Agency FB" panose="020B0503020202020204" pitchFamily="34" charset="0"/>
            </a:endParaRPr>
          </a:p>
          <a:p>
            <a:pPr algn="just"/>
            <a:r>
              <a:rPr lang="en-US" sz="2800" b="0" i="1" dirty="0">
                <a:solidFill>
                  <a:srgbClr val="000000"/>
                </a:solidFill>
                <a:effectLst/>
                <a:highlight>
                  <a:srgbClr val="008000"/>
                </a:highlight>
                <a:latin typeface="Agency FB" panose="020B0503020202020204" pitchFamily="34" charset="0"/>
              </a:rPr>
              <a:t>Influence</a:t>
            </a:r>
            <a:r>
              <a:rPr lang="en-US" sz="2800" b="0" i="1" dirty="0">
                <a:solidFill>
                  <a:srgbClr val="000000"/>
                </a:solidFill>
                <a:effectLst/>
                <a:latin typeface="Agency FB" panose="020B0503020202020204" pitchFamily="34" charset="0"/>
              </a:rPr>
              <a:t> - </a:t>
            </a:r>
            <a:r>
              <a:rPr lang="en-US" sz="2800" b="0" dirty="0">
                <a:solidFill>
                  <a:srgbClr val="000000"/>
                </a:solidFill>
                <a:effectLst/>
                <a:latin typeface="Agency FB" panose="020B0503020202020204" pitchFamily="34" charset="0"/>
              </a:rPr>
              <a:t>The capacity to have an effect on the character, development, or </a:t>
            </a:r>
            <a:r>
              <a:rPr lang="en-US" sz="2800" b="0" dirty="0" err="1">
                <a:solidFill>
                  <a:srgbClr val="000000"/>
                </a:solidFill>
                <a:effectLst/>
                <a:latin typeface="Agency FB" panose="020B0503020202020204" pitchFamily="34" charset="0"/>
              </a:rPr>
              <a:t>behaviour</a:t>
            </a:r>
            <a:r>
              <a:rPr lang="en-US" sz="2800" b="0" dirty="0">
                <a:solidFill>
                  <a:srgbClr val="000000"/>
                </a:solidFill>
                <a:effectLst/>
                <a:latin typeface="Agency FB" panose="020B0503020202020204" pitchFamily="34" charset="0"/>
              </a:rPr>
              <a:t> of someone or something, or the effect itself.</a:t>
            </a:r>
          </a:p>
          <a:p>
            <a:pPr algn="just"/>
            <a:endParaRPr lang="en-US" sz="2800" b="0" i="1" dirty="0">
              <a:solidFill>
                <a:srgbClr val="000000"/>
              </a:solidFill>
              <a:effectLst/>
              <a:latin typeface="Agency FB" panose="020B0503020202020204" pitchFamily="34" charset="0"/>
            </a:endParaRPr>
          </a:p>
          <a:p>
            <a:pPr algn="just"/>
            <a:r>
              <a:rPr lang="en-US" sz="2800" b="0" i="1" dirty="0">
                <a:solidFill>
                  <a:srgbClr val="000000"/>
                </a:solidFill>
                <a:effectLst/>
                <a:highlight>
                  <a:srgbClr val="008000"/>
                </a:highlight>
                <a:latin typeface="Agency FB" panose="020B0503020202020204" pitchFamily="34" charset="0"/>
              </a:rPr>
              <a:t>Overuse of Smartphones </a:t>
            </a:r>
            <a:r>
              <a:rPr lang="en-US" sz="2800" b="0" i="1" dirty="0">
                <a:solidFill>
                  <a:srgbClr val="000000"/>
                </a:solidFill>
                <a:effectLst/>
                <a:latin typeface="Agency FB" panose="020B0503020202020204" pitchFamily="34" charset="0"/>
              </a:rPr>
              <a:t>- </a:t>
            </a:r>
            <a:r>
              <a:rPr lang="en-US" sz="2800" b="0" dirty="0">
                <a:solidFill>
                  <a:srgbClr val="000000"/>
                </a:solidFill>
                <a:effectLst/>
                <a:latin typeface="Agency FB" panose="020B0503020202020204" pitchFamily="34" charset="0"/>
              </a:rPr>
              <a:t>A long and uncontrollable usage of a phone for a long period of time even after trying to control one’s usage of smartphone to get the same level of individual experience previously is referred to as overuse of smartphone.</a:t>
            </a:r>
          </a:p>
        </p:txBody>
      </p:sp>
    </p:spTree>
    <p:extLst>
      <p:ext uri="{BB962C8B-B14F-4D97-AF65-F5344CB8AC3E}">
        <p14:creationId xmlns:p14="http://schemas.microsoft.com/office/powerpoint/2010/main" val="252648806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Flowchart: Process 5">
            <a:extLst>
              <a:ext uri="{FF2B5EF4-FFF2-40B4-BE49-F238E27FC236}">
                <a16:creationId xmlns:a16="http://schemas.microsoft.com/office/drawing/2014/main" id="{EC33E5D3-B3E4-410E-B2F8-52A0B937285E}"/>
              </a:ext>
            </a:extLst>
          </p:cNvPr>
          <p:cNvSpPr/>
          <p:nvPr/>
        </p:nvSpPr>
        <p:spPr>
          <a:xfrm>
            <a:off x="0" y="0"/>
            <a:ext cx="12192000" cy="6858000"/>
          </a:xfrm>
          <a:prstGeom prst="flowChartProcess">
            <a:avLst/>
          </a:prstGeom>
          <a:solidFill>
            <a:schemeClr val="bg2">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7" name="Rectangle 6">
            <a:extLst>
              <a:ext uri="{FF2B5EF4-FFF2-40B4-BE49-F238E27FC236}">
                <a16:creationId xmlns:a16="http://schemas.microsoft.com/office/drawing/2014/main" id="{C6ECF0F5-35A2-48E0-A30B-A542E2B05F8A}"/>
              </a:ext>
            </a:extLst>
          </p:cNvPr>
          <p:cNvSpPr/>
          <p:nvPr/>
        </p:nvSpPr>
        <p:spPr>
          <a:xfrm>
            <a:off x="3678634" y="103187"/>
            <a:ext cx="4834732" cy="530225"/>
          </a:xfrm>
          <a:prstGeom prst="rect">
            <a:avLst/>
          </a:prstGeom>
          <a:solidFill>
            <a:schemeClr val="bg1">
              <a:lumMod val="65000"/>
            </a:schemeClr>
          </a:solidFill>
          <a:ln>
            <a:noFill/>
          </a:ln>
          <a:effectLst>
            <a:outerShdw blurRad="177800" dist="38100" dir="8100000" sx="114000" sy="114000" algn="tr" rotWithShape="0">
              <a:prstClr val="black">
                <a:alpha val="15000"/>
              </a:prstClr>
            </a:outerShdw>
          </a:effectLst>
          <a:scene3d>
            <a:camera prst="orthographicFront"/>
            <a:lightRig rig="threePt" dir="t"/>
          </a:scene3d>
          <a:sp3d>
            <a:bevelT/>
            <a:bevelB w="152400" h="50800" prst="softRound"/>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effectLst>
                  <a:outerShdw blurRad="76200" dist="228600" dir="9000000" sx="103000" sy="103000" algn="ctr" rotWithShape="0">
                    <a:srgbClr val="000000">
                      <a:alpha val="87000"/>
                    </a:srgbClr>
                  </a:outerShdw>
                </a:effectLst>
                <a:latin typeface="Bauhaus 93" panose="04030905020B02020C02" pitchFamily="82" charset="0"/>
              </a:rPr>
              <a:t>DEFINITION OF TERMS</a:t>
            </a:r>
            <a:endParaRPr lang="en-PH" sz="2800" dirty="0">
              <a:effectLst>
                <a:outerShdw blurRad="76200" dist="228600" dir="9000000" sx="103000" sy="103000" algn="ctr" rotWithShape="0">
                  <a:srgbClr val="000000">
                    <a:alpha val="87000"/>
                  </a:srgbClr>
                </a:outerShdw>
              </a:effectLst>
              <a:latin typeface="Bauhaus 93" panose="04030905020B02020C02" pitchFamily="82" charset="0"/>
            </a:endParaRPr>
          </a:p>
        </p:txBody>
      </p:sp>
      <p:sp>
        <p:nvSpPr>
          <p:cNvPr id="2" name="Rectangle: Rounded Corners 1">
            <a:extLst>
              <a:ext uri="{FF2B5EF4-FFF2-40B4-BE49-F238E27FC236}">
                <a16:creationId xmlns:a16="http://schemas.microsoft.com/office/drawing/2014/main" id="{7085C663-2734-4846-A5B8-745D93BABC8D}"/>
              </a:ext>
            </a:extLst>
          </p:cNvPr>
          <p:cNvSpPr/>
          <p:nvPr/>
        </p:nvSpPr>
        <p:spPr>
          <a:xfrm>
            <a:off x="736600" y="2044700"/>
            <a:ext cx="10718800" cy="4445000"/>
          </a:xfrm>
          <a:prstGeom prst="roundRect">
            <a:avLst/>
          </a:prstGeom>
          <a:solidFill>
            <a:schemeClr val="bg1">
              <a:lumMod val="50000"/>
            </a:schemeClr>
          </a:solidFill>
          <a:ln>
            <a:noFill/>
          </a:ln>
          <a:effectLst>
            <a:outerShdw blurRad="419100" dist="50800" dir="21300000" sx="105000" sy="105000" algn="tr" rotWithShape="0">
              <a:prstClr val="black">
                <a:alpha val="6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2800" b="0" i="1" dirty="0">
                <a:solidFill>
                  <a:srgbClr val="000000"/>
                </a:solidFill>
                <a:effectLst/>
                <a:highlight>
                  <a:srgbClr val="008000"/>
                </a:highlight>
                <a:latin typeface="Agency FB" panose="020B0503020202020204" pitchFamily="34" charset="0"/>
              </a:rPr>
              <a:t>Prevalence</a:t>
            </a:r>
            <a:r>
              <a:rPr lang="en-US" sz="2800" i="1" dirty="0">
                <a:solidFill>
                  <a:srgbClr val="000000"/>
                </a:solidFill>
                <a:latin typeface="Agency FB" panose="020B0503020202020204" pitchFamily="34" charset="0"/>
              </a:rPr>
              <a:t> - </a:t>
            </a:r>
            <a:r>
              <a:rPr lang="en-US" sz="2800" b="0" dirty="0">
                <a:solidFill>
                  <a:srgbClr val="000000"/>
                </a:solidFill>
                <a:effectLst/>
                <a:latin typeface="Agency FB" panose="020B0503020202020204" pitchFamily="34" charset="0"/>
              </a:rPr>
              <a:t>It is the population of all the respondents.</a:t>
            </a:r>
          </a:p>
          <a:p>
            <a:pPr algn="just"/>
            <a:endParaRPr lang="en-US" sz="2800" b="0" i="1" dirty="0">
              <a:solidFill>
                <a:srgbClr val="000000"/>
              </a:solidFill>
              <a:effectLst/>
              <a:latin typeface="Agency FB" panose="020B0503020202020204" pitchFamily="34" charset="0"/>
            </a:endParaRPr>
          </a:p>
          <a:p>
            <a:pPr algn="just"/>
            <a:r>
              <a:rPr lang="en-US" sz="2800" b="0" i="1" dirty="0">
                <a:solidFill>
                  <a:srgbClr val="000000"/>
                </a:solidFill>
                <a:effectLst/>
                <a:highlight>
                  <a:srgbClr val="008000"/>
                </a:highlight>
                <a:latin typeface="Agency FB" panose="020B0503020202020204" pitchFamily="34" charset="0"/>
              </a:rPr>
              <a:t>Smartphones </a:t>
            </a:r>
            <a:r>
              <a:rPr lang="en-US" sz="2800" b="0" i="1" dirty="0">
                <a:solidFill>
                  <a:srgbClr val="000000"/>
                </a:solidFill>
                <a:effectLst/>
                <a:latin typeface="Agency FB" panose="020B0503020202020204" pitchFamily="34" charset="0"/>
              </a:rPr>
              <a:t>- A cellular telephone with an integrated computer and other features not originally associated with telephone.</a:t>
            </a:r>
          </a:p>
          <a:p>
            <a:pPr algn="just"/>
            <a:endParaRPr lang="en-US" sz="2800" b="0" i="1" dirty="0">
              <a:solidFill>
                <a:srgbClr val="000000"/>
              </a:solidFill>
              <a:effectLst/>
              <a:latin typeface="Agency FB" panose="020B0503020202020204" pitchFamily="34" charset="0"/>
            </a:endParaRPr>
          </a:p>
          <a:p>
            <a:pPr algn="just"/>
            <a:r>
              <a:rPr lang="en-US" sz="2800" b="0" i="1" dirty="0">
                <a:solidFill>
                  <a:srgbClr val="000000"/>
                </a:solidFill>
                <a:effectLst/>
                <a:highlight>
                  <a:srgbClr val="008000"/>
                </a:highlight>
                <a:latin typeface="Agency FB" panose="020B0503020202020204" pitchFamily="34" charset="0"/>
              </a:rPr>
              <a:t>Smartphone Addiction </a:t>
            </a:r>
            <a:r>
              <a:rPr lang="en-US" sz="2800" b="0" i="1" dirty="0">
                <a:solidFill>
                  <a:srgbClr val="000000"/>
                </a:solidFill>
                <a:effectLst/>
                <a:latin typeface="Agency FB" panose="020B0503020202020204" pitchFamily="34" charset="0"/>
              </a:rPr>
              <a:t>- </a:t>
            </a:r>
            <a:r>
              <a:rPr lang="en-US" sz="2800" b="0" dirty="0">
                <a:solidFill>
                  <a:srgbClr val="000000"/>
                </a:solidFill>
                <a:effectLst/>
                <a:latin typeface="Agency FB" panose="020B0503020202020204" pitchFamily="34" charset="0"/>
              </a:rPr>
              <a:t>A disorder involving compulsive overuse of mobile devices, usually quantified as the number of times users access their devices and/or the total amount of time they are online over a specified period.</a:t>
            </a:r>
          </a:p>
        </p:txBody>
      </p:sp>
    </p:spTree>
    <p:extLst>
      <p:ext uri="{BB962C8B-B14F-4D97-AF65-F5344CB8AC3E}">
        <p14:creationId xmlns:p14="http://schemas.microsoft.com/office/powerpoint/2010/main" val="359383673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Flowchart: Process 5">
            <a:extLst>
              <a:ext uri="{FF2B5EF4-FFF2-40B4-BE49-F238E27FC236}">
                <a16:creationId xmlns:a16="http://schemas.microsoft.com/office/drawing/2014/main" id="{EC33E5D3-B3E4-410E-B2F8-52A0B937285E}"/>
              </a:ext>
            </a:extLst>
          </p:cNvPr>
          <p:cNvSpPr/>
          <p:nvPr/>
        </p:nvSpPr>
        <p:spPr>
          <a:xfrm>
            <a:off x="0" y="0"/>
            <a:ext cx="12192000" cy="6858000"/>
          </a:xfrm>
          <a:prstGeom prst="flowChartProcess">
            <a:avLst/>
          </a:prstGeom>
          <a:solidFill>
            <a:schemeClr val="bg2">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7" name="Rectangle 6">
            <a:extLst>
              <a:ext uri="{FF2B5EF4-FFF2-40B4-BE49-F238E27FC236}">
                <a16:creationId xmlns:a16="http://schemas.microsoft.com/office/drawing/2014/main" id="{C6ECF0F5-35A2-48E0-A30B-A542E2B05F8A}"/>
              </a:ext>
            </a:extLst>
          </p:cNvPr>
          <p:cNvSpPr/>
          <p:nvPr/>
        </p:nvSpPr>
        <p:spPr>
          <a:xfrm>
            <a:off x="3678634" y="103187"/>
            <a:ext cx="4834732" cy="530225"/>
          </a:xfrm>
          <a:prstGeom prst="rect">
            <a:avLst/>
          </a:prstGeom>
          <a:solidFill>
            <a:schemeClr val="bg1">
              <a:lumMod val="65000"/>
            </a:schemeClr>
          </a:solidFill>
          <a:ln>
            <a:noFill/>
          </a:ln>
          <a:effectLst>
            <a:outerShdw blurRad="177800" dist="38100" dir="8100000" sx="114000" sy="114000" algn="tr" rotWithShape="0">
              <a:prstClr val="black">
                <a:alpha val="15000"/>
              </a:prstClr>
            </a:outerShdw>
          </a:effectLst>
          <a:scene3d>
            <a:camera prst="orthographicFront"/>
            <a:lightRig rig="threePt" dir="t"/>
          </a:scene3d>
          <a:sp3d>
            <a:bevelT/>
            <a:bevelB w="152400" h="50800" prst="softRound"/>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effectLst>
                  <a:outerShdw blurRad="76200" dist="228600" dir="9000000" sx="103000" sy="103000" algn="ctr" rotWithShape="0">
                    <a:srgbClr val="000000">
                      <a:alpha val="87000"/>
                    </a:srgbClr>
                  </a:outerShdw>
                </a:effectLst>
                <a:latin typeface="Bauhaus 93" panose="04030905020B02020C02" pitchFamily="82" charset="0"/>
              </a:rPr>
              <a:t>DEFINITION OF TERMS</a:t>
            </a:r>
            <a:endParaRPr lang="en-PH" sz="2800" dirty="0">
              <a:effectLst>
                <a:outerShdw blurRad="76200" dist="228600" dir="9000000" sx="103000" sy="103000" algn="ctr" rotWithShape="0">
                  <a:srgbClr val="000000">
                    <a:alpha val="87000"/>
                  </a:srgbClr>
                </a:outerShdw>
              </a:effectLst>
              <a:latin typeface="Bauhaus 93" panose="04030905020B02020C02" pitchFamily="82" charset="0"/>
            </a:endParaRPr>
          </a:p>
        </p:txBody>
      </p:sp>
      <p:sp>
        <p:nvSpPr>
          <p:cNvPr id="2" name="Rectangle: Rounded Corners 1">
            <a:extLst>
              <a:ext uri="{FF2B5EF4-FFF2-40B4-BE49-F238E27FC236}">
                <a16:creationId xmlns:a16="http://schemas.microsoft.com/office/drawing/2014/main" id="{7085C663-2734-4846-A5B8-745D93BABC8D}"/>
              </a:ext>
            </a:extLst>
          </p:cNvPr>
          <p:cNvSpPr/>
          <p:nvPr/>
        </p:nvSpPr>
        <p:spPr>
          <a:xfrm>
            <a:off x="736600" y="2044700"/>
            <a:ext cx="10718800" cy="4445000"/>
          </a:xfrm>
          <a:prstGeom prst="roundRect">
            <a:avLst/>
          </a:prstGeom>
          <a:solidFill>
            <a:schemeClr val="bg1">
              <a:lumMod val="50000"/>
            </a:schemeClr>
          </a:solidFill>
          <a:ln>
            <a:noFill/>
          </a:ln>
          <a:effectLst>
            <a:outerShdw blurRad="419100" dist="50800" dir="21300000" sx="105000" sy="105000" algn="tr" rotWithShape="0">
              <a:prstClr val="black">
                <a:alpha val="6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2800" b="0" i="1" dirty="0">
                <a:solidFill>
                  <a:srgbClr val="000000"/>
                </a:solidFill>
                <a:effectLst/>
                <a:highlight>
                  <a:srgbClr val="008000"/>
                </a:highlight>
                <a:latin typeface="Agency FB" panose="020B0503020202020204" pitchFamily="34" charset="0"/>
              </a:rPr>
              <a:t>Student </a:t>
            </a:r>
            <a:r>
              <a:rPr lang="en-US" sz="2800" b="0" i="1" dirty="0">
                <a:solidFill>
                  <a:srgbClr val="000000"/>
                </a:solidFill>
                <a:effectLst/>
                <a:latin typeface="Agency FB" panose="020B0503020202020204" pitchFamily="34" charset="0"/>
              </a:rPr>
              <a:t>-  </a:t>
            </a:r>
            <a:r>
              <a:rPr lang="en-US" sz="2800" b="0" dirty="0">
                <a:solidFill>
                  <a:srgbClr val="000000"/>
                </a:solidFill>
                <a:effectLst/>
                <a:latin typeface="Agency FB" panose="020B0503020202020204" pitchFamily="34" charset="0"/>
              </a:rPr>
              <a:t>Is a person who goes to school to learn something.</a:t>
            </a:r>
          </a:p>
          <a:p>
            <a:pPr algn="just"/>
            <a:endParaRPr lang="en-US" sz="2800" b="0" dirty="0">
              <a:solidFill>
                <a:srgbClr val="000000"/>
              </a:solidFill>
              <a:effectLst/>
              <a:latin typeface="Agency FB" panose="020B0503020202020204" pitchFamily="34" charset="0"/>
            </a:endParaRPr>
          </a:p>
          <a:p>
            <a:pPr algn="just"/>
            <a:r>
              <a:rPr lang="en-US" sz="2800" b="0" i="1" dirty="0">
                <a:solidFill>
                  <a:srgbClr val="000000"/>
                </a:solidFill>
                <a:effectLst/>
                <a:highlight>
                  <a:srgbClr val="008000"/>
                </a:highlight>
                <a:latin typeface="Agency FB" panose="020B0503020202020204" pitchFamily="34" charset="0"/>
              </a:rPr>
              <a:t>Students</a:t>
            </a:r>
            <a:r>
              <a:rPr lang="en-US" sz="2800" b="0" i="1" dirty="0">
                <a:solidFill>
                  <a:srgbClr val="000000"/>
                </a:solidFill>
                <a:effectLst/>
                <a:latin typeface="Agency FB" panose="020B0503020202020204" pitchFamily="34" charset="0"/>
              </a:rPr>
              <a:t> - </a:t>
            </a:r>
            <a:r>
              <a:rPr lang="en-US" sz="2800" b="0" dirty="0">
                <a:solidFill>
                  <a:srgbClr val="000000"/>
                </a:solidFill>
                <a:effectLst/>
                <a:latin typeface="Agency FB" panose="020B0503020202020204" pitchFamily="34" charset="0"/>
              </a:rPr>
              <a:t>A person or child who is studying in </a:t>
            </a:r>
            <a:r>
              <a:rPr lang="en-US" sz="2800" b="0" dirty="0" err="1">
                <a:solidFill>
                  <a:srgbClr val="000000"/>
                </a:solidFill>
                <a:effectLst/>
                <a:latin typeface="Agency FB" panose="020B0503020202020204" pitchFamily="34" charset="0"/>
              </a:rPr>
              <a:t>Dumanjug</a:t>
            </a:r>
            <a:r>
              <a:rPr lang="en-US" sz="2800" b="0" dirty="0">
                <a:solidFill>
                  <a:srgbClr val="000000"/>
                </a:solidFill>
                <a:effectLst/>
                <a:latin typeface="Agency FB" panose="020B0503020202020204" pitchFamily="34" charset="0"/>
              </a:rPr>
              <a:t> National High School.</a:t>
            </a:r>
          </a:p>
        </p:txBody>
      </p:sp>
    </p:spTree>
    <p:extLst>
      <p:ext uri="{BB962C8B-B14F-4D97-AF65-F5344CB8AC3E}">
        <p14:creationId xmlns:p14="http://schemas.microsoft.com/office/powerpoint/2010/main" val="356567643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Flowchart: Process 5">
            <a:extLst>
              <a:ext uri="{FF2B5EF4-FFF2-40B4-BE49-F238E27FC236}">
                <a16:creationId xmlns:a16="http://schemas.microsoft.com/office/drawing/2014/main" id="{EC33E5D3-B3E4-410E-B2F8-52A0B937285E}"/>
              </a:ext>
            </a:extLst>
          </p:cNvPr>
          <p:cNvSpPr/>
          <p:nvPr/>
        </p:nvSpPr>
        <p:spPr>
          <a:xfrm>
            <a:off x="0" y="0"/>
            <a:ext cx="12192000" cy="6858000"/>
          </a:xfrm>
          <a:prstGeom prst="flowChartProcess">
            <a:avLst/>
          </a:prstGeom>
          <a:solidFill>
            <a:schemeClr val="accent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7" name="Rectangle 6">
            <a:extLst>
              <a:ext uri="{FF2B5EF4-FFF2-40B4-BE49-F238E27FC236}">
                <a16:creationId xmlns:a16="http://schemas.microsoft.com/office/drawing/2014/main" id="{C6ECF0F5-35A2-48E0-A30B-A542E2B05F8A}"/>
              </a:ext>
            </a:extLst>
          </p:cNvPr>
          <p:cNvSpPr/>
          <p:nvPr/>
        </p:nvSpPr>
        <p:spPr>
          <a:xfrm>
            <a:off x="3480157" y="94773"/>
            <a:ext cx="5231686" cy="547053"/>
          </a:xfrm>
          <a:prstGeom prst="rect">
            <a:avLst/>
          </a:prstGeom>
          <a:solidFill>
            <a:schemeClr val="accent6">
              <a:lumMod val="75000"/>
            </a:schemeClr>
          </a:solidFill>
          <a:ln>
            <a:noFill/>
          </a:ln>
          <a:effectLst>
            <a:outerShdw blurRad="177800" dist="38100" dir="8100000" sx="114000" sy="114000" algn="tr" rotWithShape="0">
              <a:prstClr val="black">
                <a:alpha val="15000"/>
              </a:prstClr>
            </a:outerShdw>
          </a:effectLst>
          <a:scene3d>
            <a:camera prst="orthographicFront"/>
            <a:lightRig rig="threePt" dir="t"/>
          </a:scene3d>
          <a:sp3d>
            <a:bevelT/>
            <a:bevelB w="152400" h="50800" prst="softRound"/>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effectLst>
                  <a:outerShdw blurRad="76200" dist="228600" dir="9000000" sx="103000" sy="103000" algn="ctr" rotWithShape="0">
                    <a:srgbClr val="000000">
                      <a:alpha val="87000"/>
                    </a:srgbClr>
                  </a:outerShdw>
                </a:effectLst>
                <a:latin typeface="Bauhaus 93" panose="04030905020B02020C02" pitchFamily="82" charset="0"/>
              </a:rPr>
              <a:t>REVIEW OF RELATED LITERATURE</a:t>
            </a:r>
            <a:endParaRPr lang="en-PH" sz="2800" dirty="0">
              <a:effectLst>
                <a:outerShdw blurRad="76200" dist="228600" dir="9000000" sx="103000" sy="103000" algn="ctr" rotWithShape="0">
                  <a:srgbClr val="000000">
                    <a:alpha val="87000"/>
                  </a:srgbClr>
                </a:outerShdw>
              </a:effectLst>
              <a:latin typeface="Bauhaus 93" panose="04030905020B02020C02" pitchFamily="82" charset="0"/>
            </a:endParaRPr>
          </a:p>
        </p:txBody>
      </p:sp>
      <p:sp>
        <p:nvSpPr>
          <p:cNvPr id="2" name="Rectangle: Rounded Corners 1">
            <a:extLst>
              <a:ext uri="{FF2B5EF4-FFF2-40B4-BE49-F238E27FC236}">
                <a16:creationId xmlns:a16="http://schemas.microsoft.com/office/drawing/2014/main" id="{7085C663-2734-4846-A5B8-745D93BABC8D}"/>
              </a:ext>
            </a:extLst>
          </p:cNvPr>
          <p:cNvSpPr/>
          <p:nvPr/>
        </p:nvSpPr>
        <p:spPr>
          <a:xfrm>
            <a:off x="86627" y="1087655"/>
            <a:ext cx="12031579" cy="5402045"/>
          </a:xfrm>
          <a:prstGeom prst="roundRect">
            <a:avLst/>
          </a:prstGeom>
          <a:solidFill>
            <a:schemeClr val="tx1"/>
          </a:solidFill>
          <a:ln>
            <a:noFill/>
          </a:ln>
          <a:effectLst>
            <a:outerShdw blurRad="419100" dist="50800" dir="21300000" sx="105000" sy="105000" algn="tr" rotWithShape="0">
              <a:prstClr val="black">
                <a:alpha val="6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b="0" i="1" dirty="0">
                <a:solidFill>
                  <a:schemeClr val="bg1"/>
                </a:solidFill>
                <a:effectLst/>
                <a:latin typeface="Agency FB" panose="020B0503020202020204" pitchFamily="34" charset="0"/>
              </a:rPr>
              <a:t>Youth's growing access to smartphones has sparked worries about smartphone addiction, which is characterized as obsessive or excessive use that interferes with day-to-day functioning, especially scholastic achievement. Despite the paucity of study, smartphone addiction is acknowledged as a behavioral addiction that is comparable to internet addiction. Although its primary use is communication, smartphones may now be used for texting, emailing, gaming, and internet access. There are discussions over whether smartphone addiction is a separate behavioral problem as a result of this widespread use becoming the social norm. According to some research, smartphones can help students study, but they can also make learning more difficult. Uncontrollable use, restlessness, and withdrawal symptoms like anxiety and insomnia when cut off from the gadget are all signs of addiction.</a:t>
            </a:r>
          </a:p>
        </p:txBody>
      </p:sp>
    </p:spTree>
    <p:extLst>
      <p:ext uri="{BB962C8B-B14F-4D97-AF65-F5344CB8AC3E}">
        <p14:creationId xmlns:p14="http://schemas.microsoft.com/office/powerpoint/2010/main" val="285205613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Flowchart: Process 5">
            <a:extLst>
              <a:ext uri="{FF2B5EF4-FFF2-40B4-BE49-F238E27FC236}">
                <a16:creationId xmlns:a16="http://schemas.microsoft.com/office/drawing/2014/main" id="{EC33E5D3-B3E4-410E-B2F8-52A0B937285E}"/>
              </a:ext>
            </a:extLst>
          </p:cNvPr>
          <p:cNvSpPr/>
          <p:nvPr/>
        </p:nvSpPr>
        <p:spPr>
          <a:xfrm>
            <a:off x="0" y="0"/>
            <a:ext cx="12192000" cy="6858000"/>
          </a:xfrm>
          <a:prstGeom prst="flowChartProcess">
            <a:avLst/>
          </a:prstGeom>
          <a:solidFill>
            <a:schemeClr val="accent6">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7" name="Rectangle 6">
            <a:extLst>
              <a:ext uri="{FF2B5EF4-FFF2-40B4-BE49-F238E27FC236}">
                <a16:creationId xmlns:a16="http://schemas.microsoft.com/office/drawing/2014/main" id="{C6ECF0F5-35A2-48E0-A30B-A542E2B05F8A}"/>
              </a:ext>
            </a:extLst>
          </p:cNvPr>
          <p:cNvSpPr/>
          <p:nvPr/>
        </p:nvSpPr>
        <p:spPr>
          <a:xfrm>
            <a:off x="3480157" y="94773"/>
            <a:ext cx="5231686" cy="547053"/>
          </a:xfrm>
          <a:prstGeom prst="rect">
            <a:avLst/>
          </a:prstGeom>
          <a:solidFill>
            <a:schemeClr val="accent6">
              <a:lumMod val="75000"/>
            </a:schemeClr>
          </a:solidFill>
          <a:ln>
            <a:noFill/>
          </a:ln>
          <a:effectLst>
            <a:outerShdw blurRad="177800" dist="38100" dir="8100000" sx="114000" sy="114000" algn="tr" rotWithShape="0">
              <a:prstClr val="black">
                <a:alpha val="15000"/>
              </a:prstClr>
            </a:outerShdw>
          </a:effectLst>
          <a:scene3d>
            <a:camera prst="orthographicFront"/>
            <a:lightRig rig="threePt" dir="t"/>
          </a:scene3d>
          <a:sp3d>
            <a:bevelT/>
            <a:bevelB w="152400" h="50800" prst="softRound"/>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effectLst>
                  <a:outerShdw blurRad="76200" dist="228600" dir="9000000" sx="103000" sy="103000" algn="ctr" rotWithShape="0">
                    <a:srgbClr val="000000">
                      <a:alpha val="87000"/>
                    </a:srgbClr>
                  </a:outerShdw>
                </a:effectLst>
                <a:latin typeface="Bauhaus 93" panose="04030905020B02020C02" pitchFamily="82" charset="0"/>
              </a:rPr>
              <a:t>REVIEW OF RELATED LITERATURE</a:t>
            </a:r>
            <a:endParaRPr lang="en-PH" sz="2800" dirty="0">
              <a:effectLst>
                <a:outerShdw blurRad="76200" dist="228600" dir="9000000" sx="103000" sy="103000" algn="ctr" rotWithShape="0">
                  <a:srgbClr val="000000">
                    <a:alpha val="87000"/>
                  </a:srgbClr>
                </a:outerShdw>
              </a:effectLst>
              <a:latin typeface="Bauhaus 93" panose="04030905020B02020C02" pitchFamily="82" charset="0"/>
            </a:endParaRPr>
          </a:p>
        </p:txBody>
      </p:sp>
      <p:sp>
        <p:nvSpPr>
          <p:cNvPr id="2" name="Rectangle: Rounded Corners 1">
            <a:extLst>
              <a:ext uri="{FF2B5EF4-FFF2-40B4-BE49-F238E27FC236}">
                <a16:creationId xmlns:a16="http://schemas.microsoft.com/office/drawing/2014/main" id="{7085C663-2734-4846-A5B8-745D93BABC8D}"/>
              </a:ext>
            </a:extLst>
          </p:cNvPr>
          <p:cNvSpPr/>
          <p:nvPr/>
        </p:nvSpPr>
        <p:spPr>
          <a:xfrm>
            <a:off x="736600" y="2044700"/>
            <a:ext cx="10718800" cy="4445000"/>
          </a:xfrm>
          <a:prstGeom prst="roundRect">
            <a:avLst/>
          </a:prstGeom>
          <a:solidFill>
            <a:schemeClr val="accent3">
              <a:lumMod val="50000"/>
            </a:schemeClr>
          </a:solidFill>
          <a:ln>
            <a:noFill/>
          </a:ln>
          <a:effectLst>
            <a:outerShdw blurRad="419100" dist="50800" dir="21300000" sx="105000" sy="105000" algn="tr" rotWithShape="0">
              <a:prstClr val="black">
                <a:alpha val="6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4000" b="0" i="1" dirty="0">
                <a:solidFill>
                  <a:schemeClr val="bg1"/>
                </a:solidFill>
                <a:effectLst/>
                <a:latin typeface="Agency FB" panose="020B0503020202020204" pitchFamily="34" charset="0"/>
              </a:rPr>
              <a:t>Determinants of smartphone addiction Several psychological, social, and technological factors contribute to the development of smartphone addiction.</a:t>
            </a:r>
          </a:p>
        </p:txBody>
      </p:sp>
    </p:spTree>
    <p:extLst>
      <p:ext uri="{BB962C8B-B14F-4D97-AF65-F5344CB8AC3E}">
        <p14:creationId xmlns:p14="http://schemas.microsoft.com/office/powerpoint/2010/main" val="312794069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Flowchart: Process 5">
            <a:extLst>
              <a:ext uri="{FF2B5EF4-FFF2-40B4-BE49-F238E27FC236}">
                <a16:creationId xmlns:a16="http://schemas.microsoft.com/office/drawing/2014/main" id="{EC33E5D3-B3E4-410E-B2F8-52A0B937285E}"/>
              </a:ext>
            </a:extLst>
          </p:cNvPr>
          <p:cNvSpPr/>
          <p:nvPr/>
        </p:nvSpPr>
        <p:spPr>
          <a:xfrm>
            <a:off x="0" y="0"/>
            <a:ext cx="12192000" cy="6858000"/>
          </a:xfrm>
          <a:prstGeom prst="flowChartProcess">
            <a:avLst/>
          </a:prstGeom>
          <a:solidFill>
            <a:schemeClr val="accent6">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7" name="Rectangle 6">
            <a:extLst>
              <a:ext uri="{FF2B5EF4-FFF2-40B4-BE49-F238E27FC236}">
                <a16:creationId xmlns:a16="http://schemas.microsoft.com/office/drawing/2014/main" id="{C6ECF0F5-35A2-48E0-A30B-A542E2B05F8A}"/>
              </a:ext>
            </a:extLst>
          </p:cNvPr>
          <p:cNvSpPr/>
          <p:nvPr/>
        </p:nvSpPr>
        <p:spPr>
          <a:xfrm>
            <a:off x="3480157" y="94773"/>
            <a:ext cx="5231686" cy="547053"/>
          </a:xfrm>
          <a:prstGeom prst="rect">
            <a:avLst/>
          </a:prstGeom>
          <a:solidFill>
            <a:schemeClr val="accent6">
              <a:lumMod val="75000"/>
            </a:schemeClr>
          </a:solidFill>
          <a:ln>
            <a:noFill/>
          </a:ln>
          <a:effectLst>
            <a:outerShdw blurRad="177800" dist="38100" dir="8100000" sx="114000" sy="114000" algn="tr" rotWithShape="0">
              <a:prstClr val="black">
                <a:alpha val="15000"/>
              </a:prstClr>
            </a:outerShdw>
          </a:effectLst>
          <a:scene3d>
            <a:camera prst="orthographicFront"/>
            <a:lightRig rig="threePt" dir="t"/>
          </a:scene3d>
          <a:sp3d>
            <a:bevelT/>
            <a:bevelB w="152400" h="50800" prst="softRound"/>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effectLst>
                  <a:outerShdw blurRad="76200" dist="228600" dir="9000000" sx="103000" sy="103000" algn="ctr" rotWithShape="0">
                    <a:srgbClr val="000000">
                      <a:alpha val="87000"/>
                    </a:srgbClr>
                  </a:outerShdw>
                </a:effectLst>
                <a:latin typeface="Bauhaus 93" panose="04030905020B02020C02" pitchFamily="82" charset="0"/>
              </a:rPr>
              <a:t>REVIEW OF RELATED LITERATURE</a:t>
            </a:r>
            <a:endParaRPr lang="en-PH" sz="2800" dirty="0">
              <a:effectLst>
                <a:outerShdw blurRad="76200" dist="228600" dir="9000000" sx="103000" sy="103000" algn="ctr" rotWithShape="0">
                  <a:srgbClr val="000000">
                    <a:alpha val="87000"/>
                  </a:srgbClr>
                </a:outerShdw>
              </a:effectLst>
              <a:latin typeface="Bauhaus 93" panose="04030905020B02020C02" pitchFamily="82" charset="0"/>
            </a:endParaRPr>
          </a:p>
        </p:txBody>
      </p:sp>
      <p:sp>
        <p:nvSpPr>
          <p:cNvPr id="2" name="Rectangle: Rounded Corners 1">
            <a:extLst>
              <a:ext uri="{FF2B5EF4-FFF2-40B4-BE49-F238E27FC236}">
                <a16:creationId xmlns:a16="http://schemas.microsoft.com/office/drawing/2014/main" id="{7085C663-2734-4846-A5B8-745D93BABC8D}"/>
              </a:ext>
            </a:extLst>
          </p:cNvPr>
          <p:cNvSpPr/>
          <p:nvPr/>
        </p:nvSpPr>
        <p:spPr>
          <a:xfrm>
            <a:off x="4249420" y="2928620"/>
            <a:ext cx="3693160" cy="2618740"/>
          </a:xfrm>
          <a:prstGeom prst="roundRect">
            <a:avLst/>
          </a:prstGeom>
          <a:solidFill>
            <a:schemeClr val="accent6">
              <a:lumMod val="60000"/>
              <a:lumOff val="40000"/>
            </a:schemeClr>
          </a:solidFill>
          <a:ln>
            <a:noFill/>
          </a:ln>
          <a:effectLst>
            <a:outerShdw blurRad="419100" dist="50800" dir="21300000" sx="105000" sy="105000" algn="tr" rotWithShape="0">
              <a:prstClr val="black">
                <a:alpha val="6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2700" b="0" i="1" dirty="0">
                <a:solidFill>
                  <a:srgbClr val="000000"/>
                </a:solidFill>
                <a:effectLst/>
                <a:latin typeface="Agency FB" panose="020B0503020202020204" pitchFamily="34" charset="0"/>
              </a:rPr>
              <a:t>Psychological Determinants</a:t>
            </a:r>
          </a:p>
          <a:p>
            <a:pPr algn="just"/>
            <a:endParaRPr lang="en-US" sz="2700" b="0" i="1" dirty="0">
              <a:solidFill>
                <a:srgbClr val="000000"/>
              </a:solidFill>
              <a:effectLst/>
              <a:latin typeface="Agency FB" panose="020B0503020202020204" pitchFamily="34" charset="0"/>
            </a:endParaRPr>
          </a:p>
          <a:p>
            <a:pPr algn="just"/>
            <a:r>
              <a:rPr lang="en-US" sz="2700" b="0" i="1" dirty="0">
                <a:solidFill>
                  <a:srgbClr val="000000"/>
                </a:solidFill>
                <a:effectLst/>
                <a:latin typeface="Agency FB" panose="020B0503020202020204" pitchFamily="34" charset="0"/>
              </a:rPr>
              <a:t>• Personality Traits</a:t>
            </a:r>
          </a:p>
          <a:p>
            <a:pPr algn="just"/>
            <a:r>
              <a:rPr lang="en-US" sz="2700" b="0" i="1" dirty="0">
                <a:solidFill>
                  <a:srgbClr val="000000"/>
                </a:solidFill>
                <a:effectLst/>
                <a:latin typeface="Agency FB" panose="020B0503020202020204" pitchFamily="34" charset="0"/>
              </a:rPr>
              <a:t>• Anxiety &amp; Stress</a:t>
            </a:r>
          </a:p>
          <a:p>
            <a:pPr algn="just"/>
            <a:r>
              <a:rPr lang="en-US" sz="2700" b="0" i="1" dirty="0">
                <a:solidFill>
                  <a:srgbClr val="000000"/>
                </a:solidFill>
                <a:effectLst/>
                <a:latin typeface="Agency FB" panose="020B0503020202020204" pitchFamily="34" charset="0"/>
              </a:rPr>
              <a:t>• Social Anxiety</a:t>
            </a:r>
          </a:p>
        </p:txBody>
      </p:sp>
    </p:spTree>
    <p:extLst>
      <p:ext uri="{BB962C8B-B14F-4D97-AF65-F5344CB8AC3E}">
        <p14:creationId xmlns:p14="http://schemas.microsoft.com/office/powerpoint/2010/main" val="275430949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Flowchart: Process 5">
            <a:extLst>
              <a:ext uri="{FF2B5EF4-FFF2-40B4-BE49-F238E27FC236}">
                <a16:creationId xmlns:a16="http://schemas.microsoft.com/office/drawing/2014/main" id="{EC33E5D3-B3E4-410E-B2F8-52A0B937285E}"/>
              </a:ext>
            </a:extLst>
          </p:cNvPr>
          <p:cNvSpPr/>
          <p:nvPr/>
        </p:nvSpPr>
        <p:spPr>
          <a:xfrm>
            <a:off x="0" y="0"/>
            <a:ext cx="12192000" cy="6858000"/>
          </a:xfrm>
          <a:prstGeom prst="flowChartProcess">
            <a:avLst/>
          </a:prstGeom>
          <a:solidFill>
            <a:schemeClr val="tx2">
              <a:lumMod val="60000"/>
              <a:lumOff val="40000"/>
            </a:schemeClr>
          </a:solidFill>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b="1" dirty="0"/>
          </a:p>
        </p:txBody>
      </p:sp>
      <p:sp>
        <p:nvSpPr>
          <p:cNvPr id="7" name="Rectangle 6">
            <a:extLst>
              <a:ext uri="{FF2B5EF4-FFF2-40B4-BE49-F238E27FC236}">
                <a16:creationId xmlns:a16="http://schemas.microsoft.com/office/drawing/2014/main" id="{C6ECF0F5-35A2-48E0-A30B-A542E2B05F8A}"/>
              </a:ext>
            </a:extLst>
          </p:cNvPr>
          <p:cNvSpPr/>
          <p:nvPr/>
        </p:nvSpPr>
        <p:spPr>
          <a:xfrm>
            <a:off x="4409439" y="265826"/>
            <a:ext cx="3174643" cy="342107"/>
          </a:xfrm>
          <a:prstGeom prst="rect">
            <a:avLst/>
          </a:prstGeom>
          <a:solidFill>
            <a:schemeClr val="accent5">
              <a:lumMod val="40000"/>
              <a:lumOff val="60000"/>
            </a:schemeClr>
          </a:solidFill>
          <a:ln>
            <a:noFill/>
          </a:ln>
          <a:effectLst>
            <a:outerShdw blurRad="177800" dist="38100" dir="8100000" sx="114000" sy="114000" algn="tr" rotWithShape="0">
              <a:prstClr val="black">
                <a:alpha val="15000"/>
              </a:prstClr>
            </a:outerShdw>
          </a:effectLst>
          <a:scene3d>
            <a:camera prst="orthographicFront"/>
            <a:lightRig rig="threePt" dir="t"/>
          </a:scene3d>
          <a:sp3d>
            <a:bevelT/>
            <a:bevelB w="152400" h="50800" prst="softRound"/>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effectLst>
                  <a:outerShdw blurRad="76200" dist="228600" dir="9000000" sx="103000" sy="103000" algn="ctr" rotWithShape="0">
                    <a:srgbClr val="000000">
                      <a:alpha val="87000"/>
                    </a:srgbClr>
                  </a:outerShdw>
                </a:effectLst>
                <a:latin typeface="Bauhaus 93" panose="04030905020B02020C02" pitchFamily="82" charset="0"/>
              </a:rPr>
              <a:t>RESEARCH DESIGN</a:t>
            </a:r>
            <a:endParaRPr lang="en-PH" sz="2800" dirty="0">
              <a:effectLst>
                <a:outerShdw blurRad="76200" dist="228600" dir="9000000" sx="103000" sy="103000" algn="ctr" rotWithShape="0">
                  <a:srgbClr val="000000">
                    <a:alpha val="87000"/>
                  </a:srgbClr>
                </a:outerShdw>
              </a:effectLst>
              <a:latin typeface="Bauhaus 93" panose="04030905020B02020C02" pitchFamily="82" charset="0"/>
            </a:endParaRPr>
          </a:p>
        </p:txBody>
      </p:sp>
      <p:sp>
        <p:nvSpPr>
          <p:cNvPr id="2" name="Rectangle: Rounded Corners 1">
            <a:extLst>
              <a:ext uri="{FF2B5EF4-FFF2-40B4-BE49-F238E27FC236}">
                <a16:creationId xmlns:a16="http://schemas.microsoft.com/office/drawing/2014/main" id="{7085C663-2734-4846-A5B8-745D93BABC8D}"/>
              </a:ext>
            </a:extLst>
          </p:cNvPr>
          <p:cNvSpPr/>
          <p:nvPr/>
        </p:nvSpPr>
        <p:spPr>
          <a:xfrm>
            <a:off x="736600" y="2044700"/>
            <a:ext cx="10693400" cy="4376420"/>
          </a:xfrm>
          <a:prstGeom prst="roundRect">
            <a:avLst/>
          </a:prstGeom>
          <a:solidFill>
            <a:schemeClr val="accent2">
              <a:lumMod val="75000"/>
            </a:schemeClr>
          </a:solidFill>
          <a:ln>
            <a:noFill/>
          </a:ln>
          <a:effectLst>
            <a:outerShdw blurRad="419100" dist="50800" dir="21300000" sx="105000" sy="105000" algn="tr" rotWithShape="0">
              <a:prstClr val="black">
                <a:alpha val="69000"/>
              </a:prstClr>
            </a:outerShdw>
          </a:effectLst>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4000" b="0" i="1" dirty="0">
                <a:solidFill>
                  <a:srgbClr val="000000"/>
                </a:solidFill>
                <a:effectLst/>
                <a:latin typeface="Agency FB" panose="020B0503020202020204" pitchFamily="34" charset="0"/>
              </a:rPr>
              <a:t>This study used a correlational research design to examine the relationship between smartphone addiction and academic performance among students.</a:t>
            </a:r>
          </a:p>
        </p:txBody>
      </p:sp>
      <p:sp>
        <p:nvSpPr>
          <p:cNvPr id="5" name="Rectangle 4">
            <a:extLst>
              <a:ext uri="{FF2B5EF4-FFF2-40B4-BE49-F238E27FC236}">
                <a16:creationId xmlns:a16="http://schemas.microsoft.com/office/drawing/2014/main" id="{C0B887AD-9DBA-4813-BC63-DDB95EA7FBFE}"/>
              </a:ext>
            </a:extLst>
          </p:cNvPr>
          <p:cNvSpPr/>
          <p:nvPr/>
        </p:nvSpPr>
        <p:spPr>
          <a:xfrm>
            <a:off x="91439" y="0"/>
            <a:ext cx="1442721" cy="436880"/>
          </a:xfrm>
          <a:prstGeom prst="rect">
            <a:avLst/>
          </a:prstGeom>
          <a:solidFill>
            <a:schemeClr val="accent5">
              <a:lumMod val="40000"/>
              <a:lumOff val="60000"/>
            </a:schemeClr>
          </a:solidFill>
          <a:ln>
            <a:noFill/>
          </a:ln>
          <a:effectLst>
            <a:outerShdw blurRad="177800" dist="38100" dir="8100000" sx="114000" sy="114000" algn="tr" rotWithShape="0">
              <a:prstClr val="black">
                <a:alpha val="15000"/>
              </a:prstClr>
            </a:outerShdw>
          </a:effectLst>
          <a:scene3d>
            <a:camera prst="orthographicFront"/>
            <a:lightRig rig="threePt" dir="t"/>
          </a:scene3d>
          <a:sp3d>
            <a:bevelT/>
            <a:bevelB w="152400" h="50800" prst="softRound"/>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lumMod val="85000"/>
                    <a:lumOff val="15000"/>
                  </a:schemeClr>
                </a:solidFill>
                <a:effectLst>
                  <a:outerShdw blurRad="76200" dist="228600" dir="9000000" sx="103000" sy="103000" algn="ctr" rotWithShape="0">
                    <a:srgbClr val="000000">
                      <a:alpha val="87000"/>
                    </a:srgbClr>
                  </a:outerShdw>
                </a:effectLst>
                <a:latin typeface="Agency FB" panose="020B0503020202020204" pitchFamily="34" charset="0"/>
              </a:rPr>
              <a:t>CHAPTER 3</a:t>
            </a:r>
            <a:endParaRPr lang="en-PH" sz="2800" dirty="0">
              <a:solidFill>
                <a:schemeClr val="tx1">
                  <a:lumMod val="85000"/>
                  <a:lumOff val="15000"/>
                </a:schemeClr>
              </a:solidFill>
              <a:effectLst>
                <a:outerShdw blurRad="76200" dist="228600" dir="9000000" sx="103000" sy="103000" algn="ctr" rotWithShape="0">
                  <a:srgbClr val="000000">
                    <a:alpha val="87000"/>
                  </a:srgbClr>
                </a:outerShdw>
              </a:effectLst>
              <a:latin typeface="Agency FB" panose="020B0503020202020204" pitchFamily="34" charset="0"/>
            </a:endParaRPr>
          </a:p>
        </p:txBody>
      </p:sp>
    </p:spTree>
    <p:extLst>
      <p:ext uri="{BB962C8B-B14F-4D97-AF65-F5344CB8AC3E}">
        <p14:creationId xmlns:p14="http://schemas.microsoft.com/office/powerpoint/2010/main" val="326754385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Flowchart: Process 5">
            <a:extLst>
              <a:ext uri="{FF2B5EF4-FFF2-40B4-BE49-F238E27FC236}">
                <a16:creationId xmlns:a16="http://schemas.microsoft.com/office/drawing/2014/main" id="{EC33E5D3-B3E4-410E-B2F8-52A0B937285E}"/>
              </a:ext>
            </a:extLst>
          </p:cNvPr>
          <p:cNvSpPr/>
          <p:nvPr/>
        </p:nvSpPr>
        <p:spPr>
          <a:xfrm>
            <a:off x="0" y="0"/>
            <a:ext cx="12192000" cy="6858000"/>
          </a:xfrm>
          <a:prstGeom prst="flowChartProcess">
            <a:avLst/>
          </a:prstGeom>
          <a:solidFill>
            <a:schemeClr val="accent5">
              <a:lumMod val="75000"/>
            </a:schemeClr>
          </a:solidFill>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b="1" dirty="0"/>
          </a:p>
        </p:txBody>
      </p:sp>
      <p:sp>
        <p:nvSpPr>
          <p:cNvPr id="7" name="Rectangle 6">
            <a:extLst>
              <a:ext uri="{FF2B5EF4-FFF2-40B4-BE49-F238E27FC236}">
                <a16:creationId xmlns:a16="http://schemas.microsoft.com/office/drawing/2014/main" id="{C6ECF0F5-35A2-48E0-A30B-A542E2B05F8A}"/>
              </a:ext>
            </a:extLst>
          </p:cNvPr>
          <p:cNvSpPr/>
          <p:nvPr/>
        </p:nvSpPr>
        <p:spPr>
          <a:xfrm>
            <a:off x="3992879" y="133746"/>
            <a:ext cx="4206241" cy="436880"/>
          </a:xfrm>
          <a:prstGeom prst="rect">
            <a:avLst/>
          </a:prstGeom>
          <a:solidFill>
            <a:schemeClr val="accent5">
              <a:lumMod val="40000"/>
              <a:lumOff val="60000"/>
            </a:schemeClr>
          </a:solidFill>
          <a:ln>
            <a:noFill/>
          </a:ln>
          <a:effectLst>
            <a:outerShdw blurRad="177800" dist="38100" dir="8100000" sx="114000" sy="114000" algn="tr" rotWithShape="0">
              <a:prstClr val="black">
                <a:alpha val="15000"/>
              </a:prstClr>
            </a:outerShdw>
          </a:effectLst>
          <a:scene3d>
            <a:camera prst="orthographicFront"/>
            <a:lightRig rig="threePt" dir="t"/>
          </a:scene3d>
          <a:sp3d>
            <a:bevelT/>
            <a:bevelB w="152400" h="50800" prst="softRound"/>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effectLst>
                  <a:outerShdw blurRad="76200" dist="228600" dir="9000000" sx="103000" sy="103000" algn="ctr" rotWithShape="0">
                    <a:srgbClr val="000000">
                      <a:alpha val="87000"/>
                    </a:srgbClr>
                  </a:outerShdw>
                </a:effectLst>
                <a:latin typeface="Bauhaus 93" panose="04030905020B02020C02" pitchFamily="82" charset="0"/>
              </a:rPr>
              <a:t>RESEARCH ENVIRONMENT</a:t>
            </a:r>
            <a:endParaRPr lang="en-PH" sz="2800" dirty="0">
              <a:effectLst>
                <a:outerShdw blurRad="76200" dist="228600" dir="9000000" sx="103000" sy="103000" algn="ctr" rotWithShape="0">
                  <a:srgbClr val="000000">
                    <a:alpha val="87000"/>
                  </a:srgbClr>
                </a:outerShdw>
              </a:effectLst>
              <a:latin typeface="Bauhaus 93" panose="04030905020B02020C02" pitchFamily="82" charset="0"/>
            </a:endParaRPr>
          </a:p>
        </p:txBody>
      </p:sp>
      <p:sp>
        <p:nvSpPr>
          <p:cNvPr id="2" name="Rectangle: Rounded Corners 1">
            <a:extLst>
              <a:ext uri="{FF2B5EF4-FFF2-40B4-BE49-F238E27FC236}">
                <a16:creationId xmlns:a16="http://schemas.microsoft.com/office/drawing/2014/main" id="{7085C663-2734-4846-A5B8-745D93BABC8D}"/>
              </a:ext>
            </a:extLst>
          </p:cNvPr>
          <p:cNvSpPr/>
          <p:nvPr/>
        </p:nvSpPr>
        <p:spPr>
          <a:xfrm>
            <a:off x="749299" y="2044700"/>
            <a:ext cx="10693400" cy="4376420"/>
          </a:xfrm>
          <a:prstGeom prst="roundRect">
            <a:avLst/>
          </a:prstGeom>
          <a:solidFill>
            <a:schemeClr val="tx2">
              <a:lumMod val="50000"/>
            </a:schemeClr>
          </a:solidFill>
          <a:ln>
            <a:noFill/>
          </a:ln>
          <a:effectLst>
            <a:outerShdw blurRad="419100" dist="50800" dir="21300000" sx="105000" sy="105000" algn="tr" rotWithShape="0">
              <a:prstClr val="black">
                <a:alpha val="69000"/>
              </a:prstClr>
            </a:outerShdw>
          </a:effectLst>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4000" b="0" dirty="0">
                <a:solidFill>
                  <a:schemeClr val="bg1"/>
                </a:solidFill>
                <a:effectLst/>
                <a:latin typeface="Agency FB" panose="020B0503020202020204" pitchFamily="34" charset="0"/>
              </a:rPr>
              <a:t>A study was carried out at the public </a:t>
            </a:r>
            <a:r>
              <a:rPr lang="en-US" sz="4000" b="0" dirty="0" err="1">
                <a:solidFill>
                  <a:schemeClr val="bg1"/>
                </a:solidFill>
                <a:effectLst/>
                <a:latin typeface="Agency FB" panose="020B0503020202020204" pitchFamily="34" charset="0"/>
              </a:rPr>
              <a:t>Dumanjug</a:t>
            </a:r>
            <a:r>
              <a:rPr lang="en-US" sz="4000" b="0" dirty="0">
                <a:solidFill>
                  <a:schemeClr val="bg1"/>
                </a:solidFill>
                <a:effectLst/>
                <a:latin typeface="Agency FB" panose="020B0503020202020204" pitchFamily="34" charset="0"/>
              </a:rPr>
              <a:t> National High School in Li-</a:t>
            </a:r>
            <a:r>
              <a:rPr lang="en-US" sz="4000" b="0" dirty="0" err="1">
                <a:solidFill>
                  <a:schemeClr val="bg1"/>
                </a:solidFill>
                <a:effectLst/>
                <a:latin typeface="Agency FB" panose="020B0503020202020204" pitchFamily="34" charset="0"/>
              </a:rPr>
              <a:t>ong</a:t>
            </a:r>
            <a:r>
              <a:rPr lang="en-US" sz="4000" b="0" dirty="0">
                <a:solidFill>
                  <a:schemeClr val="bg1"/>
                </a:solidFill>
                <a:effectLst/>
                <a:latin typeface="Agency FB" panose="020B0503020202020204" pitchFamily="34" charset="0"/>
              </a:rPr>
              <a:t>, </a:t>
            </a:r>
            <a:r>
              <a:rPr lang="en-US" sz="4000" b="0" dirty="0" err="1">
                <a:solidFill>
                  <a:schemeClr val="bg1"/>
                </a:solidFill>
                <a:effectLst/>
                <a:latin typeface="Agency FB" panose="020B0503020202020204" pitchFamily="34" charset="0"/>
              </a:rPr>
              <a:t>Dumanjug</a:t>
            </a:r>
            <a:r>
              <a:rPr lang="en-US" sz="4000" b="0" dirty="0">
                <a:solidFill>
                  <a:schemeClr val="bg1"/>
                </a:solidFill>
                <a:effectLst/>
                <a:latin typeface="Agency FB" panose="020B0503020202020204" pitchFamily="34" charset="0"/>
              </a:rPr>
              <a:t>, Cebu, which is close to the </a:t>
            </a:r>
            <a:r>
              <a:rPr lang="en-US" sz="4000" b="0" dirty="0" err="1">
                <a:solidFill>
                  <a:schemeClr val="bg1"/>
                </a:solidFill>
                <a:effectLst/>
                <a:latin typeface="Agency FB" panose="020B0503020202020204" pitchFamily="34" charset="0"/>
              </a:rPr>
              <a:t>Dumanjug</a:t>
            </a:r>
            <a:r>
              <a:rPr lang="en-US" sz="4000" b="0" dirty="0">
                <a:solidFill>
                  <a:schemeClr val="bg1"/>
                </a:solidFill>
                <a:effectLst/>
                <a:latin typeface="Agency FB" panose="020B0503020202020204" pitchFamily="34" charset="0"/>
              </a:rPr>
              <a:t> Extension of Cebu Technological University. The school employs 62 people, including the principal and instructors, and has about 2000 students. Improving student learning is its goal.</a:t>
            </a:r>
          </a:p>
        </p:txBody>
      </p:sp>
      <p:sp>
        <p:nvSpPr>
          <p:cNvPr id="5" name="Rectangle 4">
            <a:extLst>
              <a:ext uri="{FF2B5EF4-FFF2-40B4-BE49-F238E27FC236}">
                <a16:creationId xmlns:a16="http://schemas.microsoft.com/office/drawing/2014/main" id="{C0B887AD-9DBA-4813-BC63-DDB95EA7FBFE}"/>
              </a:ext>
            </a:extLst>
          </p:cNvPr>
          <p:cNvSpPr/>
          <p:nvPr/>
        </p:nvSpPr>
        <p:spPr>
          <a:xfrm>
            <a:off x="91439" y="0"/>
            <a:ext cx="1442721" cy="436880"/>
          </a:xfrm>
          <a:prstGeom prst="rect">
            <a:avLst/>
          </a:prstGeom>
          <a:solidFill>
            <a:schemeClr val="accent5">
              <a:lumMod val="40000"/>
              <a:lumOff val="60000"/>
            </a:schemeClr>
          </a:solidFill>
          <a:ln>
            <a:noFill/>
          </a:ln>
          <a:effectLst>
            <a:outerShdw blurRad="177800" dist="38100" dir="8100000" sx="114000" sy="114000" algn="tr" rotWithShape="0">
              <a:prstClr val="black">
                <a:alpha val="15000"/>
              </a:prstClr>
            </a:outerShdw>
          </a:effectLst>
          <a:scene3d>
            <a:camera prst="orthographicFront"/>
            <a:lightRig rig="threePt" dir="t"/>
          </a:scene3d>
          <a:sp3d>
            <a:bevelT/>
            <a:bevelB w="152400" h="50800" prst="softRound"/>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lumMod val="85000"/>
                    <a:lumOff val="15000"/>
                  </a:schemeClr>
                </a:solidFill>
                <a:effectLst>
                  <a:outerShdw blurRad="76200" dist="228600" dir="9000000" sx="103000" sy="103000" algn="ctr" rotWithShape="0">
                    <a:srgbClr val="000000">
                      <a:alpha val="87000"/>
                    </a:srgbClr>
                  </a:outerShdw>
                </a:effectLst>
                <a:latin typeface="Agency FB" panose="020B0503020202020204" pitchFamily="34" charset="0"/>
              </a:rPr>
              <a:t>CHAPTER 3</a:t>
            </a:r>
            <a:endParaRPr lang="en-PH" sz="2800" dirty="0">
              <a:solidFill>
                <a:schemeClr val="tx1">
                  <a:lumMod val="85000"/>
                  <a:lumOff val="15000"/>
                </a:schemeClr>
              </a:solidFill>
              <a:effectLst>
                <a:outerShdw blurRad="76200" dist="228600" dir="9000000" sx="103000" sy="103000" algn="ctr" rotWithShape="0">
                  <a:srgbClr val="000000">
                    <a:alpha val="87000"/>
                  </a:srgbClr>
                </a:outerShdw>
              </a:effectLst>
              <a:latin typeface="Agency FB" panose="020B0503020202020204" pitchFamily="34" charset="0"/>
            </a:endParaRPr>
          </a:p>
        </p:txBody>
      </p:sp>
    </p:spTree>
    <p:extLst>
      <p:ext uri="{BB962C8B-B14F-4D97-AF65-F5344CB8AC3E}">
        <p14:creationId xmlns:p14="http://schemas.microsoft.com/office/powerpoint/2010/main" val="124480973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Flowchart: Process 5">
            <a:extLst>
              <a:ext uri="{FF2B5EF4-FFF2-40B4-BE49-F238E27FC236}">
                <a16:creationId xmlns:a16="http://schemas.microsoft.com/office/drawing/2014/main" id="{EC33E5D3-B3E4-410E-B2F8-52A0B937285E}"/>
              </a:ext>
            </a:extLst>
          </p:cNvPr>
          <p:cNvSpPr/>
          <p:nvPr/>
        </p:nvSpPr>
        <p:spPr>
          <a:xfrm>
            <a:off x="0" y="0"/>
            <a:ext cx="12192000" cy="6858000"/>
          </a:xfrm>
          <a:prstGeom prst="flowChartProcess">
            <a:avLst/>
          </a:prstGeom>
          <a:solidFill>
            <a:schemeClr val="accent5">
              <a:lumMod val="75000"/>
            </a:schemeClr>
          </a:solidFill>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b="1" dirty="0"/>
          </a:p>
        </p:txBody>
      </p:sp>
      <p:sp>
        <p:nvSpPr>
          <p:cNvPr id="7" name="Rectangle 6">
            <a:extLst>
              <a:ext uri="{FF2B5EF4-FFF2-40B4-BE49-F238E27FC236}">
                <a16:creationId xmlns:a16="http://schemas.microsoft.com/office/drawing/2014/main" id="{C6ECF0F5-35A2-48E0-A30B-A542E2B05F8A}"/>
              </a:ext>
            </a:extLst>
          </p:cNvPr>
          <p:cNvSpPr/>
          <p:nvPr/>
        </p:nvSpPr>
        <p:spPr>
          <a:xfrm>
            <a:off x="3992879" y="133746"/>
            <a:ext cx="4206241" cy="436880"/>
          </a:xfrm>
          <a:prstGeom prst="rect">
            <a:avLst/>
          </a:prstGeom>
          <a:solidFill>
            <a:schemeClr val="accent5">
              <a:lumMod val="40000"/>
              <a:lumOff val="60000"/>
            </a:schemeClr>
          </a:solidFill>
          <a:ln>
            <a:noFill/>
          </a:ln>
          <a:effectLst>
            <a:outerShdw blurRad="177800" dist="38100" dir="8100000" sx="114000" sy="114000" algn="tr" rotWithShape="0">
              <a:prstClr val="black">
                <a:alpha val="15000"/>
              </a:prstClr>
            </a:outerShdw>
          </a:effectLst>
          <a:scene3d>
            <a:camera prst="orthographicFront"/>
            <a:lightRig rig="threePt" dir="t"/>
          </a:scene3d>
          <a:sp3d>
            <a:bevelT/>
            <a:bevelB w="152400" h="50800" prst="softRound"/>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effectLst>
                  <a:outerShdw blurRad="76200" dist="228600" dir="9000000" sx="103000" sy="103000" algn="ctr" rotWithShape="0">
                    <a:srgbClr val="000000">
                      <a:alpha val="87000"/>
                    </a:srgbClr>
                  </a:outerShdw>
                </a:effectLst>
                <a:latin typeface="Bauhaus 93" panose="04030905020B02020C02" pitchFamily="82" charset="0"/>
              </a:rPr>
              <a:t>SAMPLE AND POPULATION </a:t>
            </a:r>
            <a:endParaRPr lang="en-PH" sz="2800" dirty="0">
              <a:effectLst>
                <a:outerShdw blurRad="76200" dist="228600" dir="9000000" sx="103000" sy="103000" algn="ctr" rotWithShape="0">
                  <a:srgbClr val="000000">
                    <a:alpha val="87000"/>
                  </a:srgbClr>
                </a:outerShdw>
              </a:effectLst>
              <a:latin typeface="Bauhaus 93" panose="04030905020B02020C02" pitchFamily="82" charset="0"/>
            </a:endParaRPr>
          </a:p>
        </p:txBody>
      </p:sp>
      <p:sp>
        <p:nvSpPr>
          <p:cNvPr id="2" name="Rectangle: Rounded Corners 1">
            <a:extLst>
              <a:ext uri="{FF2B5EF4-FFF2-40B4-BE49-F238E27FC236}">
                <a16:creationId xmlns:a16="http://schemas.microsoft.com/office/drawing/2014/main" id="{7085C663-2734-4846-A5B8-745D93BABC8D}"/>
              </a:ext>
            </a:extLst>
          </p:cNvPr>
          <p:cNvSpPr/>
          <p:nvPr/>
        </p:nvSpPr>
        <p:spPr>
          <a:xfrm>
            <a:off x="749299" y="2044700"/>
            <a:ext cx="10693400" cy="4376420"/>
          </a:xfrm>
          <a:prstGeom prst="roundRect">
            <a:avLst/>
          </a:prstGeom>
          <a:solidFill>
            <a:schemeClr val="bg2">
              <a:lumMod val="25000"/>
            </a:schemeClr>
          </a:solidFill>
          <a:ln>
            <a:noFill/>
          </a:ln>
          <a:effectLst>
            <a:outerShdw blurRad="419100" dist="50800" dir="21300000" sx="105000" sy="105000" algn="tr" rotWithShape="0">
              <a:prstClr val="black">
                <a:alpha val="69000"/>
              </a:prstClr>
            </a:outerShdw>
          </a:effectLst>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4000" b="0" dirty="0">
                <a:solidFill>
                  <a:schemeClr val="bg1"/>
                </a:solidFill>
                <a:effectLst/>
                <a:latin typeface="Agency FB" panose="020B0503020202020204" pitchFamily="34" charset="0"/>
              </a:rPr>
              <a:t>With a margin of error of 0.05, the sample size of 242 students was determined using </a:t>
            </a:r>
            <a:r>
              <a:rPr lang="en-US" sz="4000" b="0" dirty="0" err="1">
                <a:solidFill>
                  <a:schemeClr val="bg1"/>
                </a:solidFill>
                <a:effectLst/>
                <a:latin typeface="Agency FB" panose="020B0503020202020204" pitchFamily="34" charset="0"/>
              </a:rPr>
              <a:t>Slovin's</a:t>
            </a:r>
            <a:r>
              <a:rPr lang="en-US" sz="4000" b="0" dirty="0">
                <a:solidFill>
                  <a:schemeClr val="bg1"/>
                </a:solidFill>
                <a:effectLst/>
                <a:latin typeface="Agency FB" panose="020B0503020202020204" pitchFamily="34" charset="0"/>
              </a:rPr>
              <a:t> calculation based on a population of 615 (340 grade 11 and 275 grade 12 students). Squaring the margin of error (0.0025), multiplying it by the population size (1.5575), adding 1 to this result (2.5575), and then dividing the population size by this total (615 ÷ 2.5575 = 242) were the steps involved in the computations.</a:t>
            </a:r>
          </a:p>
        </p:txBody>
      </p:sp>
      <p:sp>
        <p:nvSpPr>
          <p:cNvPr id="5" name="Rectangle 4">
            <a:extLst>
              <a:ext uri="{FF2B5EF4-FFF2-40B4-BE49-F238E27FC236}">
                <a16:creationId xmlns:a16="http://schemas.microsoft.com/office/drawing/2014/main" id="{C0B887AD-9DBA-4813-BC63-DDB95EA7FBFE}"/>
              </a:ext>
            </a:extLst>
          </p:cNvPr>
          <p:cNvSpPr/>
          <p:nvPr/>
        </p:nvSpPr>
        <p:spPr>
          <a:xfrm>
            <a:off x="91439" y="0"/>
            <a:ext cx="1442721" cy="436880"/>
          </a:xfrm>
          <a:prstGeom prst="rect">
            <a:avLst/>
          </a:prstGeom>
          <a:solidFill>
            <a:schemeClr val="accent5">
              <a:lumMod val="40000"/>
              <a:lumOff val="60000"/>
            </a:schemeClr>
          </a:solidFill>
          <a:ln>
            <a:noFill/>
          </a:ln>
          <a:effectLst>
            <a:outerShdw blurRad="177800" dist="38100" dir="8100000" sx="114000" sy="114000" algn="tr" rotWithShape="0">
              <a:prstClr val="black">
                <a:alpha val="15000"/>
              </a:prstClr>
            </a:outerShdw>
          </a:effectLst>
          <a:scene3d>
            <a:camera prst="orthographicFront"/>
            <a:lightRig rig="threePt" dir="t"/>
          </a:scene3d>
          <a:sp3d>
            <a:bevelT/>
            <a:bevelB w="152400" h="50800" prst="softRound"/>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lumMod val="85000"/>
                    <a:lumOff val="15000"/>
                  </a:schemeClr>
                </a:solidFill>
                <a:effectLst>
                  <a:outerShdw blurRad="76200" dist="228600" dir="9000000" sx="103000" sy="103000" algn="ctr" rotWithShape="0">
                    <a:srgbClr val="000000">
                      <a:alpha val="87000"/>
                    </a:srgbClr>
                  </a:outerShdw>
                </a:effectLst>
                <a:latin typeface="Agency FB" panose="020B0503020202020204" pitchFamily="34" charset="0"/>
              </a:rPr>
              <a:t>CHAPTER 3</a:t>
            </a:r>
            <a:endParaRPr lang="en-PH" sz="2800" dirty="0">
              <a:solidFill>
                <a:schemeClr val="tx1">
                  <a:lumMod val="85000"/>
                  <a:lumOff val="15000"/>
                </a:schemeClr>
              </a:solidFill>
              <a:effectLst>
                <a:outerShdw blurRad="76200" dist="228600" dir="9000000" sx="103000" sy="103000" algn="ctr" rotWithShape="0">
                  <a:srgbClr val="000000">
                    <a:alpha val="87000"/>
                  </a:srgbClr>
                </a:outerShdw>
              </a:effectLst>
              <a:latin typeface="Agency FB" panose="020B0503020202020204" pitchFamily="34" charset="0"/>
            </a:endParaRPr>
          </a:p>
        </p:txBody>
      </p:sp>
    </p:spTree>
    <p:extLst>
      <p:ext uri="{BB962C8B-B14F-4D97-AF65-F5344CB8AC3E}">
        <p14:creationId xmlns:p14="http://schemas.microsoft.com/office/powerpoint/2010/main" val="312702619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Flowchart: Process 5">
            <a:extLst>
              <a:ext uri="{FF2B5EF4-FFF2-40B4-BE49-F238E27FC236}">
                <a16:creationId xmlns:a16="http://schemas.microsoft.com/office/drawing/2014/main" id="{EC33E5D3-B3E4-410E-B2F8-52A0B937285E}"/>
              </a:ext>
            </a:extLst>
          </p:cNvPr>
          <p:cNvSpPr/>
          <p:nvPr/>
        </p:nvSpPr>
        <p:spPr>
          <a:xfrm>
            <a:off x="0" y="0"/>
            <a:ext cx="12192000" cy="6858000"/>
          </a:xfrm>
          <a:prstGeom prst="flowChartProcess">
            <a:avLst/>
          </a:prstGeom>
          <a:solidFill>
            <a:schemeClr val="accent5">
              <a:lumMod val="75000"/>
            </a:schemeClr>
          </a:solidFill>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b="1" dirty="0"/>
          </a:p>
        </p:txBody>
      </p:sp>
      <p:sp>
        <p:nvSpPr>
          <p:cNvPr id="7" name="Rectangle 6">
            <a:extLst>
              <a:ext uri="{FF2B5EF4-FFF2-40B4-BE49-F238E27FC236}">
                <a16:creationId xmlns:a16="http://schemas.microsoft.com/office/drawing/2014/main" id="{C6ECF0F5-35A2-48E0-A30B-A542E2B05F8A}"/>
              </a:ext>
            </a:extLst>
          </p:cNvPr>
          <p:cNvSpPr/>
          <p:nvPr/>
        </p:nvSpPr>
        <p:spPr>
          <a:xfrm>
            <a:off x="3992879" y="133746"/>
            <a:ext cx="4206241" cy="436880"/>
          </a:xfrm>
          <a:prstGeom prst="rect">
            <a:avLst/>
          </a:prstGeom>
          <a:solidFill>
            <a:schemeClr val="accent5">
              <a:lumMod val="40000"/>
              <a:lumOff val="60000"/>
            </a:schemeClr>
          </a:solidFill>
          <a:ln>
            <a:noFill/>
          </a:ln>
          <a:effectLst>
            <a:outerShdw blurRad="177800" dist="38100" dir="8100000" sx="114000" sy="114000" algn="tr" rotWithShape="0">
              <a:prstClr val="black">
                <a:alpha val="15000"/>
              </a:prstClr>
            </a:outerShdw>
          </a:effectLst>
          <a:scene3d>
            <a:camera prst="orthographicFront"/>
            <a:lightRig rig="threePt" dir="t"/>
          </a:scene3d>
          <a:sp3d>
            <a:bevelT/>
            <a:bevelB w="152400" h="50800" prst="softRound"/>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effectLst>
                  <a:outerShdw blurRad="76200" dist="228600" dir="9000000" sx="103000" sy="103000" algn="ctr" rotWithShape="0">
                    <a:srgbClr val="000000">
                      <a:alpha val="87000"/>
                    </a:srgbClr>
                  </a:outerShdw>
                </a:effectLst>
                <a:latin typeface="Bauhaus 93" panose="04030905020B02020C02" pitchFamily="82" charset="0"/>
              </a:rPr>
              <a:t>RESEARCH INSTRUMENT</a:t>
            </a:r>
            <a:endParaRPr lang="en-PH" sz="2800" dirty="0">
              <a:effectLst>
                <a:outerShdw blurRad="76200" dist="228600" dir="9000000" sx="103000" sy="103000" algn="ctr" rotWithShape="0">
                  <a:srgbClr val="000000">
                    <a:alpha val="87000"/>
                  </a:srgbClr>
                </a:outerShdw>
              </a:effectLst>
              <a:latin typeface="Bauhaus 93" panose="04030905020B02020C02" pitchFamily="82" charset="0"/>
            </a:endParaRPr>
          </a:p>
        </p:txBody>
      </p:sp>
      <p:sp>
        <p:nvSpPr>
          <p:cNvPr id="2" name="Rectangle: Rounded Corners 1">
            <a:extLst>
              <a:ext uri="{FF2B5EF4-FFF2-40B4-BE49-F238E27FC236}">
                <a16:creationId xmlns:a16="http://schemas.microsoft.com/office/drawing/2014/main" id="{7085C663-2734-4846-A5B8-745D93BABC8D}"/>
              </a:ext>
            </a:extLst>
          </p:cNvPr>
          <p:cNvSpPr/>
          <p:nvPr/>
        </p:nvSpPr>
        <p:spPr>
          <a:xfrm>
            <a:off x="749299" y="2044700"/>
            <a:ext cx="10693400" cy="4376420"/>
          </a:xfrm>
          <a:prstGeom prst="roundRect">
            <a:avLst/>
          </a:prstGeom>
          <a:solidFill>
            <a:schemeClr val="bg2">
              <a:lumMod val="25000"/>
            </a:schemeClr>
          </a:solidFill>
          <a:ln>
            <a:noFill/>
          </a:ln>
          <a:effectLst>
            <a:outerShdw blurRad="419100" dist="50800" dir="21300000" sx="105000" sy="105000" algn="tr" rotWithShape="0">
              <a:prstClr val="black">
                <a:alpha val="69000"/>
              </a:prstClr>
            </a:outerShdw>
          </a:effectLst>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4000" b="0" dirty="0">
                <a:solidFill>
                  <a:schemeClr val="bg1"/>
                </a:solidFill>
                <a:effectLst/>
                <a:latin typeface="Agency FB" panose="020B0503020202020204" pitchFamily="34" charset="0"/>
              </a:rPr>
              <a:t>Senior high school students (grades 11 and 12) were surveyed using a Likert scale questionnaire (Strongly Disagree to Strongly Agree). Four items on craving, five on smartphone addiction, and four on social ties were all included in the survey.</a:t>
            </a:r>
          </a:p>
        </p:txBody>
      </p:sp>
      <p:sp>
        <p:nvSpPr>
          <p:cNvPr id="5" name="Rectangle 4">
            <a:extLst>
              <a:ext uri="{FF2B5EF4-FFF2-40B4-BE49-F238E27FC236}">
                <a16:creationId xmlns:a16="http://schemas.microsoft.com/office/drawing/2014/main" id="{C0B887AD-9DBA-4813-BC63-DDB95EA7FBFE}"/>
              </a:ext>
            </a:extLst>
          </p:cNvPr>
          <p:cNvSpPr/>
          <p:nvPr/>
        </p:nvSpPr>
        <p:spPr>
          <a:xfrm>
            <a:off x="91439" y="0"/>
            <a:ext cx="1442721" cy="436880"/>
          </a:xfrm>
          <a:prstGeom prst="rect">
            <a:avLst/>
          </a:prstGeom>
          <a:solidFill>
            <a:schemeClr val="accent5">
              <a:lumMod val="40000"/>
              <a:lumOff val="60000"/>
            </a:schemeClr>
          </a:solidFill>
          <a:ln>
            <a:noFill/>
          </a:ln>
          <a:effectLst>
            <a:outerShdw blurRad="177800" dist="38100" dir="8100000" sx="114000" sy="114000" algn="tr" rotWithShape="0">
              <a:prstClr val="black">
                <a:alpha val="15000"/>
              </a:prstClr>
            </a:outerShdw>
          </a:effectLst>
          <a:scene3d>
            <a:camera prst="orthographicFront"/>
            <a:lightRig rig="threePt" dir="t"/>
          </a:scene3d>
          <a:sp3d>
            <a:bevelT/>
            <a:bevelB w="152400" h="50800" prst="softRound"/>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lumMod val="85000"/>
                    <a:lumOff val="15000"/>
                  </a:schemeClr>
                </a:solidFill>
                <a:effectLst>
                  <a:outerShdw blurRad="76200" dist="228600" dir="9000000" sx="103000" sy="103000" algn="ctr" rotWithShape="0">
                    <a:srgbClr val="000000">
                      <a:alpha val="87000"/>
                    </a:srgbClr>
                  </a:outerShdw>
                </a:effectLst>
                <a:latin typeface="Agency FB" panose="020B0503020202020204" pitchFamily="34" charset="0"/>
              </a:rPr>
              <a:t>CHAPTER 3</a:t>
            </a:r>
            <a:endParaRPr lang="en-PH" sz="2800" dirty="0">
              <a:solidFill>
                <a:schemeClr val="tx1">
                  <a:lumMod val="85000"/>
                  <a:lumOff val="15000"/>
                </a:schemeClr>
              </a:solidFill>
              <a:effectLst>
                <a:outerShdw blurRad="76200" dist="228600" dir="9000000" sx="103000" sy="103000" algn="ctr" rotWithShape="0">
                  <a:srgbClr val="000000">
                    <a:alpha val="87000"/>
                  </a:srgbClr>
                </a:outerShdw>
              </a:effectLst>
              <a:latin typeface="Agency FB" panose="020B0503020202020204" pitchFamily="34" charset="0"/>
            </a:endParaRPr>
          </a:p>
        </p:txBody>
      </p:sp>
    </p:spTree>
    <p:extLst>
      <p:ext uri="{BB962C8B-B14F-4D97-AF65-F5344CB8AC3E}">
        <p14:creationId xmlns:p14="http://schemas.microsoft.com/office/powerpoint/2010/main" val="262302903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Flowchart: Process 5">
            <a:extLst>
              <a:ext uri="{FF2B5EF4-FFF2-40B4-BE49-F238E27FC236}">
                <a16:creationId xmlns:a16="http://schemas.microsoft.com/office/drawing/2014/main" id="{EC33E5D3-B3E4-410E-B2F8-52A0B937285E}"/>
              </a:ext>
            </a:extLst>
          </p:cNvPr>
          <p:cNvSpPr/>
          <p:nvPr/>
        </p:nvSpPr>
        <p:spPr>
          <a:xfrm>
            <a:off x="0" y="0"/>
            <a:ext cx="12192000" cy="6858000"/>
          </a:xfrm>
          <a:prstGeom prst="flowChartProcess">
            <a:avLst/>
          </a:prstGeom>
          <a:solidFill>
            <a:schemeClr val="accent5">
              <a:lumMod val="75000"/>
            </a:schemeClr>
          </a:solidFill>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b="1" dirty="0"/>
          </a:p>
        </p:txBody>
      </p:sp>
      <p:sp>
        <p:nvSpPr>
          <p:cNvPr id="7" name="Rectangle 6">
            <a:extLst>
              <a:ext uri="{FF2B5EF4-FFF2-40B4-BE49-F238E27FC236}">
                <a16:creationId xmlns:a16="http://schemas.microsoft.com/office/drawing/2014/main" id="{C6ECF0F5-35A2-48E0-A30B-A542E2B05F8A}"/>
              </a:ext>
            </a:extLst>
          </p:cNvPr>
          <p:cNvSpPr/>
          <p:nvPr/>
        </p:nvSpPr>
        <p:spPr>
          <a:xfrm>
            <a:off x="3992879" y="133746"/>
            <a:ext cx="4206241" cy="436880"/>
          </a:xfrm>
          <a:prstGeom prst="rect">
            <a:avLst/>
          </a:prstGeom>
          <a:solidFill>
            <a:schemeClr val="accent5">
              <a:lumMod val="40000"/>
              <a:lumOff val="60000"/>
            </a:schemeClr>
          </a:solidFill>
          <a:ln>
            <a:noFill/>
          </a:ln>
          <a:effectLst>
            <a:outerShdw blurRad="177800" dist="38100" dir="8100000" sx="114000" sy="114000" algn="tr" rotWithShape="0">
              <a:prstClr val="black">
                <a:alpha val="15000"/>
              </a:prstClr>
            </a:outerShdw>
          </a:effectLst>
          <a:scene3d>
            <a:camera prst="orthographicFront"/>
            <a:lightRig rig="threePt" dir="t"/>
          </a:scene3d>
          <a:sp3d>
            <a:bevelT/>
            <a:bevelB w="152400" h="50800" prst="softRound"/>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effectLst>
                  <a:outerShdw blurRad="76200" dist="228600" dir="9000000" sx="103000" sy="103000" algn="ctr" rotWithShape="0">
                    <a:srgbClr val="000000">
                      <a:alpha val="87000"/>
                    </a:srgbClr>
                  </a:outerShdw>
                </a:effectLst>
                <a:latin typeface="Bauhaus 93" panose="04030905020B02020C02" pitchFamily="82" charset="0"/>
              </a:rPr>
              <a:t>DATA COLLECTION</a:t>
            </a:r>
            <a:endParaRPr lang="en-PH" sz="2800" dirty="0">
              <a:effectLst>
                <a:outerShdw blurRad="76200" dist="228600" dir="9000000" sx="103000" sy="103000" algn="ctr" rotWithShape="0">
                  <a:srgbClr val="000000">
                    <a:alpha val="87000"/>
                  </a:srgbClr>
                </a:outerShdw>
              </a:effectLst>
              <a:latin typeface="Bauhaus 93" panose="04030905020B02020C02" pitchFamily="82" charset="0"/>
            </a:endParaRPr>
          </a:p>
        </p:txBody>
      </p:sp>
      <p:sp>
        <p:nvSpPr>
          <p:cNvPr id="2" name="Rectangle: Rounded Corners 1">
            <a:extLst>
              <a:ext uri="{FF2B5EF4-FFF2-40B4-BE49-F238E27FC236}">
                <a16:creationId xmlns:a16="http://schemas.microsoft.com/office/drawing/2014/main" id="{7085C663-2734-4846-A5B8-745D93BABC8D}"/>
              </a:ext>
            </a:extLst>
          </p:cNvPr>
          <p:cNvSpPr/>
          <p:nvPr/>
        </p:nvSpPr>
        <p:spPr>
          <a:xfrm>
            <a:off x="749299" y="2044700"/>
            <a:ext cx="10693400" cy="4376420"/>
          </a:xfrm>
          <a:prstGeom prst="roundRect">
            <a:avLst/>
          </a:prstGeom>
          <a:solidFill>
            <a:schemeClr val="tx1">
              <a:lumMod val="95000"/>
              <a:lumOff val="5000"/>
            </a:schemeClr>
          </a:solidFill>
          <a:ln>
            <a:noFill/>
          </a:ln>
          <a:effectLst>
            <a:outerShdw blurRad="419100" dist="50800" dir="21300000" sx="105000" sy="105000" algn="tr" rotWithShape="0">
              <a:prstClr val="black">
                <a:alpha val="69000"/>
              </a:prstClr>
            </a:outerShdw>
          </a:effectLst>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400" b="0" dirty="0">
                <a:solidFill>
                  <a:schemeClr val="bg1"/>
                </a:solidFill>
                <a:effectLst/>
                <a:latin typeface="Agency FB" panose="020B0503020202020204" pitchFamily="34" charset="0"/>
              </a:rPr>
              <a:t>In order to maximize response rates and enable prompt question clarification, data was gathered through in-person surveys of senior high school students at </a:t>
            </a:r>
            <a:r>
              <a:rPr lang="en-US" sz="3400" b="0" dirty="0" err="1">
                <a:solidFill>
                  <a:schemeClr val="bg1"/>
                </a:solidFill>
                <a:effectLst/>
                <a:latin typeface="Agency FB" panose="020B0503020202020204" pitchFamily="34" charset="0"/>
              </a:rPr>
              <a:t>Dumanjug</a:t>
            </a:r>
            <a:r>
              <a:rPr lang="en-US" sz="3400" b="0" dirty="0">
                <a:solidFill>
                  <a:schemeClr val="bg1"/>
                </a:solidFill>
                <a:effectLst/>
                <a:latin typeface="Agency FB" panose="020B0503020202020204" pitchFamily="34" charset="0"/>
              </a:rPr>
              <a:t> National High School. In order to examine possible relationships and make conclusions, the questionnaires looked at demographic characteristics (age, gender, and academic achievement), social influences, psychological well-being, perceived advantages and disadvantages, and smartphone usage patterns.</a:t>
            </a:r>
          </a:p>
        </p:txBody>
      </p:sp>
      <p:sp>
        <p:nvSpPr>
          <p:cNvPr id="5" name="Rectangle 4">
            <a:extLst>
              <a:ext uri="{FF2B5EF4-FFF2-40B4-BE49-F238E27FC236}">
                <a16:creationId xmlns:a16="http://schemas.microsoft.com/office/drawing/2014/main" id="{C0B887AD-9DBA-4813-BC63-DDB95EA7FBFE}"/>
              </a:ext>
            </a:extLst>
          </p:cNvPr>
          <p:cNvSpPr/>
          <p:nvPr/>
        </p:nvSpPr>
        <p:spPr>
          <a:xfrm>
            <a:off x="91439" y="0"/>
            <a:ext cx="1442721" cy="436880"/>
          </a:xfrm>
          <a:prstGeom prst="rect">
            <a:avLst/>
          </a:prstGeom>
          <a:solidFill>
            <a:schemeClr val="accent5">
              <a:lumMod val="40000"/>
              <a:lumOff val="60000"/>
            </a:schemeClr>
          </a:solidFill>
          <a:ln>
            <a:noFill/>
          </a:ln>
          <a:effectLst>
            <a:outerShdw blurRad="177800" dist="38100" dir="8100000" sx="114000" sy="114000" algn="tr" rotWithShape="0">
              <a:prstClr val="black">
                <a:alpha val="15000"/>
              </a:prstClr>
            </a:outerShdw>
          </a:effectLst>
          <a:scene3d>
            <a:camera prst="orthographicFront"/>
            <a:lightRig rig="threePt" dir="t"/>
          </a:scene3d>
          <a:sp3d>
            <a:bevelT/>
            <a:bevelB w="152400" h="50800" prst="softRound"/>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lumMod val="85000"/>
                    <a:lumOff val="15000"/>
                  </a:schemeClr>
                </a:solidFill>
                <a:effectLst>
                  <a:outerShdw blurRad="76200" dist="228600" dir="9000000" sx="103000" sy="103000" algn="ctr" rotWithShape="0">
                    <a:srgbClr val="000000">
                      <a:alpha val="87000"/>
                    </a:srgbClr>
                  </a:outerShdw>
                </a:effectLst>
                <a:latin typeface="Agency FB" panose="020B0503020202020204" pitchFamily="34" charset="0"/>
              </a:rPr>
              <a:t>CHAPTER 3</a:t>
            </a:r>
            <a:endParaRPr lang="en-PH" sz="2800" dirty="0">
              <a:solidFill>
                <a:schemeClr val="tx1">
                  <a:lumMod val="85000"/>
                  <a:lumOff val="15000"/>
                </a:schemeClr>
              </a:solidFill>
              <a:effectLst>
                <a:outerShdw blurRad="76200" dist="228600" dir="9000000" sx="103000" sy="103000" algn="ctr" rotWithShape="0">
                  <a:srgbClr val="000000">
                    <a:alpha val="87000"/>
                  </a:srgbClr>
                </a:outerShdw>
              </a:effectLst>
              <a:latin typeface="Agency FB" panose="020B0503020202020204" pitchFamily="34" charset="0"/>
            </a:endParaRPr>
          </a:p>
        </p:txBody>
      </p:sp>
    </p:spTree>
    <p:extLst>
      <p:ext uri="{BB962C8B-B14F-4D97-AF65-F5344CB8AC3E}">
        <p14:creationId xmlns:p14="http://schemas.microsoft.com/office/powerpoint/2010/main" val="174531877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Flowchart: Process 5">
            <a:extLst>
              <a:ext uri="{FF2B5EF4-FFF2-40B4-BE49-F238E27FC236}">
                <a16:creationId xmlns:a16="http://schemas.microsoft.com/office/drawing/2014/main" id="{EC33E5D3-B3E4-410E-B2F8-52A0B937285E}"/>
              </a:ext>
            </a:extLst>
          </p:cNvPr>
          <p:cNvSpPr/>
          <p:nvPr/>
        </p:nvSpPr>
        <p:spPr>
          <a:xfrm>
            <a:off x="0" y="0"/>
            <a:ext cx="12192000" cy="6858000"/>
          </a:xfrm>
          <a:prstGeom prst="flowChartProcess">
            <a:avLst/>
          </a:prstGeom>
          <a:solidFill>
            <a:schemeClr val="bg1">
              <a:lumMod val="50000"/>
            </a:schemeClr>
          </a:solidFill>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b="1" dirty="0"/>
          </a:p>
        </p:txBody>
      </p:sp>
      <p:sp>
        <p:nvSpPr>
          <p:cNvPr id="3" name="Rectangle: Rounded Corners 2">
            <a:extLst>
              <a:ext uri="{FF2B5EF4-FFF2-40B4-BE49-F238E27FC236}">
                <a16:creationId xmlns:a16="http://schemas.microsoft.com/office/drawing/2014/main" id="{0C075A75-6C78-47AF-BAD2-BEED21FD692E}"/>
              </a:ext>
            </a:extLst>
          </p:cNvPr>
          <p:cNvSpPr/>
          <p:nvPr/>
        </p:nvSpPr>
        <p:spPr>
          <a:xfrm>
            <a:off x="2895600" y="254000"/>
            <a:ext cx="6421120" cy="619760"/>
          </a:xfrm>
          <a:prstGeom prst="roundRect">
            <a:avLst/>
          </a:prstGeom>
          <a:solidFill>
            <a:schemeClr val="accent1">
              <a:lumMod val="75000"/>
            </a:schemeClr>
          </a:solidFill>
          <a:effectLst>
            <a:glow rad="241300">
              <a:schemeClr val="accent3">
                <a:satMod val="175000"/>
                <a:alpha val="63000"/>
              </a:schemeClr>
            </a:glow>
            <a:outerShdw blurRad="203200" dist="127000" dir="14100000" sx="104000" sy="104000" algn="br" rotWithShape="0">
              <a:prstClr val="black">
                <a:alpha val="38000"/>
              </a:prstClr>
            </a:outerShdw>
          </a:effectLst>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accent6">
                    <a:lumMod val="20000"/>
                    <a:lumOff val="80000"/>
                  </a:schemeClr>
                </a:solidFill>
                <a:latin typeface="Footlight MT Light" panose="0204060206030A020304" pitchFamily="18" charset="0"/>
              </a:rPr>
              <a:t>STATISTICAL TREATMENT OF THE DATA</a:t>
            </a:r>
            <a:endParaRPr lang="en-PH" sz="2800" dirty="0">
              <a:solidFill>
                <a:schemeClr val="accent6">
                  <a:lumMod val="20000"/>
                  <a:lumOff val="80000"/>
                </a:schemeClr>
              </a:solidFill>
              <a:latin typeface="Footlight MT Light" panose="0204060206030A020304" pitchFamily="18" charset="0"/>
            </a:endParaRPr>
          </a:p>
        </p:txBody>
      </p:sp>
      <p:sp>
        <p:nvSpPr>
          <p:cNvPr id="4" name="Rectangle 3">
            <a:extLst>
              <a:ext uri="{FF2B5EF4-FFF2-40B4-BE49-F238E27FC236}">
                <a16:creationId xmlns:a16="http://schemas.microsoft.com/office/drawing/2014/main" id="{205114B8-58AD-41A2-9229-264BBA8B26FE}"/>
              </a:ext>
            </a:extLst>
          </p:cNvPr>
          <p:cNvSpPr/>
          <p:nvPr/>
        </p:nvSpPr>
        <p:spPr>
          <a:xfrm>
            <a:off x="1473200" y="2534920"/>
            <a:ext cx="9245600" cy="2661920"/>
          </a:xfrm>
          <a:prstGeom prst="rect">
            <a:avLst/>
          </a:prstGeom>
          <a:solidFill>
            <a:schemeClr val="bg2">
              <a:lumMod val="25000"/>
            </a:schemeClr>
          </a:solidFill>
          <a:effectLst>
            <a:outerShdw blurRad="203200" dist="38100" dir="8100000" sx="102000" sy="102000" algn="tr" rotWithShape="0">
              <a:prstClr val="black">
                <a:alpha val="4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3200" dirty="0">
                <a:effectLst/>
                <a:latin typeface="Agency FB" panose="020B0503020202020204" pitchFamily="34" charset="0"/>
                <a:ea typeface="Verdana" panose="020B0604030504040204" pitchFamily="34" charset="0"/>
                <a:cs typeface="Verdana" panose="020B0604030504040204" pitchFamily="34" charset="0"/>
              </a:rPr>
              <a:t>To determine if there is no significant relation between determinants of smartphone addiction and academic performance of the Students we used Pearson’s r correlation.</a:t>
            </a:r>
            <a:endParaRPr lang="en-PH" sz="3200" dirty="0">
              <a:latin typeface="Agency FB" panose="020B0503020202020204" pitchFamily="34" charset="0"/>
            </a:endParaRPr>
          </a:p>
        </p:txBody>
      </p:sp>
    </p:spTree>
    <p:extLst>
      <p:ext uri="{BB962C8B-B14F-4D97-AF65-F5344CB8AC3E}">
        <p14:creationId xmlns:p14="http://schemas.microsoft.com/office/powerpoint/2010/main" val="37727040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Flowchart: Process 5">
            <a:extLst>
              <a:ext uri="{FF2B5EF4-FFF2-40B4-BE49-F238E27FC236}">
                <a16:creationId xmlns:a16="http://schemas.microsoft.com/office/drawing/2014/main" id="{EC33E5D3-B3E4-410E-B2F8-52A0B937285E}"/>
              </a:ext>
            </a:extLst>
          </p:cNvPr>
          <p:cNvSpPr/>
          <p:nvPr/>
        </p:nvSpPr>
        <p:spPr>
          <a:xfrm>
            <a:off x="0" y="0"/>
            <a:ext cx="12192000" cy="6858000"/>
          </a:xfrm>
          <a:prstGeom prst="flowChartProcess">
            <a:avLst/>
          </a:prstGeom>
          <a:solidFill>
            <a:schemeClr val="bg1">
              <a:lumMod val="50000"/>
            </a:schemeClr>
          </a:solidFill>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b="1" dirty="0"/>
          </a:p>
        </p:txBody>
      </p:sp>
      <p:sp>
        <p:nvSpPr>
          <p:cNvPr id="3" name="Rectangle: Rounded Corners 2">
            <a:extLst>
              <a:ext uri="{FF2B5EF4-FFF2-40B4-BE49-F238E27FC236}">
                <a16:creationId xmlns:a16="http://schemas.microsoft.com/office/drawing/2014/main" id="{0C075A75-6C78-47AF-BAD2-BEED21FD692E}"/>
              </a:ext>
            </a:extLst>
          </p:cNvPr>
          <p:cNvSpPr/>
          <p:nvPr/>
        </p:nvSpPr>
        <p:spPr>
          <a:xfrm>
            <a:off x="2895600" y="254000"/>
            <a:ext cx="6421120" cy="619760"/>
          </a:xfrm>
          <a:prstGeom prst="roundRect">
            <a:avLst/>
          </a:prstGeom>
          <a:solidFill>
            <a:schemeClr val="bg2">
              <a:lumMod val="75000"/>
            </a:schemeClr>
          </a:solidFill>
          <a:effectLst>
            <a:glow rad="241300">
              <a:schemeClr val="accent3">
                <a:satMod val="175000"/>
                <a:alpha val="63000"/>
              </a:schemeClr>
            </a:glow>
            <a:outerShdw blurRad="203200" dist="127000" dir="14100000" sx="104000" sy="104000" algn="br" rotWithShape="0">
              <a:prstClr val="black">
                <a:alpha val="38000"/>
              </a:prstClr>
            </a:outerShdw>
          </a:effectLst>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lumMod val="85000"/>
                    <a:lumOff val="15000"/>
                  </a:schemeClr>
                </a:solidFill>
                <a:latin typeface="Footlight MT Light" panose="0204060206030A020304" pitchFamily="18" charset="0"/>
              </a:rPr>
              <a:t>STATISTICAL TREATMENT OF THE DATA</a:t>
            </a:r>
            <a:endParaRPr lang="en-PH" sz="2800" dirty="0">
              <a:solidFill>
                <a:schemeClr val="tx1">
                  <a:lumMod val="85000"/>
                  <a:lumOff val="15000"/>
                </a:schemeClr>
              </a:solidFill>
              <a:latin typeface="Footlight MT Light" panose="0204060206030A020304" pitchFamily="18" charset="0"/>
            </a:endParaRPr>
          </a:p>
        </p:txBody>
      </p:sp>
      <p:sp>
        <p:nvSpPr>
          <p:cNvPr id="4" name="Rectangle 3">
            <a:extLst>
              <a:ext uri="{FF2B5EF4-FFF2-40B4-BE49-F238E27FC236}">
                <a16:creationId xmlns:a16="http://schemas.microsoft.com/office/drawing/2014/main" id="{205114B8-58AD-41A2-9229-264BBA8B26FE}"/>
              </a:ext>
            </a:extLst>
          </p:cNvPr>
          <p:cNvSpPr/>
          <p:nvPr/>
        </p:nvSpPr>
        <p:spPr>
          <a:xfrm>
            <a:off x="233680" y="1127760"/>
            <a:ext cx="6634480" cy="487680"/>
          </a:xfrm>
          <a:prstGeom prst="rect">
            <a:avLst/>
          </a:prstGeom>
          <a:solidFill>
            <a:schemeClr val="bg2">
              <a:lumMod val="50000"/>
            </a:schemeClr>
          </a:solidFill>
          <a:effectLst>
            <a:outerShdw blurRad="203200" dist="38100" dir="8100000" sx="102000" sy="102000" algn="tr" rotWithShape="0">
              <a:prstClr val="black">
                <a:alpha val="4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dirty="0">
                <a:effectLst/>
                <a:latin typeface="Agency FB" panose="020B0503020202020204" pitchFamily="34" charset="0"/>
                <a:ea typeface="Verdana" panose="020B0604030504040204" pitchFamily="34" charset="0"/>
                <a:cs typeface="Verdana" panose="020B0604030504040204" pitchFamily="34" charset="0"/>
              </a:rPr>
              <a:t>The table below indicates the data treatment for determinants of Smartphone Addiction.</a:t>
            </a:r>
          </a:p>
        </p:txBody>
      </p:sp>
      <p:graphicFrame>
        <p:nvGraphicFramePr>
          <p:cNvPr id="2" name="Table 4">
            <a:extLst>
              <a:ext uri="{FF2B5EF4-FFF2-40B4-BE49-F238E27FC236}">
                <a16:creationId xmlns:a16="http://schemas.microsoft.com/office/drawing/2014/main" id="{E49F29FE-DD56-43CE-AE28-DF7B72584552}"/>
              </a:ext>
            </a:extLst>
          </p:cNvPr>
          <p:cNvGraphicFramePr>
            <a:graphicFrameLocks noGrp="1"/>
          </p:cNvGraphicFramePr>
          <p:nvPr>
            <p:extLst>
              <p:ext uri="{D42A27DB-BD31-4B8C-83A1-F6EECF244321}">
                <p14:modId xmlns:p14="http://schemas.microsoft.com/office/powerpoint/2010/main" val="203557788"/>
              </p:ext>
            </p:extLst>
          </p:nvPr>
        </p:nvGraphicFramePr>
        <p:xfrm>
          <a:off x="701040" y="2487506"/>
          <a:ext cx="10789920" cy="3842172"/>
        </p:xfrm>
        <a:graphic>
          <a:graphicData uri="http://schemas.openxmlformats.org/drawingml/2006/table">
            <a:tbl>
              <a:tblPr firstRow="1" bandRow="1">
                <a:tableStyleId>{5C22544A-7EE6-4342-B048-85BDC9FD1C3A}</a:tableStyleId>
              </a:tblPr>
              <a:tblGrid>
                <a:gridCol w="3596640">
                  <a:extLst>
                    <a:ext uri="{9D8B030D-6E8A-4147-A177-3AD203B41FA5}">
                      <a16:colId xmlns:a16="http://schemas.microsoft.com/office/drawing/2014/main" val="3630828564"/>
                    </a:ext>
                  </a:extLst>
                </a:gridCol>
                <a:gridCol w="3596640">
                  <a:extLst>
                    <a:ext uri="{9D8B030D-6E8A-4147-A177-3AD203B41FA5}">
                      <a16:colId xmlns:a16="http://schemas.microsoft.com/office/drawing/2014/main" val="1823809697"/>
                    </a:ext>
                  </a:extLst>
                </a:gridCol>
                <a:gridCol w="3596640">
                  <a:extLst>
                    <a:ext uri="{9D8B030D-6E8A-4147-A177-3AD203B41FA5}">
                      <a16:colId xmlns:a16="http://schemas.microsoft.com/office/drawing/2014/main" val="3702874086"/>
                    </a:ext>
                  </a:extLst>
                </a:gridCol>
              </a:tblGrid>
              <a:tr h="640362">
                <a:tc>
                  <a:txBody>
                    <a:bodyPr/>
                    <a:lstStyle/>
                    <a:p>
                      <a:pPr algn="ctr"/>
                      <a:r>
                        <a:rPr lang="en-US" sz="3200" dirty="0">
                          <a:latin typeface="Bodoni MT" panose="02070603080606020203" pitchFamily="18" charset="0"/>
                        </a:rPr>
                        <a:t>RANGE </a:t>
                      </a:r>
                      <a:endParaRPr lang="en-PH" sz="3200" dirty="0">
                        <a:latin typeface="Bodoni MT" panose="02070603080606020203" pitchFamily="18" charset="0"/>
                      </a:endParaRPr>
                    </a:p>
                  </a:txBody>
                  <a:tcPr/>
                </a:tc>
                <a:tc>
                  <a:txBody>
                    <a:bodyPr/>
                    <a:lstStyle/>
                    <a:p>
                      <a:pPr algn="ctr"/>
                      <a:r>
                        <a:rPr lang="en-US" sz="3200" dirty="0">
                          <a:latin typeface="Bodoni MT" panose="02070603080606020203" pitchFamily="18" charset="0"/>
                        </a:rPr>
                        <a:t>DESCRIPTION</a:t>
                      </a:r>
                      <a:endParaRPr lang="en-PH" sz="3200" dirty="0">
                        <a:latin typeface="Bodoni MT" panose="02070603080606020203" pitchFamily="18" charset="0"/>
                      </a:endParaRPr>
                    </a:p>
                  </a:txBody>
                  <a:tcPr/>
                </a:tc>
                <a:tc>
                  <a:txBody>
                    <a:bodyPr/>
                    <a:lstStyle/>
                    <a:p>
                      <a:pPr algn="ctr"/>
                      <a:r>
                        <a:rPr lang="en-US" sz="3200" dirty="0">
                          <a:latin typeface="Bodoni MT" panose="02070603080606020203" pitchFamily="18" charset="0"/>
                        </a:rPr>
                        <a:t>INTERPRETATION</a:t>
                      </a:r>
                      <a:endParaRPr lang="en-PH" sz="3200" dirty="0">
                        <a:latin typeface="Bodoni MT" panose="02070603080606020203" pitchFamily="18" charset="0"/>
                      </a:endParaRPr>
                    </a:p>
                  </a:txBody>
                  <a:tcPr/>
                </a:tc>
                <a:extLst>
                  <a:ext uri="{0D108BD9-81ED-4DB2-BD59-A6C34878D82A}">
                    <a16:rowId xmlns:a16="http://schemas.microsoft.com/office/drawing/2014/main" val="2371784793"/>
                  </a:ext>
                </a:extLst>
              </a:tr>
              <a:tr h="640362">
                <a:tc>
                  <a:txBody>
                    <a:bodyPr/>
                    <a:lstStyle/>
                    <a:p>
                      <a:pPr algn="ctr">
                        <a:lnSpc>
                          <a:spcPct val="107000"/>
                        </a:lnSpc>
                        <a:spcBef>
                          <a:spcPts val="1200"/>
                        </a:spcBef>
                        <a:spcAft>
                          <a:spcPts val="800"/>
                        </a:spcAft>
                      </a:pPr>
                      <a:r>
                        <a:rPr lang="en-GB" sz="2000" dirty="0">
                          <a:effectLst/>
                          <a:latin typeface="Bodoni MT" panose="02070603080606020203" pitchFamily="18" charset="0"/>
                          <a:ea typeface="Verdana" panose="020B0604030504040204" pitchFamily="34" charset="0"/>
                          <a:cs typeface="Verdana" panose="020B0604030504040204" pitchFamily="34" charset="0"/>
                        </a:rPr>
                        <a:t>4.2 – 5.0</a:t>
                      </a:r>
                      <a:endParaRPr lang="en-PH" sz="1800" dirty="0">
                        <a:effectLst/>
                        <a:latin typeface="Bodoni MT" panose="02070603080606020203" pitchFamily="18" charset="0"/>
                        <a:ea typeface="Calibri" panose="020F0502020204030204" pitchFamily="34" charset="0"/>
                      </a:endParaRPr>
                    </a:p>
                  </a:txBody>
                  <a:tcPr marL="68580" marR="68580" marT="0" marB="0"/>
                </a:tc>
                <a:tc>
                  <a:txBody>
                    <a:bodyPr/>
                    <a:lstStyle/>
                    <a:p>
                      <a:pPr algn="ctr">
                        <a:lnSpc>
                          <a:spcPct val="107000"/>
                        </a:lnSpc>
                        <a:spcBef>
                          <a:spcPts val="1200"/>
                        </a:spcBef>
                        <a:spcAft>
                          <a:spcPts val="800"/>
                        </a:spcAft>
                      </a:pPr>
                      <a:r>
                        <a:rPr lang="en-GB" sz="2000">
                          <a:effectLst/>
                          <a:latin typeface="Bodoni MT" panose="02070603080606020203" pitchFamily="18" charset="0"/>
                          <a:ea typeface="Verdana" panose="020B0604030504040204" pitchFamily="34" charset="0"/>
                          <a:cs typeface="Verdana" panose="020B0604030504040204" pitchFamily="34" charset="0"/>
                        </a:rPr>
                        <a:t>Strongly Agree</a:t>
                      </a:r>
                      <a:endParaRPr lang="en-PH" sz="1800">
                        <a:effectLst/>
                        <a:latin typeface="Bodoni MT" panose="02070603080606020203" pitchFamily="18" charset="0"/>
                        <a:ea typeface="Calibri" panose="020F0502020204030204" pitchFamily="34" charset="0"/>
                      </a:endParaRPr>
                    </a:p>
                  </a:txBody>
                  <a:tcPr marL="68580" marR="68580" marT="0" marB="0"/>
                </a:tc>
                <a:tc>
                  <a:txBody>
                    <a:bodyPr/>
                    <a:lstStyle/>
                    <a:p>
                      <a:pPr algn="ctr">
                        <a:lnSpc>
                          <a:spcPct val="107000"/>
                        </a:lnSpc>
                        <a:spcBef>
                          <a:spcPts val="1200"/>
                        </a:spcBef>
                        <a:spcAft>
                          <a:spcPts val="800"/>
                        </a:spcAft>
                      </a:pPr>
                      <a:r>
                        <a:rPr lang="en-GB" sz="2000">
                          <a:effectLst/>
                          <a:latin typeface="Bodoni MT" panose="02070603080606020203" pitchFamily="18" charset="0"/>
                          <a:ea typeface="Verdana" panose="020B0604030504040204" pitchFamily="34" charset="0"/>
                          <a:cs typeface="Verdana" panose="020B0604030504040204" pitchFamily="34" charset="0"/>
                        </a:rPr>
                        <a:t>Strongly Addicted</a:t>
                      </a:r>
                      <a:endParaRPr lang="en-PH" sz="1800">
                        <a:effectLst/>
                        <a:latin typeface="Bodoni MT" panose="02070603080606020203" pitchFamily="18" charset="0"/>
                        <a:ea typeface="Calibri" panose="020F0502020204030204" pitchFamily="34" charset="0"/>
                      </a:endParaRPr>
                    </a:p>
                  </a:txBody>
                  <a:tcPr marL="68580" marR="68580" marT="0" marB="0"/>
                </a:tc>
                <a:extLst>
                  <a:ext uri="{0D108BD9-81ED-4DB2-BD59-A6C34878D82A}">
                    <a16:rowId xmlns:a16="http://schemas.microsoft.com/office/drawing/2014/main" val="3107725239"/>
                  </a:ext>
                </a:extLst>
              </a:tr>
              <a:tr h="640362">
                <a:tc>
                  <a:txBody>
                    <a:bodyPr/>
                    <a:lstStyle/>
                    <a:p>
                      <a:pPr algn="ctr">
                        <a:lnSpc>
                          <a:spcPct val="107000"/>
                        </a:lnSpc>
                        <a:spcBef>
                          <a:spcPts val="1200"/>
                        </a:spcBef>
                        <a:spcAft>
                          <a:spcPts val="800"/>
                        </a:spcAft>
                      </a:pPr>
                      <a:r>
                        <a:rPr lang="en-GB" sz="2000">
                          <a:effectLst/>
                          <a:latin typeface="Bodoni MT" panose="02070603080606020203" pitchFamily="18" charset="0"/>
                          <a:ea typeface="Verdana" panose="020B0604030504040204" pitchFamily="34" charset="0"/>
                          <a:cs typeface="Verdana" panose="020B0604030504040204" pitchFamily="34" charset="0"/>
                        </a:rPr>
                        <a:t>3.4 – 4.1</a:t>
                      </a:r>
                      <a:endParaRPr lang="en-PH" sz="1800">
                        <a:effectLst/>
                        <a:latin typeface="Bodoni MT" panose="02070603080606020203" pitchFamily="18" charset="0"/>
                        <a:ea typeface="Calibri" panose="020F0502020204030204" pitchFamily="34" charset="0"/>
                      </a:endParaRPr>
                    </a:p>
                  </a:txBody>
                  <a:tcPr marL="68580" marR="68580" marT="0" marB="0"/>
                </a:tc>
                <a:tc>
                  <a:txBody>
                    <a:bodyPr/>
                    <a:lstStyle/>
                    <a:p>
                      <a:pPr algn="ctr">
                        <a:lnSpc>
                          <a:spcPct val="107000"/>
                        </a:lnSpc>
                        <a:spcBef>
                          <a:spcPts val="1200"/>
                        </a:spcBef>
                        <a:spcAft>
                          <a:spcPts val="800"/>
                        </a:spcAft>
                      </a:pPr>
                      <a:r>
                        <a:rPr lang="en-GB" sz="2000">
                          <a:effectLst/>
                          <a:latin typeface="Bodoni MT" panose="02070603080606020203" pitchFamily="18" charset="0"/>
                          <a:ea typeface="Verdana" panose="020B0604030504040204" pitchFamily="34" charset="0"/>
                          <a:cs typeface="Verdana" panose="020B0604030504040204" pitchFamily="34" charset="0"/>
                        </a:rPr>
                        <a:t>Disagree</a:t>
                      </a:r>
                      <a:endParaRPr lang="en-PH" sz="1800">
                        <a:effectLst/>
                        <a:latin typeface="Bodoni MT" panose="02070603080606020203" pitchFamily="18" charset="0"/>
                        <a:ea typeface="Calibri" panose="020F0502020204030204" pitchFamily="34" charset="0"/>
                      </a:endParaRPr>
                    </a:p>
                  </a:txBody>
                  <a:tcPr marL="68580" marR="68580" marT="0" marB="0"/>
                </a:tc>
                <a:tc>
                  <a:txBody>
                    <a:bodyPr/>
                    <a:lstStyle/>
                    <a:p>
                      <a:pPr algn="ctr">
                        <a:lnSpc>
                          <a:spcPct val="107000"/>
                        </a:lnSpc>
                        <a:spcBef>
                          <a:spcPts val="1200"/>
                        </a:spcBef>
                        <a:spcAft>
                          <a:spcPts val="800"/>
                        </a:spcAft>
                      </a:pPr>
                      <a:r>
                        <a:rPr lang="en-GB" sz="2000">
                          <a:effectLst/>
                          <a:latin typeface="Bodoni MT" panose="02070603080606020203" pitchFamily="18" charset="0"/>
                          <a:ea typeface="Verdana" panose="020B0604030504040204" pitchFamily="34" charset="0"/>
                          <a:cs typeface="Verdana" panose="020B0604030504040204" pitchFamily="34" charset="0"/>
                        </a:rPr>
                        <a:t>Moderately Addicted</a:t>
                      </a:r>
                      <a:endParaRPr lang="en-PH" sz="1800">
                        <a:effectLst/>
                        <a:latin typeface="Bodoni MT" panose="02070603080606020203" pitchFamily="18" charset="0"/>
                        <a:ea typeface="Calibri" panose="020F0502020204030204" pitchFamily="34" charset="0"/>
                      </a:endParaRPr>
                    </a:p>
                  </a:txBody>
                  <a:tcPr marL="68580" marR="68580" marT="0" marB="0"/>
                </a:tc>
                <a:extLst>
                  <a:ext uri="{0D108BD9-81ED-4DB2-BD59-A6C34878D82A}">
                    <a16:rowId xmlns:a16="http://schemas.microsoft.com/office/drawing/2014/main" val="487895358"/>
                  </a:ext>
                </a:extLst>
              </a:tr>
              <a:tr h="640362">
                <a:tc>
                  <a:txBody>
                    <a:bodyPr/>
                    <a:lstStyle/>
                    <a:p>
                      <a:pPr algn="ctr">
                        <a:lnSpc>
                          <a:spcPct val="107000"/>
                        </a:lnSpc>
                        <a:spcBef>
                          <a:spcPts val="1200"/>
                        </a:spcBef>
                        <a:spcAft>
                          <a:spcPts val="800"/>
                        </a:spcAft>
                      </a:pPr>
                      <a:r>
                        <a:rPr lang="en-GB" sz="2000">
                          <a:effectLst/>
                          <a:latin typeface="Bodoni MT" panose="02070603080606020203" pitchFamily="18" charset="0"/>
                          <a:ea typeface="Verdana" panose="020B0604030504040204" pitchFamily="34" charset="0"/>
                          <a:cs typeface="Verdana" panose="020B0604030504040204" pitchFamily="34" charset="0"/>
                        </a:rPr>
                        <a:t>2.6 – 3.3</a:t>
                      </a:r>
                      <a:endParaRPr lang="en-PH" sz="1800">
                        <a:effectLst/>
                        <a:latin typeface="Bodoni MT" panose="02070603080606020203" pitchFamily="18" charset="0"/>
                        <a:ea typeface="Calibri" panose="020F0502020204030204" pitchFamily="34" charset="0"/>
                      </a:endParaRPr>
                    </a:p>
                  </a:txBody>
                  <a:tcPr marL="68580" marR="68580" marT="0" marB="0"/>
                </a:tc>
                <a:tc>
                  <a:txBody>
                    <a:bodyPr/>
                    <a:lstStyle/>
                    <a:p>
                      <a:pPr algn="ctr">
                        <a:lnSpc>
                          <a:spcPct val="107000"/>
                        </a:lnSpc>
                        <a:spcBef>
                          <a:spcPts val="1200"/>
                        </a:spcBef>
                        <a:spcAft>
                          <a:spcPts val="800"/>
                        </a:spcAft>
                      </a:pPr>
                      <a:r>
                        <a:rPr lang="en-GB" sz="2000">
                          <a:effectLst/>
                          <a:latin typeface="Bodoni MT" panose="02070603080606020203" pitchFamily="18" charset="0"/>
                          <a:ea typeface="Verdana" panose="020B0604030504040204" pitchFamily="34" charset="0"/>
                          <a:cs typeface="Verdana" panose="020B0604030504040204" pitchFamily="34" charset="0"/>
                        </a:rPr>
                        <a:t>Neutral</a:t>
                      </a:r>
                      <a:endParaRPr lang="en-PH" sz="1800">
                        <a:effectLst/>
                        <a:latin typeface="Bodoni MT" panose="02070603080606020203" pitchFamily="18" charset="0"/>
                        <a:ea typeface="Calibri" panose="020F0502020204030204" pitchFamily="34" charset="0"/>
                      </a:endParaRPr>
                    </a:p>
                  </a:txBody>
                  <a:tcPr marL="68580" marR="68580" marT="0" marB="0"/>
                </a:tc>
                <a:tc>
                  <a:txBody>
                    <a:bodyPr/>
                    <a:lstStyle/>
                    <a:p>
                      <a:pPr algn="ctr">
                        <a:lnSpc>
                          <a:spcPct val="107000"/>
                        </a:lnSpc>
                        <a:spcBef>
                          <a:spcPts val="1200"/>
                        </a:spcBef>
                        <a:spcAft>
                          <a:spcPts val="800"/>
                        </a:spcAft>
                      </a:pPr>
                      <a:r>
                        <a:rPr lang="en-GB" sz="2000">
                          <a:effectLst/>
                          <a:latin typeface="Bodoni MT" panose="02070603080606020203" pitchFamily="18" charset="0"/>
                          <a:ea typeface="Verdana" panose="020B0604030504040204" pitchFamily="34" charset="0"/>
                          <a:cs typeface="Verdana" panose="020B0604030504040204" pitchFamily="34" charset="0"/>
                        </a:rPr>
                        <a:t>Neutral</a:t>
                      </a:r>
                      <a:endParaRPr lang="en-PH" sz="1800">
                        <a:effectLst/>
                        <a:latin typeface="Bodoni MT" panose="02070603080606020203" pitchFamily="18" charset="0"/>
                        <a:ea typeface="Calibri" panose="020F0502020204030204" pitchFamily="34" charset="0"/>
                      </a:endParaRPr>
                    </a:p>
                  </a:txBody>
                  <a:tcPr marL="68580" marR="68580" marT="0" marB="0"/>
                </a:tc>
                <a:extLst>
                  <a:ext uri="{0D108BD9-81ED-4DB2-BD59-A6C34878D82A}">
                    <a16:rowId xmlns:a16="http://schemas.microsoft.com/office/drawing/2014/main" val="2917877639"/>
                  </a:ext>
                </a:extLst>
              </a:tr>
              <a:tr h="640362">
                <a:tc>
                  <a:txBody>
                    <a:bodyPr/>
                    <a:lstStyle/>
                    <a:p>
                      <a:pPr algn="ctr">
                        <a:lnSpc>
                          <a:spcPct val="107000"/>
                        </a:lnSpc>
                        <a:spcBef>
                          <a:spcPts val="1200"/>
                        </a:spcBef>
                        <a:spcAft>
                          <a:spcPts val="800"/>
                        </a:spcAft>
                      </a:pPr>
                      <a:r>
                        <a:rPr lang="en-GB" sz="2000">
                          <a:effectLst/>
                          <a:latin typeface="Bodoni MT" panose="02070603080606020203" pitchFamily="18" charset="0"/>
                          <a:ea typeface="Verdana" panose="020B0604030504040204" pitchFamily="34" charset="0"/>
                          <a:cs typeface="Verdana" panose="020B0604030504040204" pitchFamily="34" charset="0"/>
                        </a:rPr>
                        <a:t>1.8 – 2.5</a:t>
                      </a:r>
                      <a:endParaRPr lang="en-PH" sz="1800">
                        <a:effectLst/>
                        <a:latin typeface="Bodoni MT" panose="02070603080606020203" pitchFamily="18" charset="0"/>
                        <a:ea typeface="Calibri" panose="020F0502020204030204" pitchFamily="34" charset="0"/>
                      </a:endParaRPr>
                    </a:p>
                  </a:txBody>
                  <a:tcPr marL="68580" marR="68580" marT="0" marB="0"/>
                </a:tc>
                <a:tc>
                  <a:txBody>
                    <a:bodyPr/>
                    <a:lstStyle/>
                    <a:p>
                      <a:pPr algn="ctr">
                        <a:lnSpc>
                          <a:spcPct val="107000"/>
                        </a:lnSpc>
                        <a:spcBef>
                          <a:spcPts val="1200"/>
                        </a:spcBef>
                        <a:spcAft>
                          <a:spcPts val="800"/>
                        </a:spcAft>
                      </a:pPr>
                      <a:r>
                        <a:rPr lang="en-GB" sz="2000">
                          <a:effectLst/>
                          <a:latin typeface="Bodoni MT" panose="02070603080606020203" pitchFamily="18" charset="0"/>
                          <a:ea typeface="Verdana" panose="020B0604030504040204" pitchFamily="34" charset="0"/>
                          <a:cs typeface="Verdana" panose="020B0604030504040204" pitchFamily="34" charset="0"/>
                        </a:rPr>
                        <a:t>Agree</a:t>
                      </a:r>
                      <a:endParaRPr lang="en-PH" sz="1800">
                        <a:effectLst/>
                        <a:latin typeface="Bodoni MT" panose="02070603080606020203" pitchFamily="18" charset="0"/>
                        <a:ea typeface="Calibri" panose="020F0502020204030204" pitchFamily="34" charset="0"/>
                      </a:endParaRPr>
                    </a:p>
                  </a:txBody>
                  <a:tcPr marL="68580" marR="68580" marT="0" marB="0"/>
                </a:tc>
                <a:tc>
                  <a:txBody>
                    <a:bodyPr/>
                    <a:lstStyle/>
                    <a:p>
                      <a:pPr algn="ctr">
                        <a:lnSpc>
                          <a:spcPct val="107000"/>
                        </a:lnSpc>
                        <a:spcBef>
                          <a:spcPts val="1200"/>
                        </a:spcBef>
                        <a:spcAft>
                          <a:spcPts val="800"/>
                        </a:spcAft>
                      </a:pPr>
                      <a:r>
                        <a:rPr lang="en-GB" sz="2000">
                          <a:effectLst/>
                          <a:latin typeface="Bodoni MT" panose="02070603080606020203" pitchFamily="18" charset="0"/>
                          <a:ea typeface="Verdana" panose="020B0604030504040204" pitchFamily="34" charset="0"/>
                          <a:cs typeface="Verdana" panose="020B0604030504040204" pitchFamily="34" charset="0"/>
                        </a:rPr>
                        <a:t>Slightly Addicted</a:t>
                      </a:r>
                      <a:endParaRPr lang="en-PH" sz="1800">
                        <a:effectLst/>
                        <a:latin typeface="Bodoni MT" panose="02070603080606020203" pitchFamily="18" charset="0"/>
                        <a:ea typeface="Calibri" panose="020F0502020204030204" pitchFamily="34" charset="0"/>
                      </a:endParaRPr>
                    </a:p>
                  </a:txBody>
                  <a:tcPr marL="68580" marR="68580" marT="0" marB="0"/>
                </a:tc>
                <a:extLst>
                  <a:ext uri="{0D108BD9-81ED-4DB2-BD59-A6C34878D82A}">
                    <a16:rowId xmlns:a16="http://schemas.microsoft.com/office/drawing/2014/main" val="2742288650"/>
                  </a:ext>
                </a:extLst>
              </a:tr>
              <a:tr h="640362">
                <a:tc>
                  <a:txBody>
                    <a:bodyPr/>
                    <a:lstStyle/>
                    <a:p>
                      <a:pPr algn="ctr">
                        <a:lnSpc>
                          <a:spcPct val="107000"/>
                        </a:lnSpc>
                        <a:spcBef>
                          <a:spcPts val="1200"/>
                        </a:spcBef>
                        <a:spcAft>
                          <a:spcPts val="800"/>
                        </a:spcAft>
                      </a:pPr>
                      <a:r>
                        <a:rPr lang="en-GB" sz="2000">
                          <a:effectLst/>
                          <a:latin typeface="Bodoni MT" panose="02070603080606020203" pitchFamily="18" charset="0"/>
                          <a:ea typeface="Verdana" panose="020B0604030504040204" pitchFamily="34" charset="0"/>
                          <a:cs typeface="Verdana" panose="020B0604030504040204" pitchFamily="34" charset="0"/>
                        </a:rPr>
                        <a:t>1.0 – 1.7</a:t>
                      </a:r>
                      <a:endParaRPr lang="en-PH" sz="1800">
                        <a:effectLst/>
                        <a:latin typeface="Bodoni MT" panose="02070603080606020203" pitchFamily="18" charset="0"/>
                        <a:ea typeface="Calibri" panose="020F0502020204030204" pitchFamily="34" charset="0"/>
                      </a:endParaRPr>
                    </a:p>
                  </a:txBody>
                  <a:tcPr marL="68580" marR="68580" marT="0" marB="0"/>
                </a:tc>
                <a:tc>
                  <a:txBody>
                    <a:bodyPr/>
                    <a:lstStyle/>
                    <a:p>
                      <a:pPr algn="ctr">
                        <a:lnSpc>
                          <a:spcPct val="107000"/>
                        </a:lnSpc>
                        <a:spcBef>
                          <a:spcPts val="1200"/>
                        </a:spcBef>
                        <a:spcAft>
                          <a:spcPts val="800"/>
                        </a:spcAft>
                      </a:pPr>
                      <a:r>
                        <a:rPr lang="en-GB" sz="2000">
                          <a:effectLst/>
                          <a:latin typeface="Bodoni MT" panose="02070603080606020203" pitchFamily="18" charset="0"/>
                          <a:ea typeface="Verdana" panose="020B0604030504040204" pitchFamily="34" charset="0"/>
                          <a:cs typeface="Verdana" panose="020B0604030504040204" pitchFamily="34" charset="0"/>
                        </a:rPr>
                        <a:t>Strongly Disagree</a:t>
                      </a:r>
                      <a:endParaRPr lang="en-PH" sz="1800">
                        <a:effectLst/>
                        <a:latin typeface="Bodoni MT" panose="02070603080606020203" pitchFamily="18" charset="0"/>
                        <a:ea typeface="Calibri" panose="020F0502020204030204" pitchFamily="34" charset="0"/>
                      </a:endParaRPr>
                    </a:p>
                  </a:txBody>
                  <a:tcPr marL="68580" marR="68580" marT="0" marB="0"/>
                </a:tc>
                <a:tc>
                  <a:txBody>
                    <a:bodyPr/>
                    <a:lstStyle/>
                    <a:p>
                      <a:pPr algn="ctr">
                        <a:lnSpc>
                          <a:spcPct val="107000"/>
                        </a:lnSpc>
                        <a:spcBef>
                          <a:spcPts val="1200"/>
                        </a:spcBef>
                        <a:spcAft>
                          <a:spcPts val="800"/>
                        </a:spcAft>
                      </a:pPr>
                      <a:r>
                        <a:rPr lang="en-GB" sz="2000" dirty="0">
                          <a:effectLst/>
                          <a:latin typeface="Bodoni MT" panose="02070603080606020203" pitchFamily="18" charset="0"/>
                          <a:ea typeface="Verdana" panose="020B0604030504040204" pitchFamily="34" charset="0"/>
                          <a:cs typeface="Verdana" panose="020B0604030504040204" pitchFamily="34" charset="0"/>
                        </a:rPr>
                        <a:t>Not Addicted</a:t>
                      </a:r>
                      <a:endParaRPr lang="en-PH" sz="1800" dirty="0">
                        <a:effectLst/>
                        <a:latin typeface="Bodoni MT" panose="02070603080606020203" pitchFamily="18" charset="0"/>
                        <a:ea typeface="Calibri" panose="020F0502020204030204" pitchFamily="34" charset="0"/>
                      </a:endParaRPr>
                    </a:p>
                  </a:txBody>
                  <a:tcPr marL="68580" marR="68580" marT="0" marB="0"/>
                </a:tc>
                <a:extLst>
                  <a:ext uri="{0D108BD9-81ED-4DB2-BD59-A6C34878D82A}">
                    <a16:rowId xmlns:a16="http://schemas.microsoft.com/office/drawing/2014/main" val="1079413672"/>
                  </a:ext>
                </a:extLst>
              </a:tr>
            </a:tbl>
          </a:graphicData>
        </a:graphic>
      </p:graphicFrame>
    </p:spTree>
    <p:extLst>
      <p:ext uri="{BB962C8B-B14F-4D97-AF65-F5344CB8AC3E}">
        <p14:creationId xmlns:p14="http://schemas.microsoft.com/office/powerpoint/2010/main" val="81616844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Flowchart: Process 5">
            <a:extLst>
              <a:ext uri="{FF2B5EF4-FFF2-40B4-BE49-F238E27FC236}">
                <a16:creationId xmlns:a16="http://schemas.microsoft.com/office/drawing/2014/main" id="{EC33E5D3-B3E4-410E-B2F8-52A0B937285E}"/>
              </a:ext>
            </a:extLst>
          </p:cNvPr>
          <p:cNvSpPr/>
          <p:nvPr/>
        </p:nvSpPr>
        <p:spPr>
          <a:xfrm>
            <a:off x="0" y="0"/>
            <a:ext cx="12192000" cy="6858000"/>
          </a:xfrm>
          <a:prstGeom prst="flowChartProcess">
            <a:avLst/>
          </a:prstGeom>
          <a:solidFill>
            <a:schemeClr val="bg1">
              <a:lumMod val="50000"/>
            </a:schemeClr>
          </a:solidFill>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b="1" dirty="0"/>
          </a:p>
        </p:txBody>
      </p:sp>
      <p:sp>
        <p:nvSpPr>
          <p:cNvPr id="3" name="Rectangle: Rounded Corners 2">
            <a:extLst>
              <a:ext uri="{FF2B5EF4-FFF2-40B4-BE49-F238E27FC236}">
                <a16:creationId xmlns:a16="http://schemas.microsoft.com/office/drawing/2014/main" id="{0C075A75-6C78-47AF-BAD2-BEED21FD692E}"/>
              </a:ext>
            </a:extLst>
          </p:cNvPr>
          <p:cNvSpPr/>
          <p:nvPr/>
        </p:nvSpPr>
        <p:spPr>
          <a:xfrm>
            <a:off x="2895600" y="254000"/>
            <a:ext cx="6421120" cy="619760"/>
          </a:xfrm>
          <a:prstGeom prst="roundRect">
            <a:avLst/>
          </a:prstGeom>
          <a:solidFill>
            <a:schemeClr val="bg2">
              <a:lumMod val="75000"/>
            </a:schemeClr>
          </a:solidFill>
          <a:effectLst>
            <a:glow rad="241300">
              <a:schemeClr val="accent3">
                <a:satMod val="175000"/>
                <a:alpha val="63000"/>
              </a:schemeClr>
            </a:glow>
            <a:outerShdw blurRad="203200" dist="127000" dir="14100000" sx="104000" sy="104000" algn="br" rotWithShape="0">
              <a:prstClr val="black">
                <a:alpha val="38000"/>
              </a:prstClr>
            </a:outerShdw>
          </a:effectLst>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lumMod val="85000"/>
                    <a:lumOff val="15000"/>
                  </a:schemeClr>
                </a:solidFill>
                <a:latin typeface="Footlight MT Light" panose="0204060206030A020304" pitchFamily="18" charset="0"/>
              </a:rPr>
              <a:t>STATISTICAL TREATMENT OF THE DATA</a:t>
            </a:r>
            <a:endParaRPr lang="en-PH" sz="2800" dirty="0">
              <a:solidFill>
                <a:schemeClr val="tx1">
                  <a:lumMod val="85000"/>
                  <a:lumOff val="15000"/>
                </a:schemeClr>
              </a:solidFill>
              <a:latin typeface="Footlight MT Light" panose="0204060206030A020304" pitchFamily="18" charset="0"/>
            </a:endParaRPr>
          </a:p>
        </p:txBody>
      </p:sp>
      <p:sp>
        <p:nvSpPr>
          <p:cNvPr id="4" name="Rectangle 3">
            <a:extLst>
              <a:ext uri="{FF2B5EF4-FFF2-40B4-BE49-F238E27FC236}">
                <a16:creationId xmlns:a16="http://schemas.microsoft.com/office/drawing/2014/main" id="{205114B8-58AD-41A2-9229-264BBA8B26FE}"/>
              </a:ext>
            </a:extLst>
          </p:cNvPr>
          <p:cNvSpPr/>
          <p:nvPr/>
        </p:nvSpPr>
        <p:spPr>
          <a:xfrm>
            <a:off x="294640" y="1284393"/>
            <a:ext cx="5374640" cy="396240"/>
          </a:xfrm>
          <a:prstGeom prst="rect">
            <a:avLst/>
          </a:prstGeom>
          <a:solidFill>
            <a:schemeClr val="bg2">
              <a:lumMod val="50000"/>
            </a:schemeClr>
          </a:solidFill>
          <a:effectLst>
            <a:outerShdw blurRad="203200" dist="38100" dir="8100000" sx="102000" sy="102000" algn="tr" rotWithShape="0">
              <a:prstClr val="black">
                <a:alpha val="4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dirty="0">
                <a:effectLst/>
                <a:latin typeface="Agency FB" panose="020B0503020202020204" pitchFamily="34" charset="0"/>
                <a:ea typeface="Verdana" panose="020B0604030504040204" pitchFamily="34" charset="0"/>
                <a:cs typeface="Verdana" panose="020B0604030504040204" pitchFamily="34" charset="0"/>
              </a:rPr>
              <a:t>On the other hand, the academic performance will be interpreted below:</a:t>
            </a:r>
          </a:p>
        </p:txBody>
      </p:sp>
      <p:graphicFrame>
        <p:nvGraphicFramePr>
          <p:cNvPr id="5" name="Table 6">
            <a:extLst>
              <a:ext uri="{FF2B5EF4-FFF2-40B4-BE49-F238E27FC236}">
                <a16:creationId xmlns:a16="http://schemas.microsoft.com/office/drawing/2014/main" id="{180E539B-B50E-4F8F-AF54-AA123ACBD947}"/>
              </a:ext>
            </a:extLst>
          </p:cNvPr>
          <p:cNvGraphicFramePr>
            <a:graphicFrameLocks noGrp="1"/>
          </p:cNvGraphicFramePr>
          <p:nvPr>
            <p:extLst>
              <p:ext uri="{D42A27DB-BD31-4B8C-83A1-F6EECF244321}">
                <p14:modId xmlns:p14="http://schemas.microsoft.com/office/powerpoint/2010/main" val="3176014387"/>
              </p:ext>
            </p:extLst>
          </p:nvPr>
        </p:nvGraphicFramePr>
        <p:xfrm>
          <a:off x="1280160" y="2509520"/>
          <a:ext cx="9093200" cy="3708402"/>
        </p:xfrm>
        <a:graphic>
          <a:graphicData uri="http://schemas.openxmlformats.org/drawingml/2006/table">
            <a:tbl>
              <a:tblPr firstRow="1" bandRow="1">
                <a:tableStyleId>{5C22544A-7EE6-4342-B048-85BDC9FD1C3A}</a:tableStyleId>
              </a:tblPr>
              <a:tblGrid>
                <a:gridCol w="4546600">
                  <a:extLst>
                    <a:ext uri="{9D8B030D-6E8A-4147-A177-3AD203B41FA5}">
                      <a16:colId xmlns:a16="http://schemas.microsoft.com/office/drawing/2014/main" val="3195262890"/>
                    </a:ext>
                  </a:extLst>
                </a:gridCol>
                <a:gridCol w="4546600">
                  <a:extLst>
                    <a:ext uri="{9D8B030D-6E8A-4147-A177-3AD203B41FA5}">
                      <a16:colId xmlns:a16="http://schemas.microsoft.com/office/drawing/2014/main" val="269580885"/>
                    </a:ext>
                  </a:extLst>
                </a:gridCol>
              </a:tblGrid>
              <a:tr h="618067">
                <a:tc>
                  <a:txBody>
                    <a:bodyPr/>
                    <a:lstStyle/>
                    <a:p>
                      <a:pPr algn="ctr">
                        <a:lnSpc>
                          <a:spcPct val="107000"/>
                        </a:lnSpc>
                        <a:spcBef>
                          <a:spcPts val="1200"/>
                        </a:spcBef>
                        <a:spcAft>
                          <a:spcPts val="800"/>
                        </a:spcAft>
                      </a:pPr>
                      <a:r>
                        <a:rPr lang="en-GB" sz="3600" b="1" dirty="0">
                          <a:effectLst/>
                          <a:latin typeface="Bodoni MT" panose="02070603080606020203" pitchFamily="18" charset="0"/>
                          <a:ea typeface="Verdana" panose="020B0604030504040204" pitchFamily="34" charset="0"/>
                          <a:cs typeface="Verdana" panose="020B0604030504040204" pitchFamily="34" charset="0"/>
                        </a:rPr>
                        <a:t>RANGE</a:t>
                      </a:r>
                      <a:endParaRPr lang="en-PH" sz="3200" dirty="0">
                        <a:effectLst/>
                        <a:latin typeface="Bodoni MT" panose="02070603080606020203" pitchFamily="18" charset="0"/>
                        <a:ea typeface="Calibri" panose="020F0502020204030204" pitchFamily="34" charset="0"/>
                      </a:endParaRPr>
                    </a:p>
                  </a:txBody>
                  <a:tcPr marL="68580" marR="68580" marT="0" marB="0"/>
                </a:tc>
                <a:tc>
                  <a:txBody>
                    <a:bodyPr/>
                    <a:lstStyle/>
                    <a:p>
                      <a:pPr algn="ctr">
                        <a:lnSpc>
                          <a:spcPct val="107000"/>
                        </a:lnSpc>
                        <a:spcBef>
                          <a:spcPts val="1200"/>
                        </a:spcBef>
                        <a:spcAft>
                          <a:spcPts val="800"/>
                        </a:spcAft>
                      </a:pPr>
                      <a:r>
                        <a:rPr lang="en-GB" sz="3600" b="1">
                          <a:effectLst/>
                          <a:latin typeface="Bodoni MT" panose="02070603080606020203" pitchFamily="18" charset="0"/>
                          <a:ea typeface="Verdana" panose="020B0604030504040204" pitchFamily="34" charset="0"/>
                          <a:cs typeface="Verdana" panose="020B0604030504040204" pitchFamily="34" charset="0"/>
                        </a:rPr>
                        <a:t>INTERPRETATION</a:t>
                      </a:r>
                      <a:endParaRPr lang="en-PH" sz="3200">
                        <a:effectLst/>
                        <a:latin typeface="Bodoni MT" panose="02070603080606020203" pitchFamily="18" charset="0"/>
                        <a:ea typeface="Calibri" panose="020F0502020204030204" pitchFamily="34" charset="0"/>
                      </a:endParaRPr>
                    </a:p>
                  </a:txBody>
                  <a:tcPr marL="68580" marR="68580" marT="0" marB="0"/>
                </a:tc>
                <a:extLst>
                  <a:ext uri="{0D108BD9-81ED-4DB2-BD59-A6C34878D82A}">
                    <a16:rowId xmlns:a16="http://schemas.microsoft.com/office/drawing/2014/main" val="4105563759"/>
                  </a:ext>
                </a:extLst>
              </a:tr>
              <a:tr h="618067">
                <a:tc>
                  <a:txBody>
                    <a:bodyPr/>
                    <a:lstStyle/>
                    <a:p>
                      <a:pPr algn="ctr">
                        <a:lnSpc>
                          <a:spcPct val="107000"/>
                        </a:lnSpc>
                        <a:spcBef>
                          <a:spcPts val="1200"/>
                        </a:spcBef>
                        <a:spcAft>
                          <a:spcPts val="800"/>
                        </a:spcAft>
                      </a:pPr>
                      <a:r>
                        <a:rPr lang="en-GB" sz="3600">
                          <a:effectLst/>
                          <a:latin typeface="Bodoni MT" panose="02070603080606020203" pitchFamily="18" charset="0"/>
                          <a:ea typeface="Verdana" panose="020B0604030504040204" pitchFamily="34" charset="0"/>
                          <a:cs typeface="Verdana" panose="020B0604030504040204" pitchFamily="34" charset="0"/>
                        </a:rPr>
                        <a:t>90 – 100</a:t>
                      </a:r>
                      <a:endParaRPr lang="en-PH" sz="3200">
                        <a:effectLst/>
                        <a:latin typeface="Bodoni MT" panose="02070603080606020203" pitchFamily="18" charset="0"/>
                        <a:ea typeface="Calibri" panose="020F0502020204030204" pitchFamily="34" charset="0"/>
                      </a:endParaRPr>
                    </a:p>
                  </a:txBody>
                  <a:tcPr marL="68580" marR="68580" marT="0" marB="0"/>
                </a:tc>
                <a:tc>
                  <a:txBody>
                    <a:bodyPr/>
                    <a:lstStyle/>
                    <a:p>
                      <a:pPr algn="ctr">
                        <a:lnSpc>
                          <a:spcPct val="107000"/>
                        </a:lnSpc>
                        <a:spcBef>
                          <a:spcPts val="1200"/>
                        </a:spcBef>
                        <a:spcAft>
                          <a:spcPts val="800"/>
                        </a:spcAft>
                      </a:pPr>
                      <a:r>
                        <a:rPr lang="en-GB" sz="3600">
                          <a:effectLst/>
                          <a:latin typeface="Bodoni MT" panose="02070603080606020203" pitchFamily="18" charset="0"/>
                          <a:ea typeface="Verdana" panose="020B0604030504040204" pitchFamily="34" charset="0"/>
                          <a:cs typeface="Verdana" panose="020B0604030504040204" pitchFamily="34" charset="0"/>
                        </a:rPr>
                        <a:t>Outstanding</a:t>
                      </a:r>
                      <a:endParaRPr lang="en-PH" sz="3200">
                        <a:effectLst/>
                        <a:latin typeface="Bodoni MT" panose="02070603080606020203" pitchFamily="18" charset="0"/>
                        <a:ea typeface="Calibri" panose="020F0502020204030204" pitchFamily="34" charset="0"/>
                      </a:endParaRPr>
                    </a:p>
                  </a:txBody>
                  <a:tcPr marL="68580" marR="68580" marT="0" marB="0"/>
                </a:tc>
                <a:extLst>
                  <a:ext uri="{0D108BD9-81ED-4DB2-BD59-A6C34878D82A}">
                    <a16:rowId xmlns:a16="http://schemas.microsoft.com/office/drawing/2014/main" val="1301922526"/>
                  </a:ext>
                </a:extLst>
              </a:tr>
              <a:tr h="618067">
                <a:tc>
                  <a:txBody>
                    <a:bodyPr/>
                    <a:lstStyle/>
                    <a:p>
                      <a:pPr algn="ctr">
                        <a:lnSpc>
                          <a:spcPct val="107000"/>
                        </a:lnSpc>
                        <a:spcBef>
                          <a:spcPts val="1200"/>
                        </a:spcBef>
                        <a:spcAft>
                          <a:spcPts val="800"/>
                        </a:spcAft>
                      </a:pPr>
                      <a:r>
                        <a:rPr lang="en-GB" sz="3600">
                          <a:effectLst/>
                          <a:latin typeface="Bodoni MT" panose="02070603080606020203" pitchFamily="18" charset="0"/>
                          <a:ea typeface="Verdana" panose="020B0604030504040204" pitchFamily="34" charset="0"/>
                          <a:cs typeface="Verdana" panose="020B0604030504040204" pitchFamily="34" charset="0"/>
                        </a:rPr>
                        <a:t>85 – 89</a:t>
                      </a:r>
                      <a:endParaRPr lang="en-PH" sz="3200">
                        <a:effectLst/>
                        <a:latin typeface="Bodoni MT" panose="02070603080606020203" pitchFamily="18" charset="0"/>
                        <a:ea typeface="Calibri" panose="020F0502020204030204" pitchFamily="34" charset="0"/>
                      </a:endParaRPr>
                    </a:p>
                  </a:txBody>
                  <a:tcPr marL="68580" marR="68580" marT="0" marB="0"/>
                </a:tc>
                <a:tc>
                  <a:txBody>
                    <a:bodyPr/>
                    <a:lstStyle/>
                    <a:p>
                      <a:pPr algn="ctr">
                        <a:lnSpc>
                          <a:spcPct val="107000"/>
                        </a:lnSpc>
                        <a:spcBef>
                          <a:spcPts val="1200"/>
                        </a:spcBef>
                        <a:spcAft>
                          <a:spcPts val="800"/>
                        </a:spcAft>
                      </a:pPr>
                      <a:r>
                        <a:rPr lang="en-GB" sz="3600">
                          <a:effectLst/>
                          <a:latin typeface="Bodoni MT" panose="02070603080606020203" pitchFamily="18" charset="0"/>
                          <a:ea typeface="Verdana" panose="020B0604030504040204" pitchFamily="34" charset="0"/>
                          <a:cs typeface="Verdana" panose="020B0604030504040204" pitchFamily="34" charset="0"/>
                        </a:rPr>
                        <a:t>Very Satisfactory</a:t>
                      </a:r>
                      <a:endParaRPr lang="en-PH" sz="3200">
                        <a:effectLst/>
                        <a:latin typeface="Bodoni MT" panose="02070603080606020203" pitchFamily="18" charset="0"/>
                        <a:ea typeface="Calibri" panose="020F0502020204030204" pitchFamily="34" charset="0"/>
                      </a:endParaRPr>
                    </a:p>
                  </a:txBody>
                  <a:tcPr marL="68580" marR="68580" marT="0" marB="0"/>
                </a:tc>
                <a:extLst>
                  <a:ext uri="{0D108BD9-81ED-4DB2-BD59-A6C34878D82A}">
                    <a16:rowId xmlns:a16="http://schemas.microsoft.com/office/drawing/2014/main" val="2001195398"/>
                  </a:ext>
                </a:extLst>
              </a:tr>
              <a:tr h="618067">
                <a:tc>
                  <a:txBody>
                    <a:bodyPr/>
                    <a:lstStyle/>
                    <a:p>
                      <a:pPr algn="ctr">
                        <a:lnSpc>
                          <a:spcPct val="107000"/>
                        </a:lnSpc>
                        <a:spcBef>
                          <a:spcPts val="1200"/>
                        </a:spcBef>
                        <a:spcAft>
                          <a:spcPts val="800"/>
                        </a:spcAft>
                      </a:pPr>
                      <a:r>
                        <a:rPr lang="en-GB" sz="3600">
                          <a:effectLst/>
                          <a:latin typeface="Bodoni MT" panose="02070603080606020203" pitchFamily="18" charset="0"/>
                          <a:ea typeface="Verdana" panose="020B0604030504040204" pitchFamily="34" charset="0"/>
                          <a:cs typeface="Verdana" panose="020B0604030504040204" pitchFamily="34" charset="0"/>
                        </a:rPr>
                        <a:t>80 – 84</a:t>
                      </a:r>
                      <a:endParaRPr lang="en-PH" sz="3200">
                        <a:effectLst/>
                        <a:latin typeface="Bodoni MT" panose="02070603080606020203" pitchFamily="18" charset="0"/>
                        <a:ea typeface="Calibri" panose="020F0502020204030204" pitchFamily="34" charset="0"/>
                      </a:endParaRPr>
                    </a:p>
                  </a:txBody>
                  <a:tcPr marL="68580" marR="68580" marT="0" marB="0"/>
                </a:tc>
                <a:tc>
                  <a:txBody>
                    <a:bodyPr/>
                    <a:lstStyle/>
                    <a:p>
                      <a:pPr algn="ctr">
                        <a:lnSpc>
                          <a:spcPct val="107000"/>
                        </a:lnSpc>
                        <a:spcBef>
                          <a:spcPts val="1200"/>
                        </a:spcBef>
                        <a:spcAft>
                          <a:spcPts val="800"/>
                        </a:spcAft>
                      </a:pPr>
                      <a:r>
                        <a:rPr lang="en-GB" sz="3600">
                          <a:effectLst/>
                          <a:latin typeface="Bodoni MT" panose="02070603080606020203" pitchFamily="18" charset="0"/>
                          <a:ea typeface="Verdana" panose="020B0604030504040204" pitchFamily="34" charset="0"/>
                          <a:cs typeface="Verdana" panose="020B0604030504040204" pitchFamily="34" charset="0"/>
                        </a:rPr>
                        <a:t>Satisfactory</a:t>
                      </a:r>
                      <a:endParaRPr lang="en-PH" sz="3200">
                        <a:effectLst/>
                        <a:latin typeface="Bodoni MT" panose="02070603080606020203" pitchFamily="18" charset="0"/>
                        <a:ea typeface="Calibri" panose="020F0502020204030204" pitchFamily="34" charset="0"/>
                      </a:endParaRPr>
                    </a:p>
                  </a:txBody>
                  <a:tcPr marL="68580" marR="68580" marT="0" marB="0"/>
                </a:tc>
                <a:extLst>
                  <a:ext uri="{0D108BD9-81ED-4DB2-BD59-A6C34878D82A}">
                    <a16:rowId xmlns:a16="http://schemas.microsoft.com/office/drawing/2014/main" val="3732731041"/>
                  </a:ext>
                </a:extLst>
              </a:tr>
              <a:tr h="618067">
                <a:tc>
                  <a:txBody>
                    <a:bodyPr/>
                    <a:lstStyle/>
                    <a:p>
                      <a:pPr algn="ctr">
                        <a:lnSpc>
                          <a:spcPct val="107000"/>
                        </a:lnSpc>
                        <a:spcBef>
                          <a:spcPts val="1200"/>
                        </a:spcBef>
                        <a:spcAft>
                          <a:spcPts val="800"/>
                        </a:spcAft>
                      </a:pPr>
                      <a:r>
                        <a:rPr lang="en-GB" sz="3600">
                          <a:effectLst/>
                          <a:latin typeface="Bodoni MT" panose="02070603080606020203" pitchFamily="18" charset="0"/>
                          <a:ea typeface="Verdana" panose="020B0604030504040204" pitchFamily="34" charset="0"/>
                          <a:cs typeface="Verdana" panose="020B0604030504040204" pitchFamily="34" charset="0"/>
                        </a:rPr>
                        <a:t>75 – 79</a:t>
                      </a:r>
                      <a:endParaRPr lang="en-PH" sz="3200">
                        <a:effectLst/>
                        <a:latin typeface="Bodoni MT" panose="02070603080606020203" pitchFamily="18" charset="0"/>
                        <a:ea typeface="Calibri" panose="020F0502020204030204" pitchFamily="34" charset="0"/>
                      </a:endParaRPr>
                    </a:p>
                  </a:txBody>
                  <a:tcPr marL="68580" marR="68580" marT="0" marB="0"/>
                </a:tc>
                <a:tc>
                  <a:txBody>
                    <a:bodyPr/>
                    <a:lstStyle/>
                    <a:p>
                      <a:pPr algn="ctr">
                        <a:lnSpc>
                          <a:spcPct val="107000"/>
                        </a:lnSpc>
                        <a:spcBef>
                          <a:spcPts val="1200"/>
                        </a:spcBef>
                        <a:spcAft>
                          <a:spcPts val="800"/>
                        </a:spcAft>
                      </a:pPr>
                      <a:r>
                        <a:rPr lang="en-GB" sz="3600">
                          <a:effectLst/>
                          <a:latin typeface="Bodoni MT" panose="02070603080606020203" pitchFamily="18" charset="0"/>
                          <a:ea typeface="Verdana" panose="020B0604030504040204" pitchFamily="34" charset="0"/>
                          <a:cs typeface="Verdana" panose="020B0604030504040204" pitchFamily="34" charset="0"/>
                        </a:rPr>
                        <a:t>Fairly Satisfactory</a:t>
                      </a:r>
                      <a:endParaRPr lang="en-PH" sz="3200">
                        <a:effectLst/>
                        <a:latin typeface="Bodoni MT" panose="02070603080606020203" pitchFamily="18" charset="0"/>
                        <a:ea typeface="Calibri" panose="020F0502020204030204" pitchFamily="34" charset="0"/>
                      </a:endParaRPr>
                    </a:p>
                  </a:txBody>
                  <a:tcPr marL="68580" marR="68580" marT="0" marB="0"/>
                </a:tc>
                <a:extLst>
                  <a:ext uri="{0D108BD9-81ED-4DB2-BD59-A6C34878D82A}">
                    <a16:rowId xmlns:a16="http://schemas.microsoft.com/office/drawing/2014/main" val="2237115139"/>
                  </a:ext>
                </a:extLst>
              </a:tr>
              <a:tr h="618067">
                <a:tc>
                  <a:txBody>
                    <a:bodyPr/>
                    <a:lstStyle/>
                    <a:p>
                      <a:pPr algn="ctr">
                        <a:lnSpc>
                          <a:spcPct val="107000"/>
                        </a:lnSpc>
                        <a:spcBef>
                          <a:spcPts val="1200"/>
                        </a:spcBef>
                        <a:spcAft>
                          <a:spcPts val="800"/>
                        </a:spcAft>
                      </a:pPr>
                      <a:r>
                        <a:rPr lang="en-GB" sz="3600">
                          <a:effectLst/>
                          <a:latin typeface="Bodoni MT" panose="02070603080606020203" pitchFamily="18" charset="0"/>
                          <a:ea typeface="Verdana" panose="020B0604030504040204" pitchFamily="34" charset="0"/>
                          <a:cs typeface="Verdana" panose="020B0604030504040204" pitchFamily="34" charset="0"/>
                        </a:rPr>
                        <a:t>Below 75</a:t>
                      </a:r>
                      <a:endParaRPr lang="en-PH" sz="3200">
                        <a:effectLst/>
                        <a:latin typeface="Bodoni MT" panose="02070603080606020203" pitchFamily="18" charset="0"/>
                        <a:ea typeface="Calibri" panose="020F0502020204030204" pitchFamily="34" charset="0"/>
                      </a:endParaRPr>
                    </a:p>
                  </a:txBody>
                  <a:tcPr marL="68580" marR="68580" marT="0" marB="0"/>
                </a:tc>
                <a:tc>
                  <a:txBody>
                    <a:bodyPr/>
                    <a:lstStyle/>
                    <a:p>
                      <a:pPr algn="ctr">
                        <a:lnSpc>
                          <a:spcPct val="107000"/>
                        </a:lnSpc>
                        <a:spcBef>
                          <a:spcPts val="1200"/>
                        </a:spcBef>
                        <a:spcAft>
                          <a:spcPts val="800"/>
                        </a:spcAft>
                      </a:pPr>
                      <a:r>
                        <a:rPr lang="en-GB" sz="3600" dirty="0">
                          <a:effectLst/>
                          <a:latin typeface="Bodoni MT" panose="02070603080606020203" pitchFamily="18" charset="0"/>
                          <a:ea typeface="Verdana" panose="020B0604030504040204" pitchFamily="34" charset="0"/>
                          <a:cs typeface="Verdana" panose="020B0604030504040204" pitchFamily="34" charset="0"/>
                        </a:rPr>
                        <a:t>Not Addicted</a:t>
                      </a:r>
                      <a:endParaRPr lang="en-PH" sz="3200" dirty="0">
                        <a:effectLst/>
                        <a:latin typeface="Bodoni MT" panose="02070603080606020203" pitchFamily="18" charset="0"/>
                        <a:ea typeface="Calibri" panose="020F0502020204030204" pitchFamily="34" charset="0"/>
                      </a:endParaRPr>
                    </a:p>
                  </a:txBody>
                  <a:tcPr marL="68580" marR="68580" marT="0" marB="0"/>
                </a:tc>
                <a:extLst>
                  <a:ext uri="{0D108BD9-81ED-4DB2-BD59-A6C34878D82A}">
                    <a16:rowId xmlns:a16="http://schemas.microsoft.com/office/drawing/2014/main" val="325130429"/>
                  </a:ext>
                </a:extLst>
              </a:tr>
            </a:tbl>
          </a:graphicData>
        </a:graphic>
      </p:graphicFrame>
    </p:spTree>
    <p:extLst>
      <p:ext uri="{BB962C8B-B14F-4D97-AF65-F5344CB8AC3E}">
        <p14:creationId xmlns:p14="http://schemas.microsoft.com/office/powerpoint/2010/main" val="236932768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Flowchart: Process 5">
            <a:extLst>
              <a:ext uri="{FF2B5EF4-FFF2-40B4-BE49-F238E27FC236}">
                <a16:creationId xmlns:a16="http://schemas.microsoft.com/office/drawing/2014/main" id="{EC33E5D3-B3E4-410E-B2F8-52A0B937285E}"/>
              </a:ext>
            </a:extLst>
          </p:cNvPr>
          <p:cNvSpPr/>
          <p:nvPr/>
        </p:nvSpPr>
        <p:spPr>
          <a:xfrm>
            <a:off x="0" y="0"/>
            <a:ext cx="12192000" cy="6858000"/>
          </a:xfrm>
          <a:prstGeom prst="flowChartProcess">
            <a:avLst/>
          </a:prstGeom>
          <a:solidFill>
            <a:schemeClr val="bg1">
              <a:lumMod val="50000"/>
            </a:schemeClr>
          </a:solidFill>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b="1" dirty="0"/>
          </a:p>
        </p:txBody>
      </p:sp>
      <p:sp>
        <p:nvSpPr>
          <p:cNvPr id="7" name="Rectangle: Rounded Corners 6">
            <a:extLst>
              <a:ext uri="{FF2B5EF4-FFF2-40B4-BE49-F238E27FC236}">
                <a16:creationId xmlns:a16="http://schemas.microsoft.com/office/drawing/2014/main" id="{A970E147-6313-40D5-A3FF-A31E40BCA1D1}"/>
              </a:ext>
            </a:extLst>
          </p:cNvPr>
          <p:cNvSpPr/>
          <p:nvPr/>
        </p:nvSpPr>
        <p:spPr>
          <a:xfrm>
            <a:off x="3201670" y="2368739"/>
            <a:ext cx="5788660" cy="759460"/>
          </a:xfrm>
          <a:prstGeom prst="roundRect">
            <a:avLst/>
          </a:prstGeom>
          <a:solidFill>
            <a:schemeClr val="bg2">
              <a:lumMod val="75000"/>
            </a:schemeClr>
          </a:solidFill>
          <a:ln>
            <a:noFill/>
          </a:ln>
          <a:effectLst>
            <a:glow rad="241300">
              <a:schemeClr val="accent3">
                <a:satMod val="175000"/>
                <a:alpha val="63000"/>
              </a:schemeClr>
            </a:glow>
            <a:outerShdw blurRad="203200" dist="127000" dir="14100000" sx="104000" sy="104000" algn="br" rotWithShape="0">
              <a:schemeClr val="accent6">
                <a:lumMod val="75000"/>
                <a:alpha val="38000"/>
              </a:schemeClr>
            </a:outerShdw>
            <a:reflection stA="45000" endPos="6000" dist="50800" dir="5400000" sy="-100000" algn="bl" rotWithShape="0"/>
          </a:effectLst>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lumMod val="85000"/>
                    <a:lumOff val="15000"/>
                  </a:schemeClr>
                </a:solidFill>
                <a:latin typeface="Footlight MT Light" panose="0204060206030A020304" pitchFamily="18" charset="0"/>
              </a:rPr>
              <a:t>DATA PRESENTATION, ANALYSIS, AND INTERPRETATION</a:t>
            </a:r>
            <a:endParaRPr lang="en-PH" sz="2800" dirty="0">
              <a:solidFill>
                <a:schemeClr val="tx1">
                  <a:lumMod val="85000"/>
                  <a:lumOff val="15000"/>
                </a:schemeClr>
              </a:solidFill>
              <a:latin typeface="Footlight MT Light" panose="0204060206030A020304" pitchFamily="18" charset="0"/>
            </a:endParaRPr>
          </a:p>
        </p:txBody>
      </p:sp>
      <p:sp>
        <p:nvSpPr>
          <p:cNvPr id="3" name="Rectangle: Rounded Corners 2">
            <a:extLst>
              <a:ext uri="{FF2B5EF4-FFF2-40B4-BE49-F238E27FC236}">
                <a16:creationId xmlns:a16="http://schemas.microsoft.com/office/drawing/2014/main" id="{0C075A75-6C78-47AF-BAD2-BEED21FD692E}"/>
              </a:ext>
            </a:extLst>
          </p:cNvPr>
          <p:cNvSpPr/>
          <p:nvPr/>
        </p:nvSpPr>
        <p:spPr>
          <a:xfrm>
            <a:off x="3201670" y="2368739"/>
            <a:ext cx="5788660" cy="759460"/>
          </a:xfrm>
          <a:prstGeom prst="roundRect">
            <a:avLst/>
          </a:prstGeom>
          <a:solidFill>
            <a:schemeClr val="accent6">
              <a:lumMod val="40000"/>
              <a:lumOff val="60000"/>
            </a:schemeClr>
          </a:solidFill>
          <a:effectLst>
            <a:glow rad="241300">
              <a:schemeClr val="accent3">
                <a:satMod val="175000"/>
                <a:alpha val="63000"/>
              </a:schemeClr>
            </a:glow>
            <a:outerShdw blurRad="203200" dist="127000" dir="14100000" sx="104000" sy="104000" algn="br" rotWithShape="0">
              <a:prstClr val="black">
                <a:alpha val="38000"/>
              </a:prstClr>
            </a:outerShdw>
          </a:effectLst>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lumMod val="85000"/>
                    <a:lumOff val="15000"/>
                  </a:schemeClr>
                </a:solidFill>
                <a:latin typeface="Footlight MT Light" panose="0204060206030A020304" pitchFamily="18" charset="0"/>
              </a:rPr>
              <a:t>CHAPTER 4</a:t>
            </a:r>
            <a:endParaRPr lang="en-PH" sz="2800" dirty="0">
              <a:solidFill>
                <a:schemeClr val="tx1">
                  <a:lumMod val="85000"/>
                  <a:lumOff val="15000"/>
                </a:schemeClr>
              </a:solidFill>
              <a:latin typeface="Footlight MT Light" panose="0204060206030A020304" pitchFamily="18" charset="0"/>
            </a:endParaRPr>
          </a:p>
        </p:txBody>
      </p:sp>
    </p:spTree>
    <p:extLst>
      <p:ext uri="{BB962C8B-B14F-4D97-AF65-F5344CB8AC3E}">
        <p14:creationId xmlns:p14="http://schemas.microsoft.com/office/powerpoint/2010/main" val="13951578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Flowchart: Process 5">
            <a:extLst>
              <a:ext uri="{FF2B5EF4-FFF2-40B4-BE49-F238E27FC236}">
                <a16:creationId xmlns:a16="http://schemas.microsoft.com/office/drawing/2014/main" id="{EC33E5D3-B3E4-410E-B2F8-52A0B937285E}"/>
              </a:ext>
            </a:extLst>
          </p:cNvPr>
          <p:cNvSpPr/>
          <p:nvPr/>
        </p:nvSpPr>
        <p:spPr>
          <a:xfrm>
            <a:off x="0" y="0"/>
            <a:ext cx="12192000" cy="6858000"/>
          </a:xfrm>
          <a:prstGeom prst="flowChartProcess">
            <a:avLst/>
          </a:prstGeom>
          <a:solidFill>
            <a:schemeClr val="bg1">
              <a:lumMod val="50000"/>
            </a:schemeClr>
          </a:solidFill>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b="1" dirty="0"/>
          </a:p>
        </p:txBody>
      </p:sp>
      <p:sp>
        <p:nvSpPr>
          <p:cNvPr id="7" name="Rectangle: Rounded Corners 6">
            <a:extLst>
              <a:ext uri="{FF2B5EF4-FFF2-40B4-BE49-F238E27FC236}">
                <a16:creationId xmlns:a16="http://schemas.microsoft.com/office/drawing/2014/main" id="{A970E147-6313-40D5-A3FF-A31E40BCA1D1}"/>
              </a:ext>
            </a:extLst>
          </p:cNvPr>
          <p:cNvSpPr/>
          <p:nvPr/>
        </p:nvSpPr>
        <p:spPr>
          <a:xfrm>
            <a:off x="2748915" y="2683698"/>
            <a:ext cx="6694170" cy="1441261"/>
          </a:xfrm>
          <a:prstGeom prst="roundRect">
            <a:avLst/>
          </a:prstGeom>
          <a:solidFill>
            <a:schemeClr val="accent6">
              <a:lumMod val="40000"/>
              <a:lumOff val="60000"/>
            </a:schemeClr>
          </a:solidFill>
          <a:ln>
            <a:noFill/>
          </a:ln>
          <a:effectLst>
            <a:glow rad="241300">
              <a:schemeClr val="accent3">
                <a:satMod val="175000"/>
                <a:alpha val="63000"/>
              </a:schemeClr>
            </a:glow>
            <a:outerShdw blurRad="203200" dist="127000" dir="14100000" sx="104000" sy="104000" algn="br" rotWithShape="0">
              <a:schemeClr val="accent6">
                <a:lumMod val="75000"/>
                <a:alpha val="38000"/>
              </a:schemeClr>
            </a:outerShdw>
            <a:reflection stA="45000" endPos="6000" dist="50800" dir="5400000" sy="-100000" algn="bl" rotWithShape="0"/>
          </a:effectLst>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lumMod val="85000"/>
                    <a:lumOff val="15000"/>
                  </a:schemeClr>
                </a:solidFill>
                <a:latin typeface="Footlight MT Light" panose="0204060206030A020304" pitchFamily="18" charset="0"/>
              </a:rPr>
              <a:t>DATA PRESENTATION, ANALYSIS, AND INTERPRETATION</a:t>
            </a:r>
            <a:endParaRPr lang="en-PH" sz="2800" dirty="0">
              <a:solidFill>
                <a:schemeClr val="tx1">
                  <a:lumMod val="85000"/>
                  <a:lumOff val="15000"/>
                </a:schemeClr>
              </a:solidFill>
              <a:latin typeface="Footlight MT Light" panose="0204060206030A020304" pitchFamily="18" charset="0"/>
            </a:endParaRPr>
          </a:p>
        </p:txBody>
      </p:sp>
      <p:sp>
        <p:nvSpPr>
          <p:cNvPr id="3" name="Rectangle: Rounded Corners 2">
            <a:extLst>
              <a:ext uri="{FF2B5EF4-FFF2-40B4-BE49-F238E27FC236}">
                <a16:creationId xmlns:a16="http://schemas.microsoft.com/office/drawing/2014/main" id="{0C075A75-6C78-47AF-BAD2-BEED21FD692E}"/>
              </a:ext>
            </a:extLst>
          </p:cNvPr>
          <p:cNvSpPr/>
          <p:nvPr/>
        </p:nvSpPr>
        <p:spPr>
          <a:xfrm>
            <a:off x="307340" y="235139"/>
            <a:ext cx="2232660" cy="587821"/>
          </a:xfrm>
          <a:prstGeom prst="roundRect">
            <a:avLst/>
          </a:prstGeom>
          <a:solidFill>
            <a:schemeClr val="bg2">
              <a:lumMod val="75000"/>
            </a:schemeClr>
          </a:solidFill>
          <a:effectLst>
            <a:glow rad="241300">
              <a:schemeClr val="accent3">
                <a:satMod val="175000"/>
                <a:alpha val="63000"/>
              </a:schemeClr>
            </a:glow>
            <a:outerShdw blurRad="203200" dist="127000" dir="14100000" sx="104000" sy="104000" algn="br" rotWithShape="0">
              <a:prstClr val="black">
                <a:alpha val="38000"/>
              </a:prstClr>
            </a:outerShdw>
          </a:effectLst>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lumMod val="85000"/>
                    <a:lumOff val="15000"/>
                  </a:schemeClr>
                </a:solidFill>
                <a:latin typeface="Footlight MT Light" panose="0204060206030A020304" pitchFamily="18" charset="0"/>
              </a:rPr>
              <a:t>CHAPTER 4</a:t>
            </a:r>
            <a:endParaRPr lang="en-PH" sz="2800" dirty="0">
              <a:solidFill>
                <a:schemeClr val="tx1">
                  <a:lumMod val="85000"/>
                  <a:lumOff val="15000"/>
                </a:schemeClr>
              </a:solidFill>
              <a:latin typeface="Footlight MT Light" panose="0204060206030A020304" pitchFamily="18" charset="0"/>
            </a:endParaRPr>
          </a:p>
        </p:txBody>
      </p:sp>
    </p:spTree>
    <p:extLst>
      <p:ext uri="{BB962C8B-B14F-4D97-AF65-F5344CB8AC3E}">
        <p14:creationId xmlns:p14="http://schemas.microsoft.com/office/powerpoint/2010/main" val="214445057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Flowchart: Process 5">
            <a:extLst>
              <a:ext uri="{FF2B5EF4-FFF2-40B4-BE49-F238E27FC236}">
                <a16:creationId xmlns:a16="http://schemas.microsoft.com/office/drawing/2014/main" id="{EC33E5D3-B3E4-410E-B2F8-52A0B937285E}"/>
              </a:ext>
            </a:extLst>
          </p:cNvPr>
          <p:cNvSpPr/>
          <p:nvPr/>
        </p:nvSpPr>
        <p:spPr>
          <a:xfrm>
            <a:off x="0" y="0"/>
            <a:ext cx="12192000" cy="6858000"/>
          </a:xfrm>
          <a:prstGeom prst="flowChartProcess">
            <a:avLst/>
          </a:prstGeom>
          <a:solidFill>
            <a:schemeClr val="bg1">
              <a:lumMod val="50000"/>
            </a:schemeClr>
          </a:solidFill>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b="1" dirty="0"/>
          </a:p>
        </p:txBody>
      </p:sp>
      <p:sp>
        <p:nvSpPr>
          <p:cNvPr id="7" name="Rectangle: Rounded Corners 6">
            <a:extLst>
              <a:ext uri="{FF2B5EF4-FFF2-40B4-BE49-F238E27FC236}">
                <a16:creationId xmlns:a16="http://schemas.microsoft.com/office/drawing/2014/main" id="{A970E147-6313-40D5-A3FF-A31E40BCA1D1}"/>
              </a:ext>
            </a:extLst>
          </p:cNvPr>
          <p:cNvSpPr/>
          <p:nvPr/>
        </p:nvSpPr>
        <p:spPr>
          <a:xfrm>
            <a:off x="3210559" y="285939"/>
            <a:ext cx="6232525" cy="445582"/>
          </a:xfrm>
          <a:prstGeom prst="roundRect">
            <a:avLst/>
          </a:prstGeom>
          <a:solidFill>
            <a:schemeClr val="bg2">
              <a:lumMod val="75000"/>
            </a:schemeClr>
          </a:solidFill>
          <a:ln>
            <a:noFill/>
          </a:ln>
          <a:effectLst>
            <a:glow rad="241300">
              <a:schemeClr val="accent3">
                <a:satMod val="175000"/>
                <a:alpha val="63000"/>
              </a:schemeClr>
            </a:glow>
            <a:outerShdw blurRad="203200" dist="127000" dir="14100000" sx="104000" sy="104000" algn="br" rotWithShape="0">
              <a:schemeClr val="accent6">
                <a:lumMod val="75000"/>
                <a:alpha val="38000"/>
              </a:schemeClr>
            </a:outerShdw>
            <a:reflection stA="45000" endPos="6000" dist="50800" dir="5400000" sy="-100000" algn="bl" rotWithShape="0"/>
          </a:effectLst>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lumMod val="85000"/>
                    <a:lumOff val="15000"/>
                  </a:schemeClr>
                </a:solidFill>
                <a:latin typeface="Footlight MT Light" panose="0204060206030A020304" pitchFamily="18" charset="0"/>
              </a:rPr>
              <a:t>DATA PRESENTATION, ANALYSIS, AND INTERPRETATION</a:t>
            </a:r>
            <a:endParaRPr lang="en-PH" sz="2000" dirty="0">
              <a:solidFill>
                <a:schemeClr val="tx1">
                  <a:lumMod val="85000"/>
                  <a:lumOff val="15000"/>
                </a:schemeClr>
              </a:solidFill>
              <a:latin typeface="Footlight MT Light" panose="0204060206030A020304" pitchFamily="18" charset="0"/>
            </a:endParaRPr>
          </a:p>
        </p:txBody>
      </p:sp>
      <p:sp>
        <p:nvSpPr>
          <p:cNvPr id="3" name="Rectangle: Rounded Corners 2">
            <a:extLst>
              <a:ext uri="{FF2B5EF4-FFF2-40B4-BE49-F238E27FC236}">
                <a16:creationId xmlns:a16="http://schemas.microsoft.com/office/drawing/2014/main" id="{0C075A75-6C78-47AF-BAD2-BEED21FD692E}"/>
              </a:ext>
            </a:extLst>
          </p:cNvPr>
          <p:cNvSpPr/>
          <p:nvPr/>
        </p:nvSpPr>
        <p:spPr>
          <a:xfrm>
            <a:off x="307340" y="235139"/>
            <a:ext cx="1958340" cy="333821"/>
          </a:xfrm>
          <a:prstGeom prst="roundRect">
            <a:avLst/>
          </a:prstGeom>
          <a:solidFill>
            <a:schemeClr val="bg2">
              <a:lumMod val="75000"/>
            </a:schemeClr>
          </a:solidFill>
          <a:effectLst>
            <a:glow rad="241300">
              <a:schemeClr val="accent3">
                <a:satMod val="175000"/>
                <a:alpha val="63000"/>
              </a:schemeClr>
            </a:glow>
            <a:outerShdw blurRad="203200" dist="127000" dir="14100000" sx="104000" sy="104000" algn="br" rotWithShape="0">
              <a:prstClr val="black">
                <a:alpha val="38000"/>
              </a:prstClr>
            </a:outerShdw>
          </a:effectLst>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lumMod val="85000"/>
                    <a:lumOff val="15000"/>
                  </a:schemeClr>
                </a:solidFill>
                <a:latin typeface="Footlight MT Light" panose="0204060206030A020304" pitchFamily="18" charset="0"/>
              </a:rPr>
              <a:t>CHAPTER 4</a:t>
            </a:r>
            <a:endParaRPr lang="en-PH" sz="2800" dirty="0">
              <a:solidFill>
                <a:schemeClr val="tx1">
                  <a:lumMod val="85000"/>
                  <a:lumOff val="15000"/>
                </a:schemeClr>
              </a:solidFill>
              <a:latin typeface="Footlight MT Light" panose="0204060206030A020304" pitchFamily="18" charset="0"/>
            </a:endParaRPr>
          </a:p>
        </p:txBody>
      </p:sp>
      <p:sp>
        <p:nvSpPr>
          <p:cNvPr id="8" name="Rectangle: Rounded Corners 7">
            <a:extLst>
              <a:ext uri="{FF2B5EF4-FFF2-40B4-BE49-F238E27FC236}">
                <a16:creationId xmlns:a16="http://schemas.microsoft.com/office/drawing/2014/main" id="{615A8474-1F96-4F19-A584-8B5679A18347}"/>
              </a:ext>
            </a:extLst>
          </p:cNvPr>
          <p:cNvSpPr/>
          <p:nvPr/>
        </p:nvSpPr>
        <p:spPr>
          <a:xfrm>
            <a:off x="1371600" y="3190240"/>
            <a:ext cx="9448800" cy="1036320"/>
          </a:xfrm>
          <a:prstGeom prst="roundRect">
            <a:avLst/>
          </a:prstGeom>
          <a:solidFill>
            <a:schemeClr val="accent1">
              <a:lumMod val="60000"/>
              <a:lumOff val="40000"/>
            </a:schemeClr>
          </a:solidFill>
          <a:ln>
            <a:solidFill>
              <a:schemeClr val="bg1">
                <a:lumMod val="85000"/>
              </a:schemeClr>
            </a:solidFill>
          </a:ln>
          <a:effectLst>
            <a:glow rad="165100">
              <a:schemeClr val="accent4">
                <a:satMod val="175000"/>
                <a:alpha val="40000"/>
              </a:schemeClr>
            </a:glow>
            <a:outerShdw blurRad="584200" dist="38100" dir="8100000" sx="104000" sy="104000" algn="tr" rotWithShape="0">
              <a:prstClr val="black">
                <a:alpha val="50000"/>
              </a:prstClr>
            </a:outerShdw>
          </a:effectLst>
          <a:scene3d>
            <a:camera prst="orthographicFront"/>
            <a:lightRig rig="threePt" dir="t"/>
          </a:scene3d>
          <a:sp3d>
            <a:bevelT w="165100" prst="coolSlan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07000"/>
              </a:lnSpc>
              <a:spcAft>
                <a:spcPts val="800"/>
              </a:spcAft>
            </a:pPr>
            <a:r>
              <a:rPr lang="en-GB" sz="2400" b="1" dirty="0">
                <a:solidFill>
                  <a:schemeClr val="tx1">
                    <a:lumMod val="85000"/>
                    <a:lumOff val="15000"/>
                  </a:schemeClr>
                </a:solidFill>
                <a:effectLst/>
                <a:latin typeface="Agency FB" panose="020B0503020202020204" pitchFamily="34" charset="0"/>
                <a:ea typeface="Verdana" panose="020B0604030504040204" pitchFamily="34" charset="0"/>
                <a:cs typeface="Verdana" panose="020B0604030504040204" pitchFamily="34" charset="0"/>
              </a:rPr>
              <a:t> Table 1: The Determinants of Smartphone addiction of the Respondents.</a:t>
            </a:r>
            <a:endParaRPr lang="en-PH" sz="2400" dirty="0">
              <a:solidFill>
                <a:schemeClr val="tx1">
                  <a:lumMod val="85000"/>
                  <a:lumOff val="15000"/>
                </a:schemeClr>
              </a:solidFill>
              <a:effectLst/>
              <a:latin typeface="Agency FB" panose="020B0503020202020204" pitchFamily="34" charset="0"/>
              <a:ea typeface="Calibri" panose="020F0502020204030204" pitchFamily="34" charset="0"/>
            </a:endParaRPr>
          </a:p>
        </p:txBody>
      </p:sp>
    </p:spTree>
    <p:extLst>
      <p:ext uri="{BB962C8B-B14F-4D97-AF65-F5344CB8AC3E}">
        <p14:creationId xmlns:p14="http://schemas.microsoft.com/office/powerpoint/2010/main" val="267255163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Flowchart: Process 5">
            <a:extLst>
              <a:ext uri="{FF2B5EF4-FFF2-40B4-BE49-F238E27FC236}">
                <a16:creationId xmlns:a16="http://schemas.microsoft.com/office/drawing/2014/main" id="{EC33E5D3-B3E4-410E-B2F8-52A0B937285E}"/>
              </a:ext>
            </a:extLst>
          </p:cNvPr>
          <p:cNvSpPr/>
          <p:nvPr/>
        </p:nvSpPr>
        <p:spPr>
          <a:xfrm>
            <a:off x="0" y="0"/>
            <a:ext cx="12192000" cy="6858000"/>
          </a:xfrm>
          <a:prstGeom prst="flowChartProcess">
            <a:avLst/>
          </a:prstGeom>
          <a:solidFill>
            <a:schemeClr val="bg1">
              <a:lumMod val="50000"/>
            </a:schemeClr>
          </a:solidFill>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b="1" dirty="0"/>
          </a:p>
        </p:txBody>
      </p:sp>
      <p:sp>
        <p:nvSpPr>
          <p:cNvPr id="7" name="Rectangle: Rounded Corners 6">
            <a:extLst>
              <a:ext uri="{FF2B5EF4-FFF2-40B4-BE49-F238E27FC236}">
                <a16:creationId xmlns:a16="http://schemas.microsoft.com/office/drawing/2014/main" id="{A970E147-6313-40D5-A3FF-A31E40BCA1D1}"/>
              </a:ext>
            </a:extLst>
          </p:cNvPr>
          <p:cNvSpPr/>
          <p:nvPr/>
        </p:nvSpPr>
        <p:spPr>
          <a:xfrm>
            <a:off x="3210559" y="285939"/>
            <a:ext cx="6232525" cy="445582"/>
          </a:xfrm>
          <a:prstGeom prst="roundRect">
            <a:avLst/>
          </a:prstGeom>
          <a:solidFill>
            <a:schemeClr val="bg2">
              <a:lumMod val="75000"/>
            </a:schemeClr>
          </a:solidFill>
          <a:ln>
            <a:noFill/>
          </a:ln>
          <a:effectLst>
            <a:glow rad="241300">
              <a:schemeClr val="accent3">
                <a:satMod val="175000"/>
                <a:alpha val="63000"/>
              </a:schemeClr>
            </a:glow>
            <a:outerShdw blurRad="203200" dist="127000" dir="14100000" sx="104000" sy="104000" algn="br" rotWithShape="0">
              <a:schemeClr val="accent6">
                <a:lumMod val="75000"/>
                <a:alpha val="38000"/>
              </a:schemeClr>
            </a:outerShdw>
            <a:reflection stA="45000" endPos="6000" dist="50800" dir="5400000" sy="-100000" algn="bl" rotWithShape="0"/>
          </a:effectLst>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lumMod val="85000"/>
                    <a:lumOff val="15000"/>
                  </a:schemeClr>
                </a:solidFill>
                <a:latin typeface="Footlight MT Light" panose="0204060206030A020304" pitchFamily="18" charset="0"/>
              </a:rPr>
              <a:t>DATA PRESENTATION, ANALYSIS, AND INTERPRETATION</a:t>
            </a:r>
            <a:endParaRPr lang="en-PH" sz="2000" dirty="0">
              <a:solidFill>
                <a:schemeClr val="tx1">
                  <a:lumMod val="85000"/>
                  <a:lumOff val="15000"/>
                </a:schemeClr>
              </a:solidFill>
              <a:latin typeface="Footlight MT Light" panose="0204060206030A020304" pitchFamily="18" charset="0"/>
            </a:endParaRPr>
          </a:p>
        </p:txBody>
      </p:sp>
      <p:sp>
        <p:nvSpPr>
          <p:cNvPr id="3" name="Rectangle: Rounded Corners 2">
            <a:extLst>
              <a:ext uri="{FF2B5EF4-FFF2-40B4-BE49-F238E27FC236}">
                <a16:creationId xmlns:a16="http://schemas.microsoft.com/office/drawing/2014/main" id="{0C075A75-6C78-47AF-BAD2-BEED21FD692E}"/>
              </a:ext>
            </a:extLst>
          </p:cNvPr>
          <p:cNvSpPr/>
          <p:nvPr/>
        </p:nvSpPr>
        <p:spPr>
          <a:xfrm>
            <a:off x="307340" y="235139"/>
            <a:ext cx="1958340" cy="333821"/>
          </a:xfrm>
          <a:prstGeom prst="roundRect">
            <a:avLst/>
          </a:prstGeom>
          <a:solidFill>
            <a:schemeClr val="bg2">
              <a:lumMod val="75000"/>
            </a:schemeClr>
          </a:solidFill>
          <a:effectLst>
            <a:glow rad="241300">
              <a:schemeClr val="accent3">
                <a:satMod val="175000"/>
                <a:alpha val="63000"/>
              </a:schemeClr>
            </a:glow>
            <a:outerShdw blurRad="203200" dist="127000" dir="14100000" sx="104000" sy="104000" algn="br" rotWithShape="0">
              <a:prstClr val="black">
                <a:alpha val="38000"/>
              </a:prstClr>
            </a:outerShdw>
          </a:effectLst>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lumMod val="85000"/>
                    <a:lumOff val="15000"/>
                  </a:schemeClr>
                </a:solidFill>
                <a:latin typeface="Footlight MT Light" panose="0204060206030A020304" pitchFamily="18" charset="0"/>
              </a:rPr>
              <a:t>CHAPTER 4</a:t>
            </a:r>
            <a:endParaRPr lang="en-PH" sz="2800" dirty="0">
              <a:solidFill>
                <a:schemeClr val="tx1">
                  <a:lumMod val="85000"/>
                  <a:lumOff val="15000"/>
                </a:schemeClr>
              </a:solidFill>
              <a:latin typeface="Footlight MT Light" panose="0204060206030A020304" pitchFamily="18" charset="0"/>
            </a:endParaRPr>
          </a:p>
        </p:txBody>
      </p:sp>
      <p:sp>
        <p:nvSpPr>
          <p:cNvPr id="2" name="Flowchart: Process 1">
            <a:extLst>
              <a:ext uri="{FF2B5EF4-FFF2-40B4-BE49-F238E27FC236}">
                <a16:creationId xmlns:a16="http://schemas.microsoft.com/office/drawing/2014/main" id="{BBE9D9C3-7B39-44BF-BE2F-05FF48CC301A}"/>
              </a:ext>
            </a:extLst>
          </p:cNvPr>
          <p:cNvSpPr/>
          <p:nvPr/>
        </p:nvSpPr>
        <p:spPr>
          <a:xfrm>
            <a:off x="579120" y="1026160"/>
            <a:ext cx="11135360" cy="5323840"/>
          </a:xfrm>
          <a:prstGeom prst="flowChartProcess">
            <a:avLst/>
          </a:prstGeom>
          <a:blipFill dpi="0" rotWithShape="1">
            <a:blip r:embed="rId2"/>
            <a:srcRect/>
            <a:stretch>
              <a:fillRect r="-1000"/>
            </a:stretch>
          </a:bli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p>
        </p:txBody>
      </p:sp>
    </p:spTree>
    <p:extLst>
      <p:ext uri="{BB962C8B-B14F-4D97-AF65-F5344CB8AC3E}">
        <p14:creationId xmlns:p14="http://schemas.microsoft.com/office/powerpoint/2010/main" val="166748627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Flowchart: Process 5">
            <a:extLst>
              <a:ext uri="{FF2B5EF4-FFF2-40B4-BE49-F238E27FC236}">
                <a16:creationId xmlns:a16="http://schemas.microsoft.com/office/drawing/2014/main" id="{EC33E5D3-B3E4-410E-B2F8-52A0B937285E}"/>
              </a:ext>
            </a:extLst>
          </p:cNvPr>
          <p:cNvSpPr/>
          <p:nvPr/>
        </p:nvSpPr>
        <p:spPr>
          <a:xfrm>
            <a:off x="0" y="0"/>
            <a:ext cx="12192000" cy="6858000"/>
          </a:xfrm>
          <a:prstGeom prst="flowChartProcess">
            <a:avLst/>
          </a:prstGeom>
          <a:solidFill>
            <a:schemeClr val="bg1">
              <a:lumMod val="50000"/>
            </a:schemeClr>
          </a:solidFill>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b="1" dirty="0"/>
          </a:p>
        </p:txBody>
      </p:sp>
      <p:sp>
        <p:nvSpPr>
          <p:cNvPr id="7" name="Rectangle: Rounded Corners 6">
            <a:extLst>
              <a:ext uri="{FF2B5EF4-FFF2-40B4-BE49-F238E27FC236}">
                <a16:creationId xmlns:a16="http://schemas.microsoft.com/office/drawing/2014/main" id="{A970E147-6313-40D5-A3FF-A31E40BCA1D1}"/>
              </a:ext>
            </a:extLst>
          </p:cNvPr>
          <p:cNvSpPr/>
          <p:nvPr/>
        </p:nvSpPr>
        <p:spPr>
          <a:xfrm>
            <a:off x="3210559" y="285939"/>
            <a:ext cx="6232525" cy="445582"/>
          </a:xfrm>
          <a:prstGeom prst="roundRect">
            <a:avLst/>
          </a:prstGeom>
          <a:solidFill>
            <a:schemeClr val="bg2">
              <a:lumMod val="75000"/>
            </a:schemeClr>
          </a:solidFill>
          <a:ln>
            <a:noFill/>
          </a:ln>
          <a:effectLst>
            <a:glow rad="241300">
              <a:schemeClr val="accent3">
                <a:satMod val="175000"/>
                <a:alpha val="63000"/>
              </a:schemeClr>
            </a:glow>
            <a:outerShdw blurRad="203200" dist="127000" dir="14100000" sx="104000" sy="104000" algn="br" rotWithShape="0">
              <a:schemeClr val="accent6">
                <a:lumMod val="75000"/>
                <a:alpha val="38000"/>
              </a:schemeClr>
            </a:outerShdw>
            <a:reflection stA="45000" endPos="6000" dist="50800" dir="5400000" sy="-100000" algn="bl" rotWithShape="0"/>
          </a:effectLst>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lumMod val="85000"/>
                    <a:lumOff val="15000"/>
                  </a:schemeClr>
                </a:solidFill>
                <a:latin typeface="Footlight MT Light" panose="0204060206030A020304" pitchFamily="18" charset="0"/>
              </a:rPr>
              <a:t>DATA PRESENTATION, ANALYSIS, AND INTERPRETATION</a:t>
            </a:r>
            <a:endParaRPr lang="en-PH" sz="2000" dirty="0">
              <a:solidFill>
                <a:schemeClr val="tx1">
                  <a:lumMod val="85000"/>
                  <a:lumOff val="15000"/>
                </a:schemeClr>
              </a:solidFill>
              <a:latin typeface="Footlight MT Light" panose="0204060206030A020304" pitchFamily="18" charset="0"/>
            </a:endParaRPr>
          </a:p>
        </p:txBody>
      </p:sp>
      <p:sp>
        <p:nvSpPr>
          <p:cNvPr id="3" name="Rectangle: Rounded Corners 2">
            <a:extLst>
              <a:ext uri="{FF2B5EF4-FFF2-40B4-BE49-F238E27FC236}">
                <a16:creationId xmlns:a16="http://schemas.microsoft.com/office/drawing/2014/main" id="{0C075A75-6C78-47AF-BAD2-BEED21FD692E}"/>
              </a:ext>
            </a:extLst>
          </p:cNvPr>
          <p:cNvSpPr/>
          <p:nvPr/>
        </p:nvSpPr>
        <p:spPr>
          <a:xfrm>
            <a:off x="307340" y="235139"/>
            <a:ext cx="1958340" cy="333821"/>
          </a:xfrm>
          <a:prstGeom prst="roundRect">
            <a:avLst/>
          </a:prstGeom>
          <a:solidFill>
            <a:schemeClr val="bg2">
              <a:lumMod val="75000"/>
            </a:schemeClr>
          </a:solidFill>
          <a:effectLst>
            <a:glow rad="241300">
              <a:schemeClr val="accent3">
                <a:satMod val="175000"/>
                <a:alpha val="63000"/>
              </a:schemeClr>
            </a:glow>
            <a:outerShdw blurRad="203200" dist="127000" dir="14100000" sx="104000" sy="104000" algn="br" rotWithShape="0">
              <a:prstClr val="black">
                <a:alpha val="38000"/>
              </a:prstClr>
            </a:outerShdw>
          </a:effectLst>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lumMod val="85000"/>
                    <a:lumOff val="15000"/>
                  </a:schemeClr>
                </a:solidFill>
                <a:latin typeface="Footlight MT Light" panose="0204060206030A020304" pitchFamily="18" charset="0"/>
              </a:rPr>
              <a:t>CHAPTER 4</a:t>
            </a:r>
            <a:endParaRPr lang="en-PH" sz="2800" dirty="0">
              <a:solidFill>
                <a:schemeClr val="tx1">
                  <a:lumMod val="85000"/>
                  <a:lumOff val="15000"/>
                </a:schemeClr>
              </a:solidFill>
              <a:latin typeface="Footlight MT Light" panose="0204060206030A020304" pitchFamily="18" charset="0"/>
            </a:endParaRPr>
          </a:p>
        </p:txBody>
      </p:sp>
      <p:sp>
        <p:nvSpPr>
          <p:cNvPr id="8" name="Rectangle: Rounded Corners 7">
            <a:extLst>
              <a:ext uri="{FF2B5EF4-FFF2-40B4-BE49-F238E27FC236}">
                <a16:creationId xmlns:a16="http://schemas.microsoft.com/office/drawing/2014/main" id="{615A8474-1F96-4F19-A584-8B5679A18347}"/>
              </a:ext>
            </a:extLst>
          </p:cNvPr>
          <p:cNvSpPr/>
          <p:nvPr/>
        </p:nvSpPr>
        <p:spPr>
          <a:xfrm>
            <a:off x="882015" y="2357121"/>
            <a:ext cx="10427970" cy="3515360"/>
          </a:xfrm>
          <a:prstGeom prst="roundRect">
            <a:avLst/>
          </a:prstGeom>
          <a:solidFill>
            <a:schemeClr val="bg1">
              <a:lumMod val="75000"/>
            </a:schemeClr>
          </a:solidFill>
          <a:ln>
            <a:solidFill>
              <a:schemeClr val="bg1">
                <a:lumMod val="85000"/>
              </a:schemeClr>
            </a:solidFill>
          </a:ln>
          <a:effectLst>
            <a:glow rad="165100">
              <a:schemeClr val="accent4">
                <a:satMod val="175000"/>
                <a:alpha val="40000"/>
              </a:schemeClr>
            </a:glow>
            <a:outerShdw blurRad="584200" dist="38100" dir="8100000" sx="104000" sy="104000" algn="tr" rotWithShape="0">
              <a:prstClr val="black">
                <a:alpha val="50000"/>
              </a:prstClr>
            </a:outerShdw>
          </a:effectLst>
          <a:scene3d>
            <a:camera prst="orthographicFront"/>
            <a:lightRig rig="threePt" dir="t"/>
          </a:scene3d>
          <a:sp3d>
            <a:bevelT w="165100" prst="coolSlan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lnSpc>
                <a:spcPct val="107000"/>
              </a:lnSpc>
              <a:spcAft>
                <a:spcPts val="800"/>
              </a:spcAft>
            </a:pPr>
            <a:r>
              <a:rPr lang="en-US" sz="2400" b="1" dirty="0">
                <a:solidFill>
                  <a:schemeClr val="tx1">
                    <a:lumMod val="85000"/>
                    <a:lumOff val="15000"/>
                  </a:schemeClr>
                </a:solidFill>
                <a:effectLst/>
                <a:latin typeface="Agency FB" panose="020B0503020202020204" pitchFamily="34" charset="0"/>
                <a:ea typeface="Verdana" panose="020B0604030504040204" pitchFamily="34" charset="0"/>
                <a:cs typeface="Verdana" panose="020B0604030504040204" pitchFamily="34" charset="0"/>
              </a:rPr>
              <a:t>A five-point scale (highly addicted to not addicted) was used in a study to assess addiction levels across five categories, such as cravings, social relationships, and smartphone addiction. In the "moderately addicted" group, smartphone addiction had the highest proportion (3719%; this was probably a typographical error; it should have been 37.19%). This implies that a sizable percentage of participants engaged in moderately problematic smartphone use. Although some studies divide smartphone use into several behavioral categories (dependent, habitual, etc.), it's crucial to remember that excessive use isn't always bad; in fact, it may even lessen other bad habits.</a:t>
            </a:r>
            <a:endParaRPr lang="en-PH" sz="2400" dirty="0">
              <a:solidFill>
                <a:schemeClr val="tx1">
                  <a:lumMod val="85000"/>
                  <a:lumOff val="15000"/>
                </a:schemeClr>
              </a:solidFill>
              <a:effectLst/>
              <a:latin typeface="Agency FB" panose="020B0503020202020204" pitchFamily="34" charset="0"/>
              <a:ea typeface="Calibri" panose="020F0502020204030204" pitchFamily="34" charset="0"/>
            </a:endParaRPr>
          </a:p>
        </p:txBody>
      </p:sp>
    </p:spTree>
    <p:extLst>
      <p:ext uri="{BB962C8B-B14F-4D97-AF65-F5344CB8AC3E}">
        <p14:creationId xmlns:p14="http://schemas.microsoft.com/office/powerpoint/2010/main" val="189495821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Flowchart: Process 5">
            <a:extLst>
              <a:ext uri="{FF2B5EF4-FFF2-40B4-BE49-F238E27FC236}">
                <a16:creationId xmlns:a16="http://schemas.microsoft.com/office/drawing/2014/main" id="{EC33E5D3-B3E4-410E-B2F8-52A0B937285E}"/>
              </a:ext>
            </a:extLst>
          </p:cNvPr>
          <p:cNvSpPr/>
          <p:nvPr/>
        </p:nvSpPr>
        <p:spPr>
          <a:xfrm>
            <a:off x="0" y="0"/>
            <a:ext cx="12192000" cy="6858000"/>
          </a:xfrm>
          <a:prstGeom prst="flowChartProcess">
            <a:avLst/>
          </a:prstGeom>
          <a:solidFill>
            <a:schemeClr val="bg1">
              <a:lumMod val="50000"/>
            </a:schemeClr>
          </a:solidFill>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b="1" dirty="0"/>
          </a:p>
        </p:txBody>
      </p:sp>
      <p:sp>
        <p:nvSpPr>
          <p:cNvPr id="7" name="Rectangle: Rounded Corners 6">
            <a:extLst>
              <a:ext uri="{FF2B5EF4-FFF2-40B4-BE49-F238E27FC236}">
                <a16:creationId xmlns:a16="http://schemas.microsoft.com/office/drawing/2014/main" id="{A970E147-6313-40D5-A3FF-A31E40BCA1D1}"/>
              </a:ext>
            </a:extLst>
          </p:cNvPr>
          <p:cNvSpPr/>
          <p:nvPr/>
        </p:nvSpPr>
        <p:spPr>
          <a:xfrm>
            <a:off x="3210559" y="285939"/>
            <a:ext cx="6232525" cy="445582"/>
          </a:xfrm>
          <a:prstGeom prst="roundRect">
            <a:avLst/>
          </a:prstGeom>
          <a:solidFill>
            <a:schemeClr val="bg2">
              <a:lumMod val="75000"/>
            </a:schemeClr>
          </a:solidFill>
          <a:ln>
            <a:noFill/>
          </a:ln>
          <a:effectLst>
            <a:glow rad="241300">
              <a:schemeClr val="accent3">
                <a:satMod val="175000"/>
                <a:alpha val="63000"/>
              </a:schemeClr>
            </a:glow>
            <a:outerShdw blurRad="203200" dist="127000" dir="14100000" sx="104000" sy="104000" algn="br" rotWithShape="0">
              <a:schemeClr val="accent6">
                <a:lumMod val="75000"/>
                <a:alpha val="38000"/>
              </a:schemeClr>
            </a:outerShdw>
            <a:reflection stA="45000" endPos="6000" dist="50800" dir="5400000" sy="-100000" algn="bl" rotWithShape="0"/>
          </a:effectLst>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lumMod val="85000"/>
                    <a:lumOff val="15000"/>
                  </a:schemeClr>
                </a:solidFill>
                <a:latin typeface="Footlight MT Light" panose="0204060206030A020304" pitchFamily="18" charset="0"/>
              </a:rPr>
              <a:t>DATA PRESENTATION, ANALYSIS, AND INTERPRETATION</a:t>
            </a:r>
            <a:endParaRPr lang="en-PH" sz="2000" dirty="0">
              <a:solidFill>
                <a:schemeClr val="tx1">
                  <a:lumMod val="85000"/>
                  <a:lumOff val="15000"/>
                </a:schemeClr>
              </a:solidFill>
              <a:latin typeface="Footlight MT Light" panose="0204060206030A020304" pitchFamily="18" charset="0"/>
            </a:endParaRPr>
          </a:p>
        </p:txBody>
      </p:sp>
      <p:sp>
        <p:nvSpPr>
          <p:cNvPr id="3" name="Rectangle: Rounded Corners 2">
            <a:extLst>
              <a:ext uri="{FF2B5EF4-FFF2-40B4-BE49-F238E27FC236}">
                <a16:creationId xmlns:a16="http://schemas.microsoft.com/office/drawing/2014/main" id="{0C075A75-6C78-47AF-BAD2-BEED21FD692E}"/>
              </a:ext>
            </a:extLst>
          </p:cNvPr>
          <p:cNvSpPr/>
          <p:nvPr/>
        </p:nvSpPr>
        <p:spPr>
          <a:xfrm>
            <a:off x="307340" y="235139"/>
            <a:ext cx="1958340" cy="333821"/>
          </a:xfrm>
          <a:prstGeom prst="roundRect">
            <a:avLst/>
          </a:prstGeom>
          <a:solidFill>
            <a:schemeClr val="bg2">
              <a:lumMod val="75000"/>
            </a:schemeClr>
          </a:solidFill>
          <a:effectLst>
            <a:glow rad="241300">
              <a:schemeClr val="accent3">
                <a:satMod val="175000"/>
                <a:alpha val="63000"/>
              </a:schemeClr>
            </a:glow>
            <a:outerShdw blurRad="203200" dist="127000" dir="14100000" sx="104000" sy="104000" algn="br" rotWithShape="0">
              <a:prstClr val="black">
                <a:alpha val="38000"/>
              </a:prstClr>
            </a:outerShdw>
          </a:effectLst>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lumMod val="85000"/>
                    <a:lumOff val="15000"/>
                  </a:schemeClr>
                </a:solidFill>
                <a:latin typeface="Footlight MT Light" panose="0204060206030A020304" pitchFamily="18" charset="0"/>
              </a:rPr>
              <a:t>CHAPTER 4</a:t>
            </a:r>
            <a:endParaRPr lang="en-PH" sz="2800" dirty="0">
              <a:solidFill>
                <a:schemeClr val="tx1">
                  <a:lumMod val="85000"/>
                  <a:lumOff val="15000"/>
                </a:schemeClr>
              </a:solidFill>
              <a:latin typeface="Footlight MT Light" panose="0204060206030A020304" pitchFamily="18" charset="0"/>
            </a:endParaRPr>
          </a:p>
        </p:txBody>
      </p:sp>
      <p:sp>
        <p:nvSpPr>
          <p:cNvPr id="8" name="Rectangle: Rounded Corners 7">
            <a:extLst>
              <a:ext uri="{FF2B5EF4-FFF2-40B4-BE49-F238E27FC236}">
                <a16:creationId xmlns:a16="http://schemas.microsoft.com/office/drawing/2014/main" id="{615A8474-1F96-4F19-A584-8B5679A18347}"/>
              </a:ext>
            </a:extLst>
          </p:cNvPr>
          <p:cNvSpPr/>
          <p:nvPr/>
        </p:nvSpPr>
        <p:spPr>
          <a:xfrm>
            <a:off x="2412047" y="3261361"/>
            <a:ext cx="7367905" cy="711199"/>
          </a:xfrm>
          <a:prstGeom prst="roundRect">
            <a:avLst/>
          </a:prstGeom>
          <a:solidFill>
            <a:schemeClr val="bg1">
              <a:lumMod val="75000"/>
            </a:schemeClr>
          </a:solidFill>
          <a:ln>
            <a:solidFill>
              <a:schemeClr val="bg1">
                <a:lumMod val="85000"/>
              </a:schemeClr>
            </a:solidFill>
          </a:ln>
          <a:effectLst>
            <a:glow rad="165100">
              <a:schemeClr val="accent4">
                <a:satMod val="175000"/>
                <a:alpha val="40000"/>
              </a:schemeClr>
            </a:glow>
            <a:outerShdw blurRad="584200" dist="38100" dir="8100000" sx="104000" sy="104000" algn="tr" rotWithShape="0">
              <a:prstClr val="black">
                <a:alpha val="50000"/>
              </a:prstClr>
            </a:outerShdw>
          </a:effectLst>
          <a:scene3d>
            <a:camera prst="orthographicFront"/>
            <a:lightRig rig="threePt" dir="t"/>
          </a:scene3d>
          <a:sp3d>
            <a:bevelT w="165100" prst="coolSlan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lnSpc>
                <a:spcPct val="107000"/>
              </a:lnSpc>
              <a:spcAft>
                <a:spcPts val="800"/>
              </a:spcAft>
            </a:pPr>
            <a:r>
              <a:rPr lang="en-GB" sz="2800" b="1" dirty="0">
                <a:solidFill>
                  <a:schemeClr val="tx1">
                    <a:lumMod val="85000"/>
                    <a:lumOff val="15000"/>
                  </a:schemeClr>
                </a:solidFill>
                <a:effectLst/>
                <a:latin typeface="Agency FB" panose="020B0503020202020204" pitchFamily="34" charset="0"/>
                <a:ea typeface="Verdana" panose="020B0604030504040204" pitchFamily="34" charset="0"/>
                <a:cs typeface="Verdana" panose="020B0604030504040204" pitchFamily="34" charset="0"/>
              </a:rPr>
              <a:t>TABLE 2:</a:t>
            </a:r>
            <a:r>
              <a:rPr lang="en-GB" sz="2800" dirty="0">
                <a:solidFill>
                  <a:schemeClr val="tx1">
                    <a:lumMod val="85000"/>
                    <a:lumOff val="15000"/>
                  </a:schemeClr>
                </a:solidFill>
                <a:effectLst/>
                <a:latin typeface="Agency FB" panose="020B0503020202020204" pitchFamily="34" charset="0"/>
                <a:ea typeface="Verdana" panose="020B0604030504040204" pitchFamily="34" charset="0"/>
                <a:cs typeface="Verdana" panose="020B0604030504040204" pitchFamily="34" charset="0"/>
              </a:rPr>
              <a:t> </a:t>
            </a:r>
            <a:r>
              <a:rPr lang="en-GB" sz="2800" b="1" dirty="0">
                <a:solidFill>
                  <a:schemeClr val="tx1">
                    <a:lumMod val="85000"/>
                    <a:lumOff val="15000"/>
                  </a:schemeClr>
                </a:solidFill>
                <a:effectLst/>
                <a:latin typeface="Agency FB" panose="020B0503020202020204" pitchFamily="34" charset="0"/>
                <a:ea typeface="Verdana" panose="020B0604030504040204" pitchFamily="34" charset="0"/>
                <a:cs typeface="Verdana" panose="020B0604030504040204" pitchFamily="34" charset="0"/>
              </a:rPr>
              <a:t>The Academic Performance of the Respondents</a:t>
            </a:r>
            <a:endParaRPr lang="en-PH" sz="3600" dirty="0">
              <a:solidFill>
                <a:schemeClr val="tx1">
                  <a:lumMod val="85000"/>
                  <a:lumOff val="15000"/>
                </a:schemeClr>
              </a:solidFill>
              <a:effectLst/>
              <a:latin typeface="Agency FB" panose="020B0503020202020204" pitchFamily="34" charset="0"/>
              <a:ea typeface="Calibri" panose="020F0502020204030204" pitchFamily="34" charset="0"/>
            </a:endParaRPr>
          </a:p>
        </p:txBody>
      </p:sp>
    </p:spTree>
    <p:extLst>
      <p:ext uri="{BB962C8B-B14F-4D97-AF65-F5344CB8AC3E}">
        <p14:creationId xmlns:p14="http://schemas.microsoft.com/office/powerpoint/2010/main" val="139333339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Flowchart: Process 5">
            <a:extLst>
              <a:ext uri="{FF2B5EF4-FFF2-40B4-BE49-F238E27FC236}">
                <a16:creationId xmlns:a16="http://schemas.microsoft.com/office/drawing/2014/main" id="{EC33E5D3-B3E4-410E-B2F8-52A0B937285E}"/>
              </a:ext>
            </a:extLst>
          </p:cNvPr>
          <p:cNvSpPr/>
          <p:nvPr/>
        </p:nvSpPr>
        <p:spPr>
          <a:xfrm>
            <a:off x="0" y="0"/>
            <a:ext cx="12192000" cy="6858000"/>
          </a:xfrm>
          <a:prstGeom prst="flowChartProcess">
            <a:avLst/>
          </a:prstGeom>
          <a:solidFill>
            <a:schemeClr val="bg1">
              <a:lumMod val="50000"/>
            </a:schemeClr>
          </a:solidFill>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b="1" dirty="0"/>
          </a:p>
        </p:txBody>
      </p:sp>
      <p:sp>
        <p:nvSpPr>
          <p:cNvPr id="7" name="Rectangle: Rounded Corners 6">
            <a:extLst>
              <a:ext uri="{FF2B5EF4-FFF2-40B4-BE49-F238E27FC236}">
                <a16:creationId xmlns:a16="http://schemas.microsoft.com/office/drawing/2014/main" id="{A970E147-6313-40D5-A3FF-A31E40BCA1D1}"/>
              </a:ext>
            </a:extLst>
          </p:cNvPr>
          <p:cNvSpPr/>
          <p:nvPr/>
        </p:nvSpPr>
        <p:spPr>
          <a:xfrm>
            <a:off x="3210559" y="285939"/>
            <a:ext cx="6232525" cy="445582"/>
          </a:xfrm>
          <a:prstGeom prst="roundRect">
            <a:avLst/>
          </a:prstGeom>
          <a:solidFill>
            <a:schemeClr val="bg2">
              <a:lumMod val="75000"/>
            </a:schemeClr>
          </a:solidFill>
          <a:ln>
            <a:noFill/>
          </a:ln>
          <a:effectLst>
            <a:glow rad="241300">
              <a:schemeClr val="accent3">
                <a:satMod val="175000"/>
                <a:alpha val="63000"/>
              </a:schemeClr>
            </a:glow>
            <a:outerShdw blurRad="203200" dist="127000" dir="14100000" sx="104000" sy="104000" algn="br" rotWithShape="0">
              <a:schemeClr val="accent6">
                <a:lumMod val="75000"/>
                <a:alpha val="38000"/>
              </a:schemeClr>
            </a:outerShdw>
            <a:reflection stA="45000" endPos="6000" dist="50800" dir="5400000" sy="-100000" algn="bl" rotWithShape="0"/>
          </a:effectLst>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lumMod val="85000"/>
                    <a:lumOff val="15000"/>
                  </a:schemeClr>
                </a:solidFill>
                <a:latin typeface="Footlight MT Light" panose="0204060206030A020304" pitchFamily="18" charset="0"/>
              </a:rPr>
              <a:t>DATA PRESENTATION, ANALYSIS, AND INTERPRETATION</a:t>
            </a:r>
            <a:endParaRPr lang="en-PH" sz="2000" dirty="0">
              <a:solidFill>
                <a:schemeClr val="tx1">
                  <a:lumMod val="85000"/>
                  <a:lumOff val="15000"/>
                </a:schemeClr>
              </a:solidFill>
              <a:latin typeface="Footlight MT Light" panose="0204060206030A020304" pitchFamily="18" charset="0"/>
            </a:endParaRPr>
          </a:p>
        </p:txBody>
      </p:sp>
      <p:sp>
        <p:nvSpPr>
          <p:cNvPr id="3" name="Rectangle: Rounded Corners 2">
            <a:extLst>
              <a:ext uri="{FF2B5EF4-FFF2-40B4-BE49-F238E27FC236}">
                <a16:creationId xmlns:a16="http://schemas.microsoft.com/office/drawing/2014/main" id="{0C075A75-6C78-47AF-BAD2-BEED21FD692E}"/>
              </a:ext>
            </a:extLst>
          </p:cNvPr>
          <p:cNvSpPr/>
          <p:nvPr/>
        </p:nvSpPr>
        <p:spPr>
          <a:xfrm>
            <a:off x="307340" y="235139"/>
            <a:ext cx="1958340" cy="333821"/>
          </a:xfrm>
          <a:prstGeom prst="roundRect">
            <a:avLst/>
          </a:prstGeom>
          <a:solidFill>
            <a:schemeClr val="bg2">
              <a:lumMod val="75000"/>
            </a:schemeClr>
          </a:solidFill>
          <a:effectLst>
            <a:glow rad="241300">
              <a:schemeClr val="accent3">
                <a:satMod val="175000"/>
                <a:alpha val="63000"/>
              </a:schemeClr>
            </a:glow>
            <a:outerShdw blurRad="203200" dist="127000" dir="14100000" sx="104000" sy="104000" algn="br" rotWithShape="0">
              <a:prstClr val="black">
                <a:alpha val="38000"/>
              </a:prstClr>
            </a:outerShdw>
          </a:effectLst>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lumMod val="85000"/>
                    <a:lumOff val="15000"/>
                  </a:schemeClr>
                </a:solidFill>
                <a:latin typeface="Footlight MT Light" panose="0204060206030A020304" pitchFamily="18" charset="0"/>
              </a:rPr>
              <a:t>CHAPTER 4</a:t>
            </a:r>
            <a:endParaRPr lang="en-PH" sz="2800" dirty="0">
              <a:solidFill>
                <a:schemeClr val="tx1">
                  <a:lumMod val="85000"/>
                  <a:lumOff val="15000"/>
                </a:schemeClr>
              </a:solidFill>
              <a:latin typeface="Footlight MT Light" panose="0204060206030A020304" pitchFamily="18" charset="0"/>
            </a:endParaRPr>
          </a:p>
        </p:txBody>
      </p:sp>
      <p:sp>
        <p:nvSpPr>
          <p:cNvPr id="2" name="Flowchart: Process 1">
            <a:extLst>
              <a:ext uri="{FF2B5EF4-FFF2-40B4-BE49-F238E27FC236}">
                <a16:creationId xmlns:a16="http://schemas.microsoft.com/office/drawing/2014/main" id="{3BBD9104-B13D-4899-AABC-BD1632FD0F4D}"/>
              </a:ext>
            </a:extLst>
          </p:cNvPr>
          <p:cNvSpPr/>
          <p:nvPr/>
        </p:nvSpPr>
        <p:spPr>
          <a:xfrm>
            <a:off x="502920" y="1483360"/>
            <a:ext cx="11186160" cy="5139501"/>
          </a:xfrm>
          <a:prstGeom prst="flowChartProcess">
            <a:avLst/>
          </a:prstGeom>
          <a:blipFill>
            <a:blip r:embed="rId2"/>
            <a:stretch>
              <a:fillRect r="-1000"/>
            </a:stretch>
          </a:bli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p>
        </p:txBody>
      </p:sp>
    </p:spTree>
    <p:extLst>
      <p:ext uri="{BB962C8B-B14F-4D97-AF65-F5344CB8AC3E}">
        <p14:creationId xmlns:p14="http://schemas.microsoft.com/office/powerpoint/2010/main" val="360142217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Flowchart: Process 5">
            <a:extLst>
              <a:ext uri="{FF2B5EF4-FFF2-40B4-BE49-F238E27FC236}">
                <a16:creationId xmlns:a16="http://schemas.microsoft.com/office/drawing/2014/main" id="{EC33E5D3-B3E4-410E-B2F8-52A0B937285E}"/>
              </a:ext>
            </a:extLst>
          </p:cNvPr>
          <p:cNvSpPr/>
          <p:nvPr/>
        </p:nvSpPr>
        <p:spPr>
          <a:xfrm>
            <a:off x="0" y="0"/>
            <a:ext cx="12192000" cy="6858000"/>
          </a:xfrm>
          <a:prstGeom prst="flowChartProcess">
            <a:avLst/>
          </a:prstGeom>
          <a:solidFill>
            <a:schemeClr val="bg1">
              <a:lumMod val="50000"/>
            </a:schemeClr>
          </a:solidFill>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b="1" dirty="0"/>
          </a:p>
        </p:txBody>
      </p:sp>
      <p:sp>
        <p:nvSpPr>
          <p:cNvPr id="7" name="Rectangle: Rounded Corners 6">
            <a:extLst>
              <a:ext uri="{FF2B5EF4-FFF2-40B4-BE49-F238E27FC236}">
                <a16:creationId xmlns:a16="http://schemas.microsoft.com/office/drawing/2014/main" id="{A970E147-6313-40D5-A3FF-A31E40BCA1D1}"/>
              </a:ext>
            </a:extLst>
          </p:cNvPr>
          <p:cNvSpPr/>
          <p:nvPr/>
        </p:nvSpPr>
        <p:spPr>
          <a:xfrm>
            <a:off x="3210559" y="285939"/>
            <a:ext cx="6232525" cy="445582"/>
          </a:xfrm>
          <a:prstGeom prst="roundRect">
            <a:avLst/>
          </a:prstGeom>
          <a:solidFill>
            <a:schemeClr val="bg2">
              <a:lumMod val="75000"/>
            </a:schemeClr>
          </a:solidFill>
          <a:ln>
            <a:noFill/>
          </a:ln>
          <a:effectLst>
            <a:glow rad="241300">
              <a:schemeClr val="accent3">
                <a:satMod val="175000"/>
                <a:alpha val="63000"/>
              </a:schemeClr>
            </a:glow>
            <a:outerShdw blurRad="203200" dist="127000" dir="14100000" sx="104000" sy="104000" algn="br" rotWithShape="0">
              <a:schemeClr val="accent6">
                <a:lumMod val="75000"/>
                <a:alpha val="38000"/>
              </a:schemeClr>
            </a:outerShdw>
            <a:reflection stA="45000" endPos="6000" dist="50800" dir="5400000" sy="-100000" algn="bl" rotWithShape="0"/>
          </a:effectLst>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lumMod val="85000"/>
                    <a:lumOff val="15000"/>
                  </a:schemeClr>
                </a:solidFill>
                <a:latin typeface="Footlight MT Light" panose="0204060206030A020304" pitchFamily="18" charset="0"/>
              </a:rPr>
              <a:t>DATA PRESENTATION, ANALYSIS, AND INTERPRETATION</a:t>
            </a:r>
            <a:endParaRPr lang="en-PH" sz="2000" dirty="0">
              <a:solidFill>
                <a:schemeClr val="tx1">
                  <a:lumMod val="85000"/>
                  <a:lumOff val="15000"/>
                </a:schemeClr>
              </a:solidFill>
              <a:latin typeface="Footlight MT Light" panose="0204060206030A020304" pitchFamily="18" charset="0"/>
            </a:endParaRPr>
          </a:p>
        </p:txBody>
      </p:sp>
      <p:sp>
        <p:nvSpPr>
          <p:cNvPr id="3" name="Rectangle: Rounded Corners 2">
            <a:extLst>
              <a:ext uri="{FF2B5EF4-FFF2-40B4-BE49-F238E27FC236}">
                <a16:creationId xmlns:a16="http://schemas.microsoft.com/office/drawing/2014/main" id="{0C075A75-6C78-47AF-BAD2-BEED21FD692E}"/>
              </a:ext>
            </a:extLst>
          </p:cNvPr>
          <p:cNvSpPr/>
          <p:nvPr/>
        </p:nvSpPr>
        <p:spPr>
          <a:xfrm>
            <a:off x="307340" y="235139"/>
            <a:ext cx="1958340" cy="333821"/>
          </a:xfrm>
          <a:prstGeom prst="roundRect">
            <a:avLst/>
          </a:prstGeom>
          <a:solidFill>
            <a:schemeClr val="bg2">
              <a:lumMod val="75000"/>
            </a:schemeClr>
          </a:solidFill>
          <a:effectLst>
            <a:glow rad="241300">
              <a:schemeClr val="accent3">
                <a:satMod val="175000"/>
                <a:alpha val="63000"/>
              </a:schemeClr>
            </a:glow>
            <a:outerShdw blurRad="203200" dist="127000" dir="14100000" sx="104000" sy="104000" algn="br" rotWithShape="0">
              <a:prstClr val="black">
                <a:alpha val="38000"/>
              </a:prstClr>
            </a:outerShdw>
          </a:effectLst>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lumMod val="85000"/>
                    <a:lumOff val="15000"/>
                  </a:schemeClr>
                </a:solidFill>
                <a:latin typeface="Footlight MT Light" panose="0204060206030A020304" pitchFamily="18" charset="0"/>
              </a:rPr>
              <a:t>CHAPTER 4</a:t>
            </a:r>
            <a:endParaRPr lang="en-PH" sz="2800" dirty="0">
              <a:solidFill>
                <a:schemeClr val="tx1">
                  <a:lumMod val="85000"/>
                  <a:lumOff val="15000"/>
                </a:schemeClr>
              </a:solidFill>
              <a:latin typeface="Footlight MT Light" panose="0204060206030A020304" pitchFamily="18" charset="0"/>
            </a:endParaRPr>
          </a:p>
        </p:txBody>
      </p:sp>
      <p:sp>
        <p:nvSpPr>
          <p:cNvPr id="8" name="Rectangle: Rounded Corners 7">
            <a:extLst>
              <a:ext uri="{FF2B5EF4-FFF2-40B4-BE49-F238E27FC236}">
                <a16:creationId xmlns:a16="http://schemas.microsoft.com/office/drawing/2014/main" id="{615A8474-1F96-4F19-A584-8B5679A18347}"/>
              </a:ext>
            </a:extLst>
          </p:cNvPr>
          <p:cNvSpPr/>
          <p:nvPr/>
        </p:nvSpPr>
        <p:spPr>
          <a:xfrm>
            <a:off x="307340" y="1910081"/>
            <a:ext cx="11569699" cy="4572000"/>
          </a:xfrm>
          <a:prstGeom prst="roundRect">
            <a:avLst/>
          </a:prstGeom>
          <a:solidFill>
            <a:schemeClr val="bg1">
              <a:lumMod val="75000"/>
            </a:schemeClr>
          </a:solidFill>
          <a:ln>
            <a:solidFill>
              <a:schemeClr val="bg1">
                <a:lumMod val="85000"/>
              </a:schemeClr>
            </a:solidFill>
          </a:ln>
          <a:effectLst>
            <a:glow rad="165100">
              <a:schemeClr val="accent4">
                <a:satMod val="175000"/>
                <a:alpha val="40000"/>
              </a:schemeClr>
            </a:glow>
            <a:outerShdw blurRad="584200" dist="38100" dir="8100000" sx="104000" sy="104000" algn="tr" rotWithShape="0">
              <a:prstClr val="black">
                <a:alpha val="50000"/>
              </a:prstClr>
            </a:outerShdw>
          </a:effectLst>
          <a:scene3d>
            <a:camera prst="orthographicFront"/>
            <a:lightRig rig="threePt" dir="t"/>
          </a:scene3d>
          <a:sp3d>
            <a:bevelT w="165100" prst="coolSlan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lnSpc>
                <a:spcPct val="107000"/>
              </a:lnSpc>
              <a:spcAft>
                <a:spcPts val="800"/>
              </a:spcAft>
            </a:pPr>
            <a:r>
              <a:rPr lang="en-US" sz="3300" dirty="0">
                <a:solidFill>
                  <a:schemeClr val="tx1">
                    <a:lumMod val="85000"/>
                    <a:lumOff val="15000"/>
                  </a:schemeClr>
                </a:solidFill>
                <a:effectLst/>
                <a:latin typeface="Agency FB" panose="020B0503020202020204" pitchFamily="34" charset="0"/>
                <a:ea typeface="Calibri" panose="020F0502020204030204" pitchFamily="34" charset="0"/>
              </a:rPr>
              <a:t>A grading scheme with percentage ranges (90–100%, 80–89%, etc.) and the frequency of pupils earning each grade are shown in Table 2. Promising students prioritize their studies over social media and games, and some may even forsake their smartphones for school-related reasons. They also tend to be less addicted to smartphones. Untranslated labels in the table, however, prevent a thorough interpretation and a thorough comprehension of the qualitative descriptions connected to each grade range. The table's overall usefulness is limited by its incompleteness.</a:t>
            </a:r>
            <a:endParaRPr lang="en-PH" sz="3300" dirty="0">
              <a:solidFill>
                <a:schemeClr val="tx1">
                  <a:lumMod val="85000"/>
                  <a:lumOff val="15000"/>
                </a:schemeClr>
              </a:solidFill>
              <a:effectLst/>
              <a:latin typeface="Agency FB" panose="020B0503020202020204" pitchFamily="34" charset="0"/>
              <a:ea typeface="Calibri" panose="020F0502020204030204" pitchFamily="34" charset="0"/>
            </a:endParaRPr>
          </a:p>
        </p:txBody>
      </p:sp>
    </p:spTree>
    <p:extLst>
      <p:ext uri="{BB962C8B-B14F-4D97-AF65-F5344CB8AC3E}">
        <p14:creationId xmlns:p14="http://schemas.microsoft.com/office/powerpoint/2010/main" val="236475425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Flowchart: Process 5">
            <a:extLst>
              <a:ext uri="{FF2B5EF4-FFF2-40B4-BE49-F238E27FC236}">
                <a16:creationId xmlns:a16="http://schemas.microsoft.com/office/drawing/2014/main" id="{EC33E5D3-B3E4-410E-B2F8-52A0B937285E}"/>
              </a:ext>
            </a:extLst>
          </p:cNvPr>
          <p:cNvSpPr/>
          <p:nvPr/>
        </p:nvSpPr>
        <p:spPr>
          <a:xfrm>
            <a:off x="0" y="0"/>
            <a:ext cx="12192000" cy="6858000"/>
          </a:xfrm>
          <a:prstGeom prst="flowChartProcess">
            <a:avLst/>
          </a:prstGeom>
          <a:solidFill>
            <a:schemeClr val="bg1">
              <a:lumMod val="50000"/>
            </a:schemeClr>
          </a:solidFill>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b="1" dirty="0"/>
          </a:p>
        </p:txBody>
      </p:sp>
      <p:sp>
        <p:nvSpPr>
          <p:cNvPr id="7" name="Rectangle: Rounded Corners 6">
            <a:extLst>
              <a:ext uri="{FF2B5EF4-FFF2-40B4-BE49-F238E27FC236}">
                <a16:creationId xmlns:a16="http://schemas.microsoft.com/office/drawing/2014/main" id="{A970E147-6313-40D5-A3FF-A31E40BCA1D1}"/>
              </a:ext>
            </a:extLst>
          </p:cNvPr>
          <p:cNvSpPr/>
          <p:nvPr/>
        </p:nvSpPr>
        <p:spPr>
          <a:xfrm>
            <a:off x="3210559" y="285939"/>
            <a:ext cx="6232525" cy="445582"/>
          </a:xfrm>
          <a:prstGeom prst="roundRect">
            <a:avLst/>
          </a:prstGeom>
          <a:solidFill>
            <a:schemeClr val="bg2">
              <a:lumMod val="75000"/>
            </a:schemeClr>
          </a:solidFill>
          <a:ln>
            <a:noFill/>
          </a:ln>
          <a:effectLst>
            <a:glow rad="241300">
              <a:schemeClr val="accent3">
                <a:satMod val="175000"/>
                <a:alpha val="63000"/>
              </a:schemeClr>
            </a:glow>
            <a:outerShdw blurRad="203200" dist="127000" dir="14100000" sx="104000" sy="104000" algn="br" rotWithShape="0">
              <a:schemeClr val="accent6">
                <a:lumMod val="75000"/>
                <a:alpha val="38000"/>
              </a:schemeClr>
            </a:outerShdw>
            <a:reflection stA="45000" endPos="6000" dist="50800" dir="5400000" sy="-100000" algn="bl" rotWithShape="0"/>
          </a:effectLst>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lumMod val="85000"/>
                    <a:lumOff val="15000"/>
                  </a:schemeClr>
                </a:solidFill>
                <a:latin typeface="Footlight MT Light" panose="0204060206030A020304" pitchFamily="18" charset="0"/>
              </a:rPr>
              <a:t>DATA PRESENTATION, ANALYSIS, AND INTERPRETATION</a:t>
            </a:r>
            <a:endParaRPr lang="en-PH" sz="2000" dirty="0">
              <a:solidFill>
                <a:schemeClr val="tx1">
                  <a:lumMod val="85000"/>
                  <a:lumOff val="15000"/>
                </a:schemeClr>
              </a:solidFill>
              <a:latin typeface="Footlight MT Light" panose="0204060206030A020304" pitchFamily="18" charset="0"/>
            </a:endParaRPr>
          </a:p>
        </p:txBody>
      </p:sp>
      <p:sp>
        <p:nvSpPr>
          <p:cNvPr id="3" name="Rectangle: Rounded Corners 2">
            <a:extLst>
              <a:ext uri="{FF2B5EF4-FFF2-40B4-BE49-F238E27FC236}">
                <a16:creationId xmlns:a16="http://schemas.microsoft.com/office/drawing/2014/main" id="{0C075A75-6C78-47AF-BAD2-BEED21FD692E}"/>
              </a:ext>
            </a:extLst>
          </p:cNvPr>
          <p:cNvSpPr/>
          <p:nvPr/>
        </p:nvSpPr>
        <p:spPr>
          <a:xfrm>
            <a:off x="307340" y="235139"/>
            <a:ext cx="1958340" cy="333821"/>
          </a:xfrm>
          <a:prstGeom prst="roundRect">
            <a:avLst/>
          </a:prstGeom>
          <a:solidFill>
            <a:schemeClr val="bg2">
              <a:lumMod val="75000"/>
            </a:schemeClr>
          </a:solidFill>
          <a:effectLst>
            <a:glow rad="241300">
              <a:schemeClr val="accent3">
                <a:satMod val="175000"/>
                <a:alpha val="63000"/>
              </a:schemeClr>
            </a:glow>
            <a:outerShdw blurRad="203200" dist="127000" dir="14100000" sx="104000" sy="104000" algn="br" rotWithShape="0">
              <a:prstClr val="black">
                <a:alpha val="38000"/>
              </a:prstClr>
            </a:outerShdw>
          </a:effectLst>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lumMod val="85000"/>
                    <a:lumOff val="15000"/>
                  </a:schemeClr>
                </a:solidFill>
                <a:latin typeface="Footlight MT Light" panose="0204060206030A020304" pitchFamily="18" charset="0"/>
              </a:rPr>
              <a:t>CHAPTER 4</a:t>
            </a:r>
            <a:endParaRPr lang="en-PH" sz="2800" dirty="0">
              <a:solidFill>
                <a:schemeClr val="tx1">
                  <a:lumMod val="85000"/>
                  <a:lumOff val="15000"/>
                </a:schemeClr>
              </a:solidFill>
              <a:latin typeface="Footlight MT Light" panose="0204060206030A020304" pitchFamily="18" charset="0"/>
            </a:endParaRPr>
          </a:p>
        </p:txBody>
      </p:sp>
      <p:sp>
        <p:nvSpPr>
          <p:cNvPr id="8" name="Rectangle: Rounded Corners 7">
            <a:extLst>
              <a:ext uri="{FF2B5EF4-FFF2-40B4-BE49-F238E27FC236}">
                <a16:creationId xmlns:a16="http://schemas.microsoft.com/office/drawing/2014/main" id="{615A8474-1F96-4F19-A584-8B5679A18347}"/>
              </a:ext>
            </a:extLst>
          </p:cNvPr>
          <p:cNvSpPr/>
          <p:nvPr/>
        </p:nvSpPr>
        <p:spPr>
          <a:xfrm>
            <a:off x="2412047" y="3261361"/>
            <a:ext cx="7367905" cy="711199"/>
          </a:xfrm>
          <a:prstGeom prst="roundRect">
            <a:avLst/>
          </a:prstGeom>
          <a:solidFill>
            <a:schemeClr val="bg1">
              <a:lumMod val="75000"/>
            </a:schemeClr>
          </a:solidFill>
          <a:ln>
            <a:solidFill>
              <a:schemeClr val="bg1">
                <a:lumMod val="85000"/>
              </a:schemeClr>
            </a:solidFill>
          </a:ln>
          <a:effectLst>
            <a:glow rad="165100">
              <a:schemeClr val="accent4">
                <a:satMod val="175000"/>
                <a:alpha val="40000"/>
              </a:schemeClr>
            </a:glow>
            <a:outerShdw blurRad="584200" dist="38100" dir="8100000" sx="104000" sy="104000" algn="tr" rotWithShape="0">
              <a:prstClr val="black">
                <a:alpha val="50000"/>
              </a:prstClr>
            </a:outerShdw>
          </a:effectLst>
          <a:scene3d>
            <a:camera prst="orthographicFront"/>
            <a:lightRig rig="threePt" dir="t"/>
          </a:scene3d>
          <a:sp3d>
            <a:bevelT w="165100" prst="coolSlan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lnSpc>
                <a:spcPct val="107000"/>
              </a:lnSpc>
              <a:spcAft>
                <a:spcPts val="800"/>
              </a:spcAft>
            </a:pPr>
            <a:r>
              <a:rPr lang="en-US" sz="3100" b="1" dirty="0">
                <a:solidFill>
                  <a:schemeClr val="tx1">
                    <a:lumMod val="85000"/>
                    <a:lumOff val="15000"/>
                  </a:schemeClr>
                </a:solidFill>
                <a:effectLst/>
                <a:latin typeface="Agency FB" panose="020B0503020202020204" pitchFamily="34" charset="0"/>
                <a:ea typeface="Verdana" panose="020B0604030504040204" pitchFamily="34" charset="0"/>
                <a:cs typeface="Verdana" panose="020B0604030504040204" pitchFamily="34" charset="0"/>
              </a:rPr>
              <a:t>Table 3: Summary of Students Smartphone Addiction</a:t>
            </a:r>
            <a:endParaRPr lang="en-PH" sz="3100" dirty="0">
              <a:solidFill>
                <a:schemeClr val="tx1">
                  <a:lumMod val="85000"/>
                  <a:lumOff val="15000"/>
                </a:schemeClr>
              </a:solidFill>
              <a:effectLst/>
              <a:latin typeface="Agency FB" panose="020B0503020202020204" pitchFamily="34" charset="0"/>
              <a:ea typeface="Calibri" panose="020F0502020204030204" pitchFamily="34" charset="0"/>
            </a:endParaRPr>
          </a:p>
        </p:txBody>
      </p:sp>
    </p:spTree>
    <p:extLst>
      <p:ext uri="{BB962C8B-B14F-4D97-AF65-F5344CB8AC3E}">
        <p14:creationId xmlns:p14="http://schemas.microsoft.com/office/powerpoint/2010/main" val="98757582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Flowchart: Process 5">
            <a:extLst>
              <a:ext uri="{FF2B5EF4-FFF2-40B4-BE49-F238E27FC236}">
                <a16:creationId xmlns:a16="http://schemas.microsoft.com/office/drawing/2014/main" id="{EC33E5D3-B3E4-410E-B2F8-52A0B937285E}"/>
              </a:ext>
            </a:extLst>
          </p:cNvPr>
          <p:cNvSpPr/>
          <p:nvPr/>
        </p:nvSpPr>
        <p:spPr>
          <a:xfrm>
            <a:off x="0" y="0"/>
            <a:ext cx="12192000" cy="6858000"/>
          </a:xfrm>
          <a:prstGeom prst="flowChartProcess">
            <a:avLst/>
          </a:prstGeom>
          <a:solidFill>
            <a:schemeClr val="bg1">
              <a:lumMod val="50000"/>
            </a:schemeClr>
          </a:solidFill>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b="1" dirty="0"/>
          </a:p>
        </p:txBody>
      </p:sp>
      <p:sp>
        <p:nvSpPr>
          <p:cNvPr id="7" name="Rectangle: Rounded Corners 6">
            <a:extLst>
              <a:ext uri="{FF2B5EF4-FFF2-40B4-BE49-F238E27FC236}">
                <a16:creationId xmlns:a16="http://schemas.microsoft.com/office/drawing/2014/main" id="{A970E147-6313-40D5-A3FF-A31E40BCA1D1}"/>
              </a:ext>
            </a:extLst>
          </p:cNvPr>
          <p:cNvSpPr/>
          <p:nvPr/>
        </p:nvSpPr>
        <p:spPr>
          <a:xfrm>
            <a:off x="3210559" y="285939"/>
            <a:ext cx="6232525" cy="445582"/>
          </a:xfrm>
          <a:prstGeom prst="roundRect">
            <a:avLst/>
          </a:prstGeom>
          <a:solidFill>
            <a:schemeClr val="bg2">
              <a:lumMod val="75000"/>
            </a:schemeClr>
          </a:solidFill>
          <a:ln>
            <a:noFill/>
          </a:ln>
          <a:effectLst>
            <a:glow rad="241300">
              <a:schemeClr val="accent3">
                <a:satMod val="175000"/>
                <a:alpha val="63000"/>
              </a:schemeClr>
            </a:glow>
            <a:outerShdw blurRad="203200" dist="127000" dir="14100000" sx="104000" sy="104000" algn="br" rotWithShape="0">
              <a:schemeClr val="accent6">
                <a:lumMod val="75000"/>
                <a:alpha val="38000"/>
              </a:schemeClr>
            </a:outerShdw>
            <a:reflection stA="45000" endPos="6000" dist="50800" dir="5400000" sy="-100000" algn="bl" rotWithShape="0"/>
          </a:effectLst>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lumMod val="85000"/>
                    <a:lumOff val="15000"/>
                  </a:schemeClr>
                </a:solidFill>
                <a:latin typeface="Footlight MT Light" panose="0204060206030A020304" pitchFamily="18" charset="0"/>
              </a:rPr>
              <a:t>DATA PRESENTATION, ANALYSIS, AND INTERPRETATION</a:t>
            </a:r>
            <a:endParaRPr lang="en-PH" sz="2000" dirty="0">
              <a:solidFill>
                <a:schemeClr val="tx1">
                  <a:lumMod val="85000"/>
                  <a:lumOff val="15000"/>
                </a:schemeClr>
              </a:solidFill>
              <a:latin typeface="Footlight MT Light" panose="0204060206030A020304" pitchFamily="18" charset="0"/>
            </a:endParaRPr>
          </a:p>
        </p:txBody>
      </p:sp>
      <p:sp>
        <p:nvSpPr>
          <p:cNvPr id="3" name="Rectangle: Rounded Corners 2">
            <a:extLst>
              <a:ext uri="{FF2B5EF4-FFF2-40B4-BE49-F238E27FC236}">
                <a16:creationId xmlns:a16="http://schemas.microsoft.com/office/drawing/2014/main" id="{0C075A75-6C78-47AF-BAD2-BEED21FD692E}"/>
              </a:ext>
            </a:extLst>
          </p:cNvPr>
          <p:cNvSpPr/>
          <p:nvPr/>
        </p:nvSpPr>
        <p:spPr>
          <a:xfrm>
            <a:off x="307340" y="235139"/>
            <a:ext cx="1958340" cy="333821"/>
          </a:xfrm>
          <a:prstGeom prst="roundRect">
            <a:avLst/>
          </a:prstGeom>
          <a:solidFill>
            <a:schemeClr val="bg2">
              <a:lumMod val="75000"/>
            </a:schemeClr>
          </a:solidFill>
          <a:effectLst>
            <a:glow rad="241300">
              <a:schemeClr val="accent3">
                <a:satMod val="175000"/>
                <a:alpha val="63000"/>
              </a:schemeClr>
            </a:glow>
            <a:outerShdw blurRad="203200" dist="127000" dir="14100000" sx="104000" sy="104000" algn="br" rotWithShape="0">
              <a:prstClr val="black">
                <a:alpha val="38000"/>
              </a:prstClr>
            </a:outerShdw>
          </a:effectLst>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lumMod val="85000"/>
                    <a:lumOff val="15000"/>
                  </a:schemeClr>
                </a:solidFill>
                <a:latin typeface="Footlight MT Light" panose="0204060206030A020304" pitchFamily="18" charset="0"/>
              </a:rPr>
              <a:t>CHAPTER 4</a:t>
            </a:r>
            <a:endParaRPr lang="en-PH" sz="2800" dirty="0">
              <a:solidFill>
                <a:schemeClr val="tx1">
                  <a:lumMod val="85000"/>
                  <a:lumOff val="15000"/>
                </a:schemeClr>
              </a:solidFill>
              <a:latin typeface="Footlight MT Light" panose="0204060206030A020304" pitchFamily="18" charset="0"/>
            </a:endParaRPr>
          </a:p>
        </p:txBody>
      </p:sp>
      <p:sp>
        <p:nvSpPr>
          <p:cNvPr id="2" name="Flowchart: Process 1">
            <a:extLst>
              <a:ext uri="{FF2B5EF4-FFF2-40B4-BE49-F238E27FC236}">
                <a16:creationId xmlns:a16="http://schemas.microsoft.com/office/drawing/2014/main" id="{163523A4-2EBD-4945-B3F8-BFC3016F876E}"/>
              </a:ext>
            </a:extLst>
          </p:cNvPr>
          <p:cNvSpPr/>
          <p:nvPr/>
        </p:nvSpPr>
        <p:spPr>
          <a:xfrm>
            <a:off x="741680" y="1554480"/>
            <a:ext cx="10789920" cy="4856480"/>
          </a:xfrm>
          <a:prstGeom prst="flowChartProcess">
            <a:avLst/>
          </a:prstGeom>
          <a:blipFill>
            <a:blip r:embed="rId2"/>
            <a:stretch>
              <a:fillRect r="-1000"/>
            </a:stretch>
          </a:bli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p>
        </p:txBody>
      </p:sp>
    </p:spTree>
    <p:extLst>
      <p:ext uri="{BB962C8B-B14F-4D97-AF65-F5344CB8AC3E}">
        <p14:creationId xmlns:p14="http://schemas.microsoft.com/office/powerpoint/2010/main" val="255116592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Flowchart: Process 5">
            <a:extLst>
              <a:ext uri="{FF2B5EF4-FFF2-40B4-BE49-F238E27FC236}">
                <a16:creationId xmlns:a16="http://schemas.microsoft.com/office/drawing/2014/main" id="{EC33E5D3-B3E4-410E-B2F8-52A0B937285E}"/>
              </a:ext>
            </a:extLst>
          </p:cNvPr>
          <p:cNvSpPr/>
          <p:nvPr/>
        </p:nvSpPr>
        <p:spPr>
          <a:xfrm>
            <a:off x="0" y="0"/>
            <a:ext cx="12192000" cy="6858000"/>
          </a:xfrm>
          <a:prstGeom prst="flowChartProcess">
            <a:avLst/>
          </a:prstGeom>
          <a:solidFill>
            <a:schemeClr val="bg1">
              <a:lumMod val="50000"/>
            </a:schemeClr>
          </a:solidFill>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b="1" dirty="0"/>
          </a:p>
        </p:txBody>
      </p:sp>
      <p:sp>
        <p:nvSpPr>
          <p:cNvPr id="7" name="Rectangle: Rounded Corners 6">
            <a:extLst>
              <a:ext uri="{FF2B5EF4-FFF2-40B4-BE49-F238E27FC236}">
                <a16:creationId xmlns:a16="http://schemas.microsoft.com/office/drawing/2014/main" id="{A970E147-6313-40D5-A3FF-A31E40BCA1D1}"/>
              </a:ext>
            </a:extLst>
          </p:cNvPr>
          <p:cNvSpPr/>
          <p:nvPr/>
        </p:nvSpPr>
        <p:spPr>
          <a:xfrm>
            <a:off x="3210559" y="285939"/>
            <a:ext cx="6232525" cy="445582"/>
          </a:xfrm>
          <a:prstGeom prst="roundRect">
            <a:avLst/>
          </a:prstGeom>
          <a:solidFill>
            <a:schemeClr val="bg2">
              <a:lumMod val="75000"/>
            </a:schemeClr>
          </a:solidFill>
          <a:ln>
            <a:noFill/>
          </a:ln>
          <a:effectLst>
            <a:glow rad="241300">
              <a:schemeClr val="accent3">
                <a:satMod val="175000"/>
                <a:alpha val="63000"/>
              </a:schemeClr>
            </a:glow>
            <a:outerShdw blurRad="203200" dist="127000" dir="14100000" sx="104000" sy="104000" algn="br" rotWithShape="0">
              <a:schemeClr val="accent6">
                <a:lumMod val="75000"/>
                <a:alpha val="38000"/>
              </a:schemeClr>
            </a:outerShdw>
            <a:reflection stA="45000" endPos="6000" dist="50800" dir="5400000" sy="-100000" algn="bl" rotWithShape="0"/>
          </a:effectLst>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lumMod val="85000"/>
                    <a:lumOff val="15000"/>
                  </a:schemeClr>
                </a:solidFill>
                <a:latin typeface="Footlight MT Light" panose="0204060206030A020304" pitchFamily="18" charset="0"/>
              </a:rPr>
              <a:t>DATA PRESENTATION, ANALYSIS, AND INTERPRETATION</a:t>
            </a:r>
            <a:endParaRPr lang="en-PH" sz="2000" dirty="0">
              <a:solidFill>
                <a:schemeClr val="tx1">
                  <a:lumMod val="85000"/>
                  <a:lumOff val="15000"/>
                </a:schemeClr>
              </a:solidFill>
              <a:latin typeface="Footlight MT Light" panose="0204060206030A020304" pitchFamily="18" charset="0"/>
            </a:endParaRPr>
          </a:p>
        </p:txBody>
      </p:sp>
      <p:sp>
        <p:nvSpPr>
          <p:cNvPr id="3" name="Rectangle: Rounded Corners 2">
            <a:extLst>
              <a:ext uri="{FF2B5EF4-FFF2-40B4-BE49-F238E27FC236}">
                <a16:creationId xmlns:a16="http://schemas.microsoft.com/office/drawing/2014/main" id="{0C075A75-6C78-47AF-BAD2-BEED21FD692E}"/>
              </a:ext>
            </a:extLst>
          </p:cNvPr>
          <p:cNvSpPr/>
          <p:nvPr/>
        </p:nvSpPr>
        <p:spPr>
          <a:xfrm>
            <a:off x="307340" y="235139"/>
            <a:ext cx="1958340" cy="333821"/>
          </a:xfrm>
          <a:prstGeom prst="roundRect">
            <a:avLst/>
          </a:prstGeom>
          <a:solidFill>
            <a:schemeClr val="bg2">
              <a:lumMod val="75000"/>
            </a:schemeClr>
          </a:solidFill>
          <a:effectLst>
            <a:glow rad="241300">
              <a:schemeClr val="accent3">
                <a:satMod val="175000"/>
                <a:alpha val="63000"/>
              </a:schemeClr>
            </a:glow>
            <a:outerShdw blurRad="203200" dist="127000" dir="14100000" sx="104000" sy="104000" algn="br" rotWithShape="0">
              <a:prstClr val="black">
                <a:alpha val="38000"/>
              </a:prstClr>
            </a:outerShdw>
          </a:effectLst>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lumMod val="85000"/>
                    <a:lumOff val="15000"/>
                  </a:schemeClr>
                </a:solidFill>
                <a:latin typeface="Footlight MT Light" panose="0204060206030A020304" pitchFamily="18" charset="0"/>
              </a:rPr>
              <a:t>CHAPTER 4</a:t>
            </a:r>
            <a:endParaRPr lang="en-PH" sz="2800" dirty="0">
              <a:solidFill>
                <a:schemeClr val="tx1">
                  <a:lumMod val="85000"/>
                  <a:lumOff val="15000"/>
                </a:schemeClr>
              </a:solidFill>
              <a:latin typeface="Footlight MT Light" panose="0204060206030A020304" pitchFamily="18" charset="0"/>
            </a:endParaRPr>
          </a:p>
        </p:txBody>
      </p:sp>
      <p:sp>
        <p:nvSpPr>
          <p:cNvPr id="8" name="Rectangle: Rounded Corners 7">
            <a:extLst>
              <a:ext uri="{FF2B5EF4-FFF2-40B4-BE49-F238E27FC236}">
                <a16:creationId xmlns:a16="http://schemas.microsoft.com/office/drawing/2014/main" id="{615A8474-1F96-4F19-A584-8B5679A18347}"/>
              </a:ext>
            </a:extLst>
          </p:cNvPr>
          <p:cNvSpPr/>
          <p:nvPr/>
        </p:nvSpPr>
        <p:spPr>
          <a:xfrm>
            <a:off x="307340" y="1615440"/>
            <a:ext cx="11508739" cy="4866640"/>
          </a:xfrm>
          <a:prstGeom prst="roundRect">
            <a:avLst/>
          </a:prstGeom>
          <a:solidFill>
            <a:schemeClr val="bg1">
              <a:lumMod val="75000"/>
            </a:schemeClr>
          </a:solidFill>
          <a:ln>
            <a:solidFill>
              <a:schemeClr val="bg1">
                <a:lumMod val="85000"/>
              </a:schemeClr>
            </a:solidFill>
          </a:ln>
          <a:effectLst>
            <a:glow rad="165100">
              <a:schemeClr val="accent4">
                <a:satMod val="175000"/>
                <a:alpha val="40000"/>
              </a:schemeClr>
            </a:glow>
            <a:outerShdw blurRad="584200" dist="38100" dir="8100000" sx="104000" sy="104000" algn="tr" rotWithShape="0">
              <a:prstClr val="black">
                <a:alpha val="50000"/>
              </a:prstClr>
            </a:outerShdw>
          </a:effectLst>
          <a:scene3d>
            <a:camera prst="orthographicFront"/>
            <a:lightRig rig="threePt" dir="t"/>
          </a:scene3d>
          <a:sp3d>
            <a:bevelT w="165100" prst="coolSlan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lnSpc>
                <a:spcPct val="107000"/>
              </a:lnSpc>
              <a:spcAft>
                <a:spcPts val="800"/>
              </a:spcAft>
            </a:pPr>
            <a:r>
              <a:rPr lang="en-US" sz="3000" dirty="0">
                <a:solidFill>
                  <a:schemeClr val="tx1">
                    <a:lumMod val="85000"/>
                    <a:lumOff val="15000"/>
                  </a:schemeClr>
                </a:solidFill>
                <a:effectLst/>
                <a:latin typeface="Agency FB" panose="020B0503020202020204" pitchFamily="34" charset="0"/>
                <a:ea typeface="Calibri" panose="020F0502020204030204" pitchFamily="34" charset="0"/>
              </a:rPr>
              <a:t>According to a survey, the majority of participants (55.79%) were classified as "Neutral" in terms of smartphone addiction, indicating a modest degree of problematic use. Lesser proportions were categorized as "Moderately Addicted," "Strongly Addicted," and "Slightly Addicted." This underscores the necessity of initiatives to encourage good digital behaviors and possibly enhance academic achievement. Despite being a societal norm, the ubiquitous use of smartphones raises questions about possible health consequences and the ongoing debate over whether smartphone addiction is a separate behavioral disorder. Research on smartphones' effects on schooling reveals differing opinions, with some pointing to possible drawbacks and others pointing out advantages.</a:t>
            </a:r>
            <a:endParaRPr lang="en-PH" sz="3000" dirty="0">
              <a:solidFill>
                <a:schemeClr val="tx1">
                  <a:lumMod val="85000"/>
                  <a:lumOff val="15000"/>
                </a:schemeClr>
              </a:solidFill>
              <a:effectLst/>
              <a:latin typeface="Agency FB" panose="020B0503020202020204" pitchFamily="34" charset="0"/>
              <a:ea typeface="Calibri" panose="020F0502020204030204" pitchFamily="34" charset="0"/>
            </a:endParaRPr>
          </a:p>
        </p:txBody>
      </p:sp>
    </p:spTree>
    <p:extLst>
      <p:ext uri="{BB962C8B-B14F-4D97-AF65-F5344CB8AC3E}">
        <p14:creationId xmlns:p14="http://schemas.microsoft.com/office/powerpoint/2010/main" val="249024242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Flowchart: Process 5">
            <a:extLst>
              <a:ext uri="{FF2B5EF4-FFF2-40B4-BE49-F238E27FC236}">
                <a16:creationId xmlns:a16="http://schemas.microsoft.com/office/drawing/2014/main" id="{EC33E5D3-B3E4-410E-B2F8-52A0B937285E}"/>
              </a:ext>
            </a:extLst>
          </p:cNvPr>
          <p:cNvSpPr/>
          <p:nvPr/>
        </p:nvSpPr>
        <p:spPr>
          <a:xfrm>
            <a:off x="0" y="0"/>
            <a:ext cx="12192000" cy="6858000"/>
          </a:xfrm>
          <a:prstGeom prst="flowChartProcess">
            <a:avLst/>
          </a:prstGeom>
          <a:solidFill>
            <a:schemeClr val="bg1">
              <a:lumMod val="50000"/>
            </a:schemeClr>
          </a:solidFill>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b="1" dirty="0"/>
          </a:p>
        </p:txBody>
      </p:sp>
      <p:sp>
        <p:nvSpPr>
          <p:cNvPr id="7" name="Rectangle: Rounded Corners 6">
            <a:extLst>
              <a:ext uri="{FF2B5EF4-FFF2-40B4-BE49-F238E27FC236}">
                <a16:creationId xmlns:a16="http://schemas.microsoft.com/office/drawing/2014/main" id="{A970E147-6313-40D5-A3FF-A31E40BCA1D1}"/>
              </a:ext>
            </a:extLst>
          </p:cNvPr>
          <p:cNvSpPr/>
          <p:nvPr/>
        </p:nvSpPr>
        <p:spPr>
          <a:xfrm>
            <a:off x="3210559" y="285939"/>
            <a:ext cx="6232525" cy="445582"/>
          </a:xfrm>
          <a:prstGeom prst="roundRect">
            <a:avLst/>
          </a:prstGeom>
          <a:solidFill>
            <a:schemeClr val="bg2">
              <a:lumMod val="75000"/>
            </a:schemeClr>
          </a:solidFill>
          <a:ln>
            <a:noFill/>
          </a:ln>
          <a:effectLst>
            <a:glow rad="241300">
              <a:schemeClr val="accent3">
                <a:satMod val="175000"/>
                <a:alpha val="63000"/>
              </a:schemeClr>
            </a:glow>
            <a:outerShdw blurRad="203200" dist="127000" dir="14100000" sx="104000" sy="104000" algn="br" rotWithShape="0">
              <a:schemeClr val="accent6">
                <a:lumMod val="75000"/>
                <a:alpha val="38000"/>
              </a:schemeClr>
            </a:outerShdw>
            <a:reflection stA="45000" endPos="6000" dist="50800" dir="5400000" sy="-100000" algn="bl" rotWithShape="0"/>
          </a:effectLst>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lumMod val="85000"/>
                    <a:lumOff val="15000"/>
                  </a:schemeClr>
                </a:solidFill>
                <a:latin typeface="Footlight MT Light" panose="0204060206030A020304" pitchFamily="18" charset="0"/>
              </a:rPr>
              <a:t>DATA PRESENTATION, ANALYSIS, AND INTERPRETATION</a:t>
            </a:r>
            <a:endParaRPr lang="en-PH" sz="2000" dirty="0">
              <a:solidFill>
                <a:schemeClr val="tx1">
                  <a:lumMod val="85000"/>
                  <a:lumOff val="15000"/>
                </a:schemeClr>
              </a:solidFill>
              <a:latin typeface="Footlight MT Light" panose="0204060206030A020304" pitchFamily="18" charset="0"/>
            </a:endParaRPr>
          </a:p>
        </p:txBody>
      </p:sp>
      <p:sp>
        <p:nvSpPr>
          <p:cNvPr id="3" name="Rectangle: Rounded Corners 2">
            <a:extLst>
              <a:ext uri="{FF2B5EF4-FFF2-40B4-BE49-F238E27FC236}">
                <a16:creationId xmlns:a16="http://schemas.microsoft.com/office/drawing/2014/main" id="{0C075A75-6C78-47AF-BAD2-BEED21FD692E}"/>
              </a:ext>
            </a:extLst>
          </p:cNvPr>
          <p:cNvSpPr/>
          <p:nvPr/>
        </p:nvSpPr>
        <p:spPr>
          <a:xfrm>
            <a:off x="307340" y="235139"/>
            <a:ext cx="1958340" cy="333821"/>
          </a:xfrm>
          <a:prstGeom prst="roundRect">
            <a:avLst/>
          </a:prstGeom>
          <a:solidFill>
            <a:schemeClr val="bg2">
              <a:lumMod val="75000"/>
            </a:schemeClr>
          </a:solidFill>
          <a:effectLst>
            <a:glow rad="241300">
              <a:schemeClr val="accent3">
                <a:satMod val="175000"/>
                <a:alpha val="63000"/>
              </a:schemeClr>
            </a:glow>
            <a:outerShdw blurRad="203200" dist="127000" dir="14100000" sx="104000" sy="104000" algn="br" rotWithShape="0">
              <a:prstClr val="black">
                <a:alpha val="38000"/>
              </a:prstClr>
            </a:outerShdw>
          </a:effectLst>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lumMod val="85000"/>
                    <a:lumOff val="15000"/>
                  </a:schemeClr>
                </a:solidFill>
                <a:latin typeface="Footlight MT Light" panose="0204060206030A020304" pitchFamily="18" charset="0"/>
              </a:rPr>
              <a:t>CHAPTER 4</a:t>
            </a:r>
            <a:endParaRPr lang="en-PH" sz="2800" dirty="0">
              <a:solidFill>
                <a:schemeClr val="tx1">
                  <a:lumMod val="85000"/>
                  <a:lumOff val="15000"/>
                </a:schemeClr>
              </a:solidFill>
              <a:latin typeface="Footlight MT Light" panose="0204060206030A020304" pitchFamily="18" charset="0"/>
            </a:endParaRPr>
          </a:p>
        </p:txBody>
      </p:sp>
      <p:sp>
        <p:nvSpPr>
          <p:cNvPr id="8" name="Rectangle: Rounded Corners 7">
            <a:extLst>
              <a:ext uri="{FF2B5EF4-FFF2-40B4-BE49-F238E27FC236}">
                <a16:creationId xmlns:a16="http://schemas.microsoft.com/office/drawing/2014/main" id="{615A8474-1F96-4F19-A584-8B5679A18347}"/>
              </a:ext>
            </a:extLst>
          </p:cNvPr>
          <p:cNvSpPr/>
          <p:nvPr/>
        </p:nvSpPr>
        <p:spPr>
          <a:xfrm>
            <a:off x="510139" y="3261361"/>
            <a:ext cx="11300059" cy="1156635"/>
          </a:xfrm>
          <a:prstGeom prst="roundRect">
            <a:avLst/>
          </a:prstGeom>
          <a:solidFill>
            <a:schemeClr val="bg1">
              <a:lumMod val="75000"/>
            </a:schemeClr>
          </a:solidFill>
          <a:ln>
            <a:solidFill>
              <a:schemeClr val="bg1">
                <a:lumMod val="85000"/>
              </a:schemeClr>
            </a:solidFill>
          </a:ln>
          <a:effectLst>
            <a:glow rad="165100">
              <a:schemeClr val="accent4">
                <a:satMod val="175000"/>
                <a:alpha val="40000"/>
              </a:schemeClr>
            </a:glow>
            <a:outerShdw blurRad="584200" dist="38100" dir="8100000" sx="104000" sy="104000" algn="tr" rotWithShape="0">
              <a:prstClr val="black">
                <a:alpha val="50000"/>
              </a:prstClr>
            </a:outerShdw>
          </a:effectLst>
          <a:scene3d>
            <a:camera prst="orthographicFront"/>
            <a:lightRig rig="threePt" dir="t"/>
          </a:scene3d>
          <a:sp3d>
            <a:bevelT w="165100" prst="coolSlan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lnSpc>
                <a:spcPct val="107000"/>
              </a:lnSpc>
              <a:spcAft>
                <a:spcPts val="800"/>
              </a:spcAft>
            </a:pPr>
            <a:r>
              <a:rPr lang="en-US" sz="3100" b="1" dirty="0">
                <a:solidFill>
                  <a:schemeClr val="tx1">
                    <a:lumMod val="85000"/>
                    <a:lumOff val="15000"/>
                  </a:schemeClr>
                </a:solidFill>
                <a:effectLst/>
                <a:latin typeface="Agency FB" panose="020B0503020202020204" pitchFamily="34" charset="0"/>
                <a:ea typeface="Verdana" panose="020B0604030504040204" pitchFamily="34" charset="0"/>
                <a:cs typeface="Verdana" panose="020B0604030504040204" pitchFamily="34" charset="0"/>
              </a:rPr>
              <a:t>Table 4: The correlation analysis between Academic performance and Smartphone Addiction.</a:t>
            </a:r>
            <a:endParaRPr lang="en-PH" sz="3100" dirty="0">
              <a:solidFill>
                <a:schemeClr val="tx1">
                  <a:lumMod val="85000"/>
                  <a:lumOff val="15000"/>
                </a:schemeClr>
              </a:solidFill>
              <a:effectLst/>
              <a:latin typeface="Agency FB" panose="020B0503020202020204" pitchFamily="34" charset="0"/>
              <a:ea typeface="Calibri" panose="020F0502020204030204" pitchFamily="34" charset="0"/>
            </a:endParaRPr>
          </a:p>
        </p:txBody>
      </p:sp>
    </p:spTree>
    <p:extLst>
      <p:ext uri="{BB962C8B-B14F-4D97-AF65-F5344CB8AC3E}">
        <p14:creationId xmlns:p14="http://schemas.microsoft.com/office/powerpoint/2010/main" val="354369155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Flowchart: Process 5">
            <a:extLst>
              <a:ext uri="{FF2B5EF4-FFF2-40B4-BE49-F238E27FC236}">
                <a16:creationId xmlns:a16="http://schemas.microsoft.com/office/drawing/2014/main" id="{EC33E5D3-B3E4-410E-B2F8-52A0B937285E}"/>
              </a:ext>
            </a:extLst>
          </p:cNvPr>
          <p:cNvSpPr/>
          <p:nvPr/>
        </p:nvSpPr>
        <p:spPr>
          <a:xfrm>
            <a:off x="0" y="0"/>
            <a:ext cx="12192000" cy="6858000"/>
          </a:xfrm>
          <a:prstGeom prst="flowChartProcess">
            <a:avLst/>
          </a:prstGeom>
          <a:solidFill>
            <a:schemeClr val="bg1">
              <a:lumMod val="50000"/>
            </a:schemeClr>
          </a:solidFill>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b="1" dirty="0"/>
          </a:p>
        </p:txBody>
      </p:sp>
      <p:sp>
        <p:nvSpPr>
          <p:cNvPr id="7" name="Rectangle: Rounded Corners 6">
            <a:extLst>
              <a:ext uri="{FF2B5EF4-FFF2-40B4-BE49-F238E27FC236}">
                <a16:creationId xmlns:a16="http://schemas.microsoft.com/office/drawing/2014/main" id="{A970E147-6313-40D5-A3FF-A31E40BCA1D1}"/>
              </a:ext>
            </a:extLst>
          </p:cNvPr>
          <p:cNvSpPr/>
          <p:nvPr/>
        </p:nvSpPr>
        <p:spPr>
          <a:xfrm>
            <a:off x="3210559" y="285939"/>
            <a:ext cx="6232525" cy="445582"/>
          </a:xfrm>
          <a:prstGeom prst="roundRect">
            <a:avLst/>
          </a:prstGeom>
          <a:solidFill>
            <a:schemeClr val="bg2">
              <a:lumMod val="75000"/>
            </a:schemeClr>
          </a:solidFill>
          <a:ln>
            <a:noFill/>
          </a:ln>
          <a:effectLst>
            <a:glow rad="241300">
              <a:schemeClr val="accent3">
                <a:satMod val="175000"/>
                <a:alpha val="63000"/>
              </a:schemeClr>
            </a:glow>
            <a:outerShdw blurRad="203200" dist="127000" dir="14100000" sx="104000" sy="104000" algn="br" rotWithShape="0">
              <a:schemeClr val="accent6">
                <a:lumMod val="75000"/>
                <a:alpha val="38000"/>
              </a:schemeClr>
            </a:outerShdw>
            <a:reflection stA="45000" endPos="6000" dist="50800" dir="5400000" sy="-100000" algn="bl" rotWithShape="0"/>
          </a:effectLst>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lumMod val="85000"/>
                    <a:lumOff val="15000"/>
                  </a:schemeClr>
                </a:solidFill>
                <a:latin typeface="Footlight MT Light" panose="0204060206030A020304" pitchFamily="18" charset="0"/>
              </a:rPr>
              <a:t>DATA PRESENTATION, ANALYSIS, AND INTERPRETATION</a:t>
            </a:r>
            <a:endParaRPr lang="en-PH" sz="2000" dirty="0">
              <a:solidFill>
                <a:schemeClr val="tx1">
                  <a:lumMod val="85000"/>
                  <a:lumOff val="15000"/>
                </a:schemeClr>
              </a:solidFill>
              <a:latin typeface="Footlight MT Light" panose="0204060206030A020304" pitchFamily="18" charset="0"/>
            </a:endParaRPr>
          </a:p>
        </p:txBody>
      </p:sp>
      <p:sp>
        <p:nvSpPr>
          <p:cNvPr id="3" name="Rectangle: Rounded Corners 2">
            <a:extLst>
              <a:ext uri="{FF2B5EF4-FFF2-40B4-BE49-F238E27FC236}">
                <a16:creationId xmlns:a16="http://schemas.microsoft.com/office/drawing/2014/main" id="{0C075A75-6C78-47AF-BAD2-BEED21FD692E}"/>
              </a:ext>
            </a:extLst>
          </p:cNvPr>
          <p:cNvSpPr/>
          <p:nvPr/>
        </p:nvSpPr>
        <p:spPr>
          <a:xfrm>
            <a:off x="307340" y="235139"/>
            <a:ext cx="1958340" cy="333821"/>
          </a:xfrm>
          <a:prstGeom prst="roundRect">
            <a:avLst/>
          </a:prstGeom>
          <a:solidFill>
            <a:schemeClr val="bg2">
              <a:lumMod val="75000"/>
            </a:schemeClr>
          </a:solidFill>
          <a:effectLst>
            <a:glow rad="241300">
              <a:schemeClr val="accent3">
                <a:satMod val="175000"/>
                <a:alpha val="63000"/>
              </a:schemeClr>
            </a:glow>
            <a:outerShdw blurRad="203200" dist="127000" dir="14100000" sx="104000" sy="104000" algn="br" rotWithShape="0">
              <a:prstClr val="black">
                <a:alpha val="38000"/>
              </a:prstClr>
            </a:outerShdw>
          </a:effectLst>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lumMod val="85000"/>
                    <a:lumOff val="15000"/>
                  </a:schemeClr>
                </a:solidFill>
                <a:latin typeface="Footlight MT Light" panose="0204060206030A020304" pitchFamily="18" charset="0"/>
              </a:rPr>
              <a:t>CHAPTER 4</a:t>
            </a:r>
            <a:endParaRPr lang="en-PH" sz="2800" dirty="0">
              <a:solidFill>
                <a:schemeClr val="tx1">
                  <a:lumMod val="85000"/>
                  <a:lumOff val="15000"/>
                </a:schemeClr>
              </a:solidFill>
              <a:latin typeface="Footlight MT Light" panose="0204060206030A020304" pitchFamily="18" charset="0"/>
            </a:endParaRPr>
          </a:p>
        </p:txBody>
      </p:sp>
      <p:sp>
        <p:nvSpPr>
          <p:cNvPr id="2" name="Flowchart: Process 1">
            <a:extLst>
              <a:ext uri="{FF2B5EF4-FFF2-40B4-BE49-F238E27FC236}">
                <a16:creationId xmlns:a16="http://schemas.microsoft.com/office/drawing/2014/main" id="{163523A4-2EBD-4945-B3F8-BFC3016F876E}"/>
              </a:ext>
            </a:extLst>
          </p:cNvPr>
          <p:cNvSpPr/>
          <p:nvPr/>
        </p:nvSpPr>
        <p:spPr>
          <a:xfrm>
            <a:off x="741680" y="1554480"/>
            <a:ext cx="10789920" cy="4856480"/>
          </a:xfrm>
          <a:prstGeom prst="flowChartProcess">
            <a:avLst/>
          </a:prstGeom>
          <a:blipFill>
            <a:blip r:embed="rId2"/>
            <a:stretch>
              <a:fillRect r="-1000"/>
            </a:stretch>
          </a:bli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p>
        </p:txBody>
      </p:sp>
    </p:spTree>
    <p:extLst>
      <p:ext uri="{BB962C8B-B14F-4D97-AF65-F5344CB8AC3E}">
        <p14:creationId xmlns:p14="http://schemas.microsoft.com/office/powerpoint/2010/main" val="297869216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Flowchart: Process 5">
            <a:extLst>
              <a:ext uri="{FF2B5EF4-FFF2-40B4-BE49-F238E27FC236}">
                <a16:creationId xmlns:a16="http://schemas.microsoft.com/office/drawing/2014/main" id="{EC33E5D3-B3E4-410E-B2F8-52A0B937285E}"/>
              </a:ext>
            </a:extLst>
          </p:cNvPr>
          <p:cNvSpPr/>
          <p:nvPr/>
        </p:nvSpPr>
        <p:spPr>
          <a:xfrm>
            <a:off x="0" y="0"/>
            <a:ext cx="12192000" cy="6858000"/>
          </a:xfrm>
          <a:prstGeom prst="flowChartProcess">
            <a:avLst/>
          </a:prstGeom>
          <a:solidFill>
            <a:schemeClr val="bg1">
              <a:lumMod val="50000"/>
            </a:schemeClr>
          </a:solidFill>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b="1" dirty="0"/>
          </a:p>
        </p:txBody>
      </p:sp>
      <p:sp>
        <p:nvSpPr>
          <p:cNvPr id="7" name="Rectangle: Rounded Corners 6">
            <a:extLst>
              <a:ext uri="{FF2B5EF4-FFF2-40B4-BE49-F238E27FC236}">
                <a16:creationId xmlns:a16="http://schemas.microsoft.com/office/drawing/2014/main" id="{A970E147-6313-40D5-A3FF-A31E40BCA1D1}"/>
              </a:ext>
            </a:extLst>
          </p:cNvPr>
          <p:cNvSpPr/>
          <p:nvPr/>
        </p:nvSpPr>
        <p:spPr>
          <a:xfrm>
            <a:off x="3210559" y="285939"/>
            <a:ext cx="6232525" cy="445582"/>
          </a:xfrm>
          <a:prstGeom prst="roundRect">
            <a:avLst/>
          </a:prstGeom>
          <a:solidFill>
            <a:schemeClr val="bg2">
              <a:lumMod val="75000"/>
            </a:schemeClr>
          </a:solidFill>
          <a:ln>
            <a:noFill/>
          </a:ln>
          <a:effectLst>
            <a:glow rad="241300">
              <a:schemeClr val="accent3">
                <a:satMod val="175000"/>
                <a:alpha val="63000"/>
              </a:schemeClr>
            </a:glow>
            <a:outerShdw blurRad="203200" dist="127000" dir="14100000" sx="104000" sy="104000" algn="br" rotWithShape="0">
              <a:schemeClr val="accent6">
                <a:lumMod val="75000"/>
                <a:alpha val="38000"/>
              </a:schemeClr>
            </a:outerShdw>
            <a:reflection stA="45000" endPos="6000" dist="50800" dir="5400000" sy="-100000" algn="bl" rotWithShape="0"/>
          </a:effectLst>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lumMod val="85000"/>
                    <a:lumOff val="15000"/>
                  </a:schemeClr>
                </a:solidFill>
                <a:latin typeface="Footlight MT Light" panose="0204060206030A020304" pitchFamily="18" charset="0"/>
              </a:rPr>
              <a:t>DATA PRESENTATION, ANALYSIS, AND INTERPRETATION</a:t>
            </a:r>
            <a:endParaRPr lang="en-PH" sz="2000" dirty="0">
              <a:solidFill>
                <a:schemeClr val="tx1">
                  <a:lumMod val="85000"/>
                  <a:lumOff val="15000"/>
                </a:schemeClr>
              </a:solidFill>
              <a:latin typeface="Footlight MT Light" panose="0204060206030A020304" pitchFamily="18" charset="0"/>
            </a:endParaRPr>
          </a:p>
        </p:txBody>
      </p:sp>
      <p:sp>
        <p:nvSpPr>
          <p:cNvPr id="3" name="Rectangle: Rounded Corners 2">
            <a:extLst>
              <a:ext uri="{FF2B5EF4-FFF2-40B4-BE49-F238E27FC236}">
                <a16:creationId xmlns:a16="http://schemas.microsoft.com/office/drawing/2014/main" id="{0C075A75-6C78-47AF-BAD2-BEED21FD692E}"/>
              </a:ext>
            </a:extLst>
          </p:cNvPr>
          <p:cNvSpPr/>
          <p:nvPr/>
        </p:nvSpPr>
        <p:spPr>
          <a:xfrm>
            <a:off x="307340" y="235139"/>
            <a:ext cx="1958340" cy="333821"/>
          </a:xfrm>
          <a:prstGeom prst="roundRect">
            <a:avLst/>
          </a:prstGeom>
          <a:solidFill>
            <a:schemeClr val="bg2">
              <a:lumMod val="75000"/>
            </a:schemeClr>
          </a:solidFill>
          <a:effectLst>
            <a:glow rad="241300">
              <a:schemeClr val="accent3">
                <a:satMod val="175000"/>
                <a:alpha val="63000"/>
              </a:schemeClr>
            </a:glow>
            <a:outerShdw blurRad="203200" dist="127000" dir="14100000" sx="104000" sy="104000" algn="br" rotWithShape="0">
              <a:prstClr val="black">
                <a:alpha val="38000"/>
              </a:prstClr>
            </a:outerShdw>
          </a:effectLst>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lumMod val="85000"/>
                    <a:lumOff val="15000"/>
                  </a:schemeClr>
                </a:solidFill>
                <a:latin typeface="Footlight MT Light" panose="0204060206030A020304" pitchFamily="18" charset="0"/>
              </a:rPr>
              <a:t>CHAPTER 4</a:t>
            </a:r>
            <a:endParaRPr lang="en-PH" sz="2800" dirty="0">
              <a:solidFill>
                <a:schemeClr val="tx1">
                  <a:lumMod val="85000"/>
                  <a:lumOff val="15000"/>
                </a:schemeClr>
              </a:solidFill>
              <a:latin typeface="Footlight MT Light" panose="0204060206030A020304" pitchFamily="18" charset="0"/>
            </a:endParaRPr>
          </a:p>
        </p:txBody>
      </p:sp>
      <p:sp>
        <p:nvSpPr>
          <p:cNvPr id="8" name="Rectangle: Rounded Corners 7">
            <a:extLst>
              <a:ext uri="{FF2B5EF4-FFF2-40B4-BE49-F238E27FC236}">
                <a16:creationId xmlns:a16="http://schemas.microsoft.com/office/drawing/2014/main" id="{615A8474-1F96-4F19-A584-8B5679A18347}"/>
              </a:ext>
            </a:extLst>
          </p:cNvPr>
          <p:cNvSpPr/>
          <p:nvPr/>
        </p:nvSpPr>
        <p:spPr>
          <a:xfrm>
            <a:off x="341630" y="2674219"/>
            <a:ext cx="11508739" cy="2956560"/>
          </a:xfrm>
          <a:prstGeom prst="roundRect">
            <a:avLst/>
          </a:prstGeom>
          <a:solidFill>
            <a:schemeClr val="bg1">
              <a:lumMod val="75000"/>
            </a:schemeClr>
          </a:solidFill>
          <a:ln>
            <a:solidFill>
              <a:schemeClr val="bg1">
                <a:lumMod val="85000"/>
              </a:schemeClr>
            </a:solidFill>
          </a:ln>
          <a:effectLst>
            <a:glow rad="165100">
              <a:schemeClr val="accent4">
                <a:satMod val="175000"/>
                <a:alpha val="40000"/>
              </a:schemeClr>
            </a:glow>
            <a:outerShdw blurRad="584200" dist="38100" dir="8100000" sx="104000" sy="104000" algn="tr" rotWithShape="0">
              <a:prstClr val="black">
                <a:alpha val="50000"/>
              </a:prstClr>
            </a:outerShdw>
          </a:effectLst>
          <a:scene3d>
            <a:camera prst="orthographicFront"/>
            <a:lightRig rig="threePt" dir="t"/>
          </a:scene3d>
          <a:sp3d>
            <a:bevelT w="165100" prst="coolSlan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lnSpc>
                <a:spcPct val="107000"/>
              </a:lnSpc>
              <a:spcAft>
                <a:spcPts val="800"/>
              </a:spcAft>
            </a:pPr>
            <a:r>
              <a:rPr lang="en-US" sz="3000" dirty="0">
                <a:solidFill>
                  <a:schemeClr val="tx1">
                    <a:lumMod val="85000"/>
                    <a:lumOff val="15000"/>
                  </a:schemeClr>
                </a:solidFill>
                <a:effectLst/>
                <a:latin typeface="Agency FB" panose="020B0503020202020204" pitchFamily="34" charset="0"/>
                <a:ea typeface="Calibri" panose="020F0502020204030204" pitchFamily="34" charset="0"/>
              </a:rPr>
              <a:t>Academic performance and smartphone addiction were found to be weakly positively correlated (r = 0.0345, p = 0.59329) by correlation analysis. This correlation is not statistically significant, according to the high p-value. Even while overall and weighted mean academic scores have a little positive correlation, more investigation is required to identify other factors affecting academic achievement.</a:t>
            </a:r>
            <a:endParaRPr lang="en-PH" sz="3000" dirty="0">
              <a:solidFill>
                <a:schemeClr val="tx1">
                  <a:lumMod val="85000"/>
                  <a:lumOff val="15000"/>
                </a:schemeClr>
              </a:solidFill>
              <a:effectLst/>
              <a:latin typeface="Agency FB" panose="020B0503020202020204" pitchFamily="34" charset="0"/>
              <a:ea typeface="Calibri" panose="020F0502020204030204" pitchFamily="34" charset="0"/>
            </a:endParaRPr>
          </a:p>
        </p:txBody>
      </p:sp>
    </p:spTree>
    <p:extLst>
      <p:ext uri="{BB962C8B-B14F-4D97-AF65-F5344CB8AC3E}">
        <p14:creationId xmlns:p14="http://schemas.microsoft.com/office/powerpoint/2010/main" val="317150215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Flowchart: Process 5">
            <a:extLst>
              <a:ext uri="{FF2B5EF4-FFF2-40B4-BE49-F238E27FC236}">
                <a16:creationId xmlns:a16="http://schemas.microsoft.com/office/drawing/2014/main" id="{EC33E5D3-B3E4-410E-B2F8-52A0B937285E}"/>
              </a:ext>
            </a:extLst>
          </p:cNvPr>
          <p:cNvSpPr/>
          <p:nvPr/>
        </p:nvSpPr>
        <p:spPr>
          <a:xfrm>
            <a:off x="0" y="0"/>
            <a:ext cx="12192000" cy="6858000"/>
          </a:xfrm>
          <a:prstGeom prst="flowChartProcess">
            <a:avLst/>
          </a:prstGeom>
          <a:solidFill>
            <a:schemeClr val="bg1">
              <a:lumMod val="50000"/>
            </a:schemeClr>
          </a:solidFill>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b="1" dirty="0"/>
          </a:p>
        </p:txBody>
      </p:sp>
      <p:sp>
        <p:nvSpPr>
          <p:cNvPr id="3" name="Rectangle: Rounded Corners 2">
            <a:extLst>
              <a:ext uri="{FF2B5EF4-FFF2-40B4-BE49-F238E27FC236}">
                <a16:creationId xmlns:a16="http://schemas.microsoft.com/office/drawing/2014/main" id="{0C075A75-6C78-47AF-BAD2-BEED21FD692E}"/>
              </a:ext>
            </a:extLst>
          </p:cNvPr>
          <p:cNvSpPr/>
          <p:nvPr/>
        </p:nvSpPr>
        <p:spPr>
          <a:xfrm>
            <a:off x="3935128" y="2649353"/>
            <a:ext cx="4321743" cy="1559293"/>
          </a:xfrm>
          <a:prstGeom prst="roundRect">
            <a:avLst/>
          </a:prstGeom>
          <a:solidFill>
            <a:schemeClr val="bg2">
              <a:lumMod val="75000"/>
            </a:schemeClr>
          </a:solidFill>
          <a:effectLst>
            <a:glow rad="241300">
              <a:schemeClr val="accent3">
                <a:satMod val="175000"/>
                <a:alpha val="63000"/>
              </a:schemeClr>
            </a:glow>
            <a:outerShdw blurRad="203200" dist="127000" dir="14100000" sx="104000" sy="104000" algn="br" rotWithShape="0">
              <a:prstClr val="black">
                <a:alpha val="38000"/>
              </a:prstClr>
            </a:outerShdw>
          </a:effectLst>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lumMod val="85000"/>
                    <a:lumOff val="15000"/>
                  </a:schemeClr>
                </a:solidFill>
                <a:latin typeface="Footlight MT Light" panose="0204060206030A020304" pitchFamily="18" charset="0"/>
              </a:rPr>
              <a:t>CHAPTER 5</a:t>
            </a:r>
            <a:endParaRPr lang="en-PH" sz="2800" dirty="0">
              <a:solidFill>
                <a:schemeClr val="tx1">
                  <a:lumMod val="85000"/>
                  <a:lumOff val="15000"/>
                </a:schemeClr>
              </a:solidFill>
              <a:latin typeface="Footlight MT Light" panose="0204060206030A020304" pitchFamily="18" charset="0"/>
            </a:endParaRPr>
          </a:p>
        </p:txBody>
      </p:sp>
    </p:spTree>
    <p:extLst>
      <p:ext uri="{BB962C8B-B14F-4D97-AF65-F5344CB8AC3E}">
        <p14:creationId xmlns:p14="http://schemas.microsoft.com/office/powerpoint/2010/main" val="150065617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Flowchart: Process 5">
            <a:extLst>
              <a:ext uri="{FF2B5EF4-FFF2-40B4-BE49-F238E27FC236}">
                <a16:creationId xmlns:a16="http://schemas.microsoft.com/office/drawing/2014/main" id="{EC33E5D3-B3E4-410E-B2F8-52A0B937285E}"/>
              </a:ext>
            </a:extLst>
          </p:cNvPr>
          <p:cNvSpPr/>
          <p:nvPr/>
        </p:nvSpPr>
        <p:spPr>
          <a:xfrm>
            <a:off x="0" y="0"/>
            <a:ext cx="12192000" cy="6858000"/>
          </a:xfrm>
          <a:prstGeom prst="flowChartProcess">
            <a:avLst/>
          </a:prstGeom>
          <a:solidFill>
            <a:schemeClr val="bg1">
              <a:lumMod val="50000"/>
            </a:schemeClr>
          </a:solidFill>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b="1" dirty="0"/>
          </a:p>
        </p:txBody>
      </p:sp>
      <p:sp>
        <p:nvSpPr>
          <p:cNvPr id="3" name="Rectangle: Rounded Corners 2">
            <a:extLst>
              <a:ext uri="{FF2B5EF4-FFF2-40B4-BE49-F238E27FC236}">
                <a16:creationId xmlns:a16="http://schemas.microsoft.com/office/drawing/2014/main" id="{0C075A75-6C78-47AF-BAD2-BEED21FD692E}"/>
              </a:ext>
            </a:extLst>
          </p:cNvPr>
          <p:cNvSpPr/>
          <p:nvPr/>
        </p:nvSpPr>
        <p:spPr>
          <a:xfrm>
            <a:off x="181276" y="223786"/>
            <a:ext cx="1917032" cy="498109"/>
          </a:xfrm>
          <a:prstGeom prst="roundRect">
            <a:avLst/>
          </a:prstGeom>
          <a:solidFill>
            <a:schemeClr val="bg2">
              <a:lumMod val="75000"/>
            </a:schemeClr>
          </a:solidFill>
          <a:effectLst>
            <a:glow rad="241300">
              <a:schemeClr val="accent3">
                <a:satMod val="175000"/>
                <a:alpha val="63000"/>
              </a:schemeClr>
            </a:glow>
            <a:outerShdw blurRad="203200" dist="127000" dir="14100000" sx="104000" sy="104000" algn="br" rotWithShape="0">
              <a:prstClr val="black">
                <a:alpha val="38000"/>
              </a:prstClr>
            </a:outerShdw>
          </a:effectLst>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a:solidFill>
                  <a:schemeClr val="tx1">
                    <a:lumMod val="85000"/>
                    <a:lumOff val="15000"/>
                  </a:schemeClr>
                </a:solidFill>
                <a:latin typeface="Footlight MT Light" panose="0204060206030A020304" pitchFamily="18" charset="0"/>
              </a:rPr>
              <a:t>CHAPTER 5</a:t>
            </a:r>
            <a:endParaRPr lang="en-PH" sz="2800" dirty="0">
              <a:solidFill>
                <a:schemeClr val="tx1">
                  <a:lumMod val="85000"/>
                  <a:lumOff val="15000"/>
                </a:schemeClr>
              </a:solidFill>
              <a:latin typeface="Footlight MT Light" panose="0204060206030A020304" pitchFamily="18" charset="0"/>
            </a:endParaRPr>
          </a:p>
        </p:txBody>
      </p:sp>
      <p:sp>
        <p:nvSpPr>
          <p:cNvPr id="4" name="Rectangle: Rounded Corners 3">
            <a:extLst>
              <a:ext uri="{FF2B5EF4-FFF2-40B4-BE49-F238E27FC236}">
                <a16:creationId xmlns:a16="http://schemas.microsoft.com/office/drawing/2014/main" id="{7DA693D9-8772-41E8-94E5-5B842D0DF777}"/>
              </a:ext>
            </a:extLst>
          </p:cNvPr>
          <p:cNvSpPr/>
          <p:nvPr/>
        </p:nvSpPr>
        <p:spPr>
          <a:xfrm>
            <a:off x="1918636" y="2961373"/>
            <a:ext cx="8354728" cy="935254"/>
          </a:xfrm>
          <a:prstGeom prst="roundRect">
            <a:avLst/>
          </a:prstGeom>
          <a:solidFill>
            <a:schemeClr val="bg1">
              <a:lumMod val="75000"/>
            </a:schemeClr>
          </a:solidFill>
          <a:ln>
            <a:solidFill>
              <a:schemeClr val="bg1">
                <a:lumMod val="85000"/>
              </a:schemeClr>
            </a:solidFill>
          </a:ln>
          <a:effectLst>
            <a:glow rad="165100">
              <a:schemeClr val="accent4">
                <a:satMod val="175000"/>
                <a:alpha val="40000"/>
              </a:schemeClr>
            </a:glow>
            <a:outerShdw blurRad="584200" dist="38100" dir="8100000" sx="104000" sy="104000" algn="tr" rotWithShape="0">
              <a:prstClr val="black">
                <a:alpha val="50000"/>
              </a:prstClr>
            </a:outerShdw>
          </a:effectLst>
          <a:scene3d>
            <a:camera prst="orthographicFront"/>
            <a:lightRig rig="threePt" dir="t"/>
          </a:scene3d>
          <a:sp3d>
            <a:bevelT w="165100" prst="coolSlan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lnSpc>
                <a:spcPct val="107000"/>
              </a:lnSpc>
              <a:spcAft>
                <a:spcPts val="800"/>
              </a:spcAft>
            </a:pPr>
            <a:r>
              <a:rPr lang="en-US" sz="4400" b="1" dirty="0">
                <a:solidFill>
                  <a:schemeClr val="tx1">
                    <a:lumMod val="85000"/>
                    <a:lumOff val="15000"/>
                  </a:schemeClr>
                </a:solidFill>
                <a:effectLst/>
                <a:latin typeface="Agency FB" panose="020B0503020202020204" pitchFamily="34" charset="0"/>
                <a:ea typeface="Verdana" panose="020B0604030504040204" pitchFamily="34" charset="0"/>
                <a:cs typeface="Verdana" panose="020B0604030504040204" pitchFamily="34" charset="0"/>
              </a:rPr>
              <a:t>SUMMARY OF FINDINGS AND CONCLUSION</a:t>
            </a:r>
            <a:endParaRPr lang="en-PH" sz="4400" dirty="0">
              <a:solidFill>
                <a:schemeClr val="tx1">
                  <a:lumMod val="85000"/>
                  <a:lumOff val="15000"/>
                </a:schemeClr>
              </a:solidFill>
              <a:effectLst/>
              <a:latin typeface="Agency FB" panose="020B0503020202020204" pitchFamily="34" charset="0"/>
              <a:ea typeface="Calibri" panose="020F0502020204030204" pitchFamily="34" charset="0"/>
            </a:endParaRPr>
          </a:p>
        </p:txBody>
      </p:sp>
    </p:spTree>
    <p:extLst>
      <p:ext uri="{BB962C8B-B14F-4D97-AF65-F5344CB8AC3E}">
        <p14:creationId xmlns:p14="http://schemas.microsoft.com/office/powerpoint/2010/main" val="365402555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Flowchart: Process 5">
            <a:extLst>
              <a:ext uri="{FF2B5EF4-FFF2-40B4-BE49-F238E27FC236}">
                <a16:creationId xmlns:a16="http://schemas.microsoft.com/office/drawing/2014/main" id="{EC33E5D3-B3E4-410E-B2F8-52A0B937285E}"/>
              </a:ext>
            </a:extLst>
          </p:cNvPr>
          <p:cNvSpPr/>
          <p:nvPr/>
        </p:nvSpPr>
        <p:spPr>
          <a:xfrm>
            <a:off x="0" y="0"/>
            <a:ext cx="12192000" cy="6858000"/>
          </a:xfrm>
          <a:prstGeom prst="flowChartProcess">
            <a:avLst/>
          </a:prstGeom>
          <a:solidFill>
            <a:schemeClr val="bg1">
              <a:lumMod val="50000"/>
            </a:schemeClr>
          </a:solidFill>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b="1" dirty="0"/>
          </a:p>
        </p:txBody>
      </p:sp>
      <p:sp>
        <p:nvSpPr>
          <p:cNvPr id="3" name="Rectangle: Rounded Corners 2">
            <a:extLst>
              <a:ext uri="{FF2B5EF4-FFF2-40B4-BE49-F238E27FC236}">
                <a16:creationId xmlns:a16="http://schemas.microsoft.com/office/drawing/2014/main" id="{0C075A75-6C78-47AF-BAD2-BEED21FD692E}"/>
              </a:ext>
            </a:extLst>
          </p:cNvPr>
          <p:cNvSpPr/>
          <p:nvPr/>
        </p:nvSpPr>
        <p:spPr>
          <a:xfrm>
            <a:off x="181276" y="223786"/>
            <a:ext cx="1917032" cy="498109"/>
          </a:xfrm>
          <a:prstGeom prst="roundRect">
            <a:avLst/>
          </a:prstGeom>
          <a:solidFill>
            <a:schemeClr val="bg2">
              <a:lumMod val="75000"/>
            </a:schemeClr>
          </a:solidFill>
          <a:effectLst>
            <a:glow rad="241300">
              <a:schemeClr val="accent3">
                <a:satMod val="175000"/>
                <a:alpha val="63000"/>
              </a:schemeClr>
            </a:glow>
            <a:outerShdw blurRad="203200" dist="127000" dir="14100000" sx="104000" sy="104000" algn="br" rotWithShape="0">
              <a:prstClr val="black">
                <a:alpha val="38000"/>
              </a:prstClr>
            </a:outerShdw>
          </a:effectLst>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a:solidFill>
                  <a:schemeClr val="tx1">
                    <a:lumMod val="85000"/>
                    <a:lumOff val="15000"/>
                  </a:schemeClr>
                </a:solidFill>
                <a:latin typeface="Footlight MT Light" panose="0204060206030A020304" pitchFamily="18" charset="0"/>
              </a:rPr>
              <a:t>CHAPTER 5</a:t>
            </a:r>
            <a:endParaRPr lang="en-PH" sz="2800" dirty="0">
              <a:solidFill>
                <a:schemeClr val="tx1">
                  <a:lumMod val="85000"/>
                  <a:lumOff val="15000"/>
                </a:schemeClr>
              </a:solidFill>
              <a:latin typeface="Footlight MT Light" panose="0204060206030A020304" pitchFamily="18" charset="0"/>
            </a:endParaRPr>
          </a:p>
        </p:txBody>
      </p:sp>
      <p:sp>
        <p:nvSpPr>
          <p:cNvPr id="4" name="Rectangle: Rounded Corners 3">
            <a:extLst>
              <a:ext uri="{FF2B5EF4-FFF2-40B4-BE49-F238E27FC236}">
                <a16:creationId xmlns:a16="http://schemas.microsoft.com/office/drawing/2014/main" id="{7DA693D9-8772-41E8-94E5-5B842D0DF777}"/>
              </a:ext>
            </a:extLst>
          </p:cNvPr>
          <p:cNvSpPr/>
          <p:nvPr/>
        </p:nvSpPr>
        <p:spPr>
          <a:xfrm>
            <a:off x="4190599" y="233415"/>
            <a:ext cx="3810802" cy="498109"/>
          </a:xfrm>
          <a:prstGeom prst="roundRect">
            <a:avLst/>
          </a:prstGeom>
          <a:solidFill>
            <a:schemeClr val="bg1">
              <a:lumMod val="75000"/>
            </a:schemeClr>
          </a:solidFill>
          <a:ln>
            <a:solidFill>
              <a:schemeClr val="bg1">
                <a:lumMod val="85000"/>
              </a:schemeClr>
            </a:solidFill>
          </a:ln>
          <a:effectLst>
            <a:glow rad="101600">
              <a:schemeClr val="accent6">
                <a:satMod val="175000"/>
                <a:alpha val="40000"/>
              </a:schemeClr>
            </a:glow>
            <a:outerShdw blurRad="584200" dist="38100" dir="8100000" sx="104000" sy="104000" algn="tr" rotWithShape="0">
              <a:prstClr val="black">
                <a:alpha val="50000"/>
              </a:prstClr>
            </a:outerShdw>
          </a:effectLst>
          <a:scene3d>
            <a:camera prst="orthographicFront"/>
            <a:lightRig rig="threePt" dir="t"/>
          </a:scene3d>
          <a:sp3d>
            <a:bevelT w="165100" prst="coolSlan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lnSpc>
                <a:spcPct val="107000"/>
              </a:lnSpc>
              <a:spcAft>
                <a:spcPts val="800"/>
              </a:spcAft>
            </a:pPr>
            <a:r>
              <a:rPr lang="en-US" sz="3600" b="1" dirty="0">
                <a:solidFill>
                  <a:schemeClr val="tx1">
                    <a:lumMod val="85000"/>
                    <a:lumOff val="15000"/>
                  </a:schemeClr>
                </a:solidFill>
                <a:effectLst/>
                <a:latin typeface="Agency FB" panose="020B0503020202020204" pitchFamily="34" charset="0"/>
                <a:ea typeface="Verdana" panose="020B0604030504040204" pitchFamily="34" charset="0"/>
                <a:cs typeface="Verdana" panose="020B0604030504040204" pitchFamily="34" charset="0"/>
              </a:rPr>
              <a:t>SUMMARY OF FINDINGS</a:t>
            </a:r>
            <a:endParaRPr lang="en-PH" sz="3600" dirty="0">
              <a:solidFill>
                <a:schemeClr val="tx1">
                  <a:lumMod val="85000"/>
                  <a:lumOff val="15000"/>
                </a:schemeClr>
              </a:solidFill>
              <a:effectLst/>
              <a:latin typeface="Agency FB" panose="020B0503020202020204" pitchFamily="34" charset="0"/>
              <a:ea typeface="Calibri" panose="020F0502020204030204" pitchFamily="34" charset="0"/>
            </a:endParaRPr>
          </a:p>
        </p:txBody>
      </p:sp>
      <p:sp>
        <p:nvSpPr>
          <p:cNvPr id="5" name="Rectangle: Rounded Corners 4">
            <a:extLst>
              <a:ext uri="{FF2B5EF4-FFF2-40B4-BE49-F238E27FC236}">
                <a16:creationId xmlns:a16="http://schemas.microsoft.com/office/drawing/2014/main" id="{106F320B-F9EC-46E5-B1C0-23B6DAE5D17D}"/>
              </a:ext>
            </a:extLst>
          </p:cNvPr>
          <p:cNvSpPr/>
          <p:nvPr/>
        </p:nvSpPr>
        <p:spPr>
          <a:xfrm>
            <a:off x="307340" y="1615440"/>
            <a:ext cx="11508739" cy="4866640"/>
          </a:xfrm>
          <a:prstGeom prst="roundRect">
            <a:avLst/>
          </a:prstGeom>
          <a:solidFill>
            <a:schemeClr val="bg1">
              <a:lumMod val="75000"/>
            </a:schemeClr>
          </a:solidFill>
          <a:ln>
            <a:solidFill>
              <a:schemeClr val="bg1">
                <a:lumMod val="85000"/>
              </a:schemeClr>
            </a:solidFill>
          </a:ln>
          <a:effectLst>
            <a:glow rad="165100">
              <a:schemeClr val="accent1">
                <a:lumMod val="75000"/>
                <a:alpha val="40000"/>
              </a:schemeClr>
            </a:glow>
            <a:outerShdw blurRad="584200" dist="38100" dir="8100000" sx="104000" sy="104000" algn="tr" rotWithShape="0">
              <a:prstClr val="black">
                <a:alpha val="50000"/>
              </a:prstClr>
            </a:outerShdw>
          </a:effectLst>
          <a:scene3d>
            <a:camera prst="orthographicFront"/>
            <a:lightRig rig="threePt" dir="t"/>
          </a:scene3d>
          <a:sp3d>
            <a:bevelT w="165100" prst="coolSlan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lnSpc>
                <a:spcPct val="107000"/>
              </a:lnSpc>
              <a:spcAft>
                <a:spcPts val="800"/>
              </a:spcAft>
            </a:pPr>
            <a:r>
              <a:rPr lang="en-US" sz="3200" dirty="0">
                <a:solidFill>
                  <a:schemeClr val="tx1">
                    <a:lumMod val="85000"/>
                    <a:lumOff val="15000"/>
                  </a:schemeClr>
                </a:solidFill>
                <a:effectLst/>
                <a:latin typeface="Agency FB" panose="020B0503020202020204" pitchFamily="34" charset="0"/>
                <a:ea typeface="Calibri" panose="020F0502020204030204" pitchFamily="34" charset="0"/>
              </a:rPr>
              <a:t>A study on smartphone addiction and academic achievement at </a:t>
            </a:r>
            <a:r>
              <a:rPr lang="en-US" sz="3200" dirty="0" err="1">
                <a:solidFill>
                  <a:schemeClr val="tx1">
                    <a:lumMod val="85000"/>
                    <a:lumOff val="15000"/>
                  </a:schemeClr>
                </a:solidFill>
                <a:effectLst/>
                <a:latin typeface="Agency FB" panose="020B0503020202020204" pitchFamily="34" charset="0"/>
                <a:ea typeface="Calibri" panose="020F0502020204030204" pitchFamily="34" charset="0"/>
              </a:rPr>
              <a:t>Dumanjug</a:t>
            </a:r>
            <a:r>
              <a:rPr lang="en-US" sz="3200" dirty="0">
                <a:solidFill>
                  <a:schemeClr val="tx1">
                    <a:lumMod val="85000"/>
                    <a:lumOff val="15000"/>
                  </a:schemeClr>
                </a:solidFill>
                <a:effectLst/>
                <a:latin typeface="Agency FB" panose="020B0503020202020204" pitchFamily="34" charset="0"/>
                <a:ea typeface="Calibri" panose="020F0502020204030204" pitchFamily="34" charset="0"/>
              </a:rPr>
              <a:t> National High School is summarized in this chapter. Even if a sizable portion of students suffer from moderate smartphone addiction, there is no discernible link between academic achievement and addiction levels, according to a correlation analysis. Limiting smartphone use may be the reason for the strong academic achievement (weighted mean of 89.9). Social pressure, mental health issues, a lack of alternative coping strategies, and ignorance are risk factors for smartphone addiction. Time management, goal-setting, active learning strategies, productive study habits, and reducing distractions are all ways to boost academic achievement.</a:t>
            </a:r>
            <a:endParaRPr lang="en-PH" sz="3200" dirty="0">
              <a:solidFill>
                <a:schemeClr val="tx1">
                  <a:lumMod val="85000"/>
                  <a:lumOff val="15000"/>
                </a:schemeClr>
              </a:solidFill>
              <a:effectLst/>
              <a:latin typeface="Agency FB" panose="020B0503020202020204" pitchFamily="34" charset="0"/>
              <a:ea typeface="Calibri" panose="020F0502020204030204" pitchFamily="34" charset="0"/>
            </a:endParaRPr>
          </a:p>
        </p:txBody>
      </p:sp>
    </p:spTree>
    <p:extLst>
      <p:ext uri="{BB962C8B-B14F-4D97-AF65-F5344CB8AC3E}">
        <p14:creationId xmlns:p14="http://schemas.microsoft.com/office/powerpoint/2010/main" val="332831618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Flowchart: Process 5">
            <a:extLst>
              <a:ext uri="{FF2B5EF4-FFF2-40B4-BE49-F238E27FC236}">
                <a16:creationId xmlns:a16="http://schemas.microsoft.com/office/drawing/2014/main" id="{EC33E5D3-B3E4-410E-B2F8-52A0B937285E}"/>
              </a:ext>
            </a:extLst>
          </p:cNvPr>
          <p:cNvSpPr/>
          <p:nvPr/>
        </p:nvSpPr>
        <p:spPr>
          <a:xfrm>
            <a:off x="0" y="0"/>
            <a:ext cx="12192000" cy="6858000"/>
          </a:xfrm>
          <a:prstGeom prst="flowChartProcess">
            <a:avLst/>
          </a:prstGeom>
          <a:solidFill>
            <a:schemeClr val="bg1">
              <a:lumMod val="50000"/>
            </a:schemeClr>
          </a:solidFill>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b="1" dirty="0"/>
          </a:p>
        </p:txBody>
      </p:sp>
      <p:sp>
        <p:nvSpPr>
          <p:cNvPr id="3" name="Rectangle: Rounded Corners 2">
            <a:extLst>
              <a:ext uri="{FF2B5EF4-FFF2-40B4-BE49-F238E27FC236}">
                <a16:creationId xmlns:a16="http://schemas.microsoft.com/office/drawing/2014/main" id="{0C075A75-6C78-47AF-BAD2-BEED21FD692E}"/>
              </a:ext>
            </a:extLst>
          </p:cNvPr>
          <p:cNvSpPr/>
          <p:nvPr/>
        </p:nvSpPr>
        <p:spPr>
          <a:xfrm>
            <a:off x="181276" y="223786"/>
            <a:ext cx="1917032" cy="498109"/>
          </a:xfrm>
          <a:prstGeom prst="roundRect">
            <a:avLst/>
          </a:prstGeom>
          <a:solidFill>
            <a:schemeClr val="bg2">
              <a:lumMod val="75000"/>
            </a:schemeClr>
          </a:solidFill>
          <a:effectLst>
            <a:glow rad="241300">
              <a:schemeClr val="accent3">
                <a:satMod val="175000"/>
                <a:alpha val="63000"/>
              </a:schemeClr>
            </a:glow>
            <a:outerShdw blurRad="203200" dist="127000" dir="14100000" sx="104000" sy="104000" algn="br" rotWithShape="0">
              <a:prstClr val="black">
                <a:alpha val="38000"/>
              </a:prstClr>
            </a:outerShdw>
          </a:effectLst>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a:solidFill>
                  <a:schemeClr val="tx1">
                    <a:lumMod val="85000"/>
                    <a:lumOff val="15000"/>
                  </a:schemeClr>
                </a:solidFill>
                <a:latin typeface="Footlight MT Light" panose="0204060206030A020304" pitchFamily="18" charset="0"/>
              </a:rPr>
              <a:t>CHAPTER 5</a:t>
            </a:r>
            <a:endParaRPr lang="en-PH" sz="2800" dirty="0">
              <a:solidFill>
                <a:schemeClr val="tx1">
                  <a:lumMod val="85000"/>
                  <a:lumOff val="15000"/>
                </a:schemeClr>
              </a:solidFill>
              <a:latin typeface="Footlight MT Light" panose="0204060206030A020304" pitchFamily="18" charset="0"/>
            </a:endParaRPr>
          </a:p>
        </p:txBody>
      </p:sp>
      <p:sp>
        <p:nvSpPr>
          <p:cNvPr id="4" name="Rectangle: Rounded Corners 3">
            <a:extLst>
              <a:ext uri="{FF2B5EF4-FFF2-40B4-BE49-F238E27FC236}">
                <a16:creationId xmlns:a16="http://schemas.microsoft.com/office/drawing/2014/main" id="{7DA693D9-8772-41E8-94E5-5B842D0DF777}"/>
              </a:ext>
            </a:extLst>
          </p:cNvPr>
          <p:cNvSpPr/>
          <p:nvPr/>
        </p:nvSpPr>
        <p:spPr>
          <a:xfrm>
            <a:off x="4985819" y="233946"/>
            <a:ext cx="2220361" cy="376185"/>
          </a:xfrm>
          <a:prstGeom prst="roundRect">
            <a:avLst/>
          </a:prstGeom>
          <a:solidFill>
            <a:schemeClr val="bg1">
              <a:lumMod val="75000"/>
            </a:schemeClr>
          </a:solidFill>
          <a:ln>
            <a:solidFill>
              <a:schemeClr val="bg1">
                <a:lumMod val="85000"/>
              </a:schemeClr>
            </a:solidFill>
          </a:ln>
          <a:effectLst>
            <a:glow rad="101600">
              <a:schemeClr val="accent6">
                <a:satMod val="175000"/>
                <a:alpha val="40000"/>
              </a:schemeClr>
            </a:glow>
            <a:outerShdw blurRad="584200" dist="38100" dir="8100000" sx="104000" sy="104000" algn="tr" rotWithShape="0">
              <a:prstClr val="black">
                <a:alpha val="50000"/>
              </a:prstClr>
            </a:outerShdw>
          </a:effectLst>
          <a:scene3d>
            <a:camera prst="orthographicFront"/>
            <a:lightRig rig="threePt" dir="t"/>
          </a:scene3d>
          <a:sp3d>
            <a:bevelT w="165100" prst="coolSlan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lnSpc>
                <a:spcPct val="107000"/>
              </a:lnSpc>
              <a:spcAft>
                <a:spcPts val="800"/>
              </a:spcAft>
            </a:pPr>
            <a:r>
              <a:rPr lang="en-US" sz="3600" b="1" dirty="0">
                <a:solidFill>
                  <a:schemeClr val="tx1">
                    <a:lumMod val="85000"/>
                    <a:lumOff val="15000"/>
                  </a:schemeClr>
                </a:solidFill>
                <a:effectLst/>
                <a:latin typeface="Agency FB" panose="020B0503020202020204" pitchFamily="34" charset="0"/>
                <a:ea typeface="Verdana" panose="020B0604030504040204" pitchFamily="34" charset="0"/>
                <a:cs typeface="Verdana" panose="020B0604030504040204" pitchFamily="34" charset="0"/>
              </a:rPr>
              <a:t>CONCLUSION</a:t>
            </a:r>
            <a:endParaRPr lang="en-PH" sz="3600" dirty="0">
              <a:solidFill>
                <a:schemeClr val="tx1">
                  <a:lumMod val="85000"/>
                  <a:lumOff val="15000"/>
                </a:schemeClr>
              </a:solidFill>
              <a:effectLst/>
              <a:latin typeface="Agency FB" panose="020B0503020202020204" pitchFamily="34" charset="0"/>
              <a:ea typeface="Calibri" panose="020F0502020204030204" pitchFamily="34" charset="0"/>
            </a:endParaRPr>
          </a:p>
        </p:txBody>
      </p:sp>
      <p:sp>
        <p:nvSpPr>
          <p:cNvPr id="5" name="Rectangle: Rounded Corners 4">
            <a:extLst>
              <a:ext uri="{FF2B5EF4-FFF2-40B4-BE49-F238E27FC236}">
                <a16:creationId xmlns:a16="http://schemas.microsoft.com/office/drawing/2014/main" id="{106F320B-F9EC-46E5-B1C0-23B6DAE5D17D}"/>
              </a:ext>
            </a:extLst>
          </p:cNvPr>
          <p:cNvSpPr/>
          <p:nvPr/>
        </p:nvSpPr>
        <p:spPr>
          <a:xfrm>
            <a:off x="307340" y="1615440"/>
            <a:ext cx="11508739" cy="4866640"/>
          </a:xfrm>
          <a:prstGeom prst="roundRect">
            <a:avLst/>
          </a:prstGeom>
          <a:solidFill>
            <a:schemeClr val="bg1">
              <a:lumMod val="75000"/>
            </a:schemeClr>
          </a:solidFill>
          <a:ln>
            <a:solidFill>
              <a:schemeClr val="bg1">
                <a:lumMod val="85000"/>
              </a:schemeClr>
            </a:solidFill>
          </a:ln>
          <a:effectLst>
            <a:glow rad="165100">
              <a:schemeClr val="accent1">
                <a:lumMod val="75000"/>
                <a:alpha val="40000"/>
              </a:schemeClr>
            </a:glow>
            <a:outerShdw blurRad="584200" dist="38100" dir="8100000" sx="104000" sy="104000" algn="tr" rotWithShape="0">
              <a:prstClr val="black">
                <a:alpha val="50000"/>
              </a:prstClr>
            </a:outerShdw>
          </a:effectLst>
          <a:scene3d>
            <a:camera prst="orthographicFront"/>
            <a:lightRig rig="threePt" dir="t"/>
          </a:scene3d>
          <a:sp3d>
            <a:bevelT w="165100" prst="coolSlan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lnSpc>
                <a:spcPct val="107000"/>
              </a:lnSpc>
              <a:spcAft>
                <a:spcPts val="800"/>
              </a:spcAft>
            </a:pPr>
            <a:r>
              <a:rPr lang="en-US" sz="3200" dirty="0">
                <a:solidFill>
                  <a:schemeClr val="tx1">
                    <a:lumMod val="85000"/>
                    <a:lumOff val="15000"/>
                  </a:schemeClr>
                </a:solidFill>
                <a:effectLst/>
                <a:latin typeface="Agency FB" panose="020B0503020202020204" pitchFamily="34" charset="0"/>
                <a:ea typeface="Calibri" panose="020F0502020204030204" pitchFamily="34" charset="0"/>
              </a:rPr>
              <a:t>Even though a sizable portion of pupils (37.19%) had moderate smartphone addiction, the results from </a:t>
            </a:r>
            <a:r>
              <a:rPr lang="en-US" sz="3200" dirty="0" err="1">
                <a:solidFill>
                  <a:schemeClr val="tx1">
                    <a:lumMod val="85000"/>
                    <a:lumOff val="15000"/>
                  </a:schemeClr>
                </a:solidFill>
                <a:effectLst/>
                <a:latin typeface="Agency FB" panose="020B0503020202020204" pitchFamily="34" charset="0"/>
                <a:ea typeface="Calibri" panose="020F0502020204030204" pitchFamily="34" charset="0"/>
              </a:rPr>
              <a:t>Dumanjug</a:t>
            </a:r>
            <a:r>
              <a:rPr lang="en-US" sz="3200" dirty="0">
                <a:solidFill>
                  <a:schemeClr val="tx1">
                    <a:lumMod val="85000"/>
                    <a:lumOff val="15000"/>
                  </a:schemeClr>
                </a:solidFill>
                <a:effectLst/>
                <a:latin typeface="Agency FB" panose="020B0503020202020204" pitchFamily="34" charset="0"/>
                <a:ea typeface="Calibri" panose="020F0502020204030204" pitchFamily="34" charset="0"/>
              </a:rPr>
              <a:t> National High School in Chapter 4 do not demonstrate a significant correlation between smartphone addiction and academic performance (Table 1). Although there was a slight positive connection, it is statistically insignificant due to the high p-value. The intricate connection between smartphone addiction and academic achievement requires more investigation, taking into account other influencing elements.</a:t>
            </a:r>
          </a:p>
        </p:txBody>
      </p:sp>
    </p:spTree>
    <p:extLst>
      <p:ext uri="{BB962C8B-B14F-4D97-AF65-F5344CB8AC3E}">
        <p14:creationId xmlns:p14="http://schemas.microsoft.com/office/powerpoint/2010/main" val="102680069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Flowchart: Process 5">
            <a:extLst>
              <a:ext uri="{FF2B5EF4-FFF2-40B4-BE49-F238E27FC236}">
                <a16:creationId xmlns:a16="http://schemas.microsoft.com/office/drawing/2014/main" id="{EC33E5D3-B3E4-410E-B2F8-52A0B937285E}"/>
              </a:ext>
            </a:extLst>
          </p:cNvPr>
          <p:cNvSpPr/>
          <p:nvPr/>
        </p:nvSpPr>
        <p:spPr>
          <a:xfrm>
            <a:off x="0" y="0"/>
            <a:ext cx="12192000" cy="6858000"/>
          </a:xfrm>
          <a:prstGeom prst="flowChartProcess">
            <a:avLst/>
          </a:prstGeom>
          <a:solidFill>
            <a:schemeClr val="bg1">
              <a:lumMod val="50000"/>
            </a:schemeClr>
          </a:solidFill>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b="1" dirty="0"/>
          </a:p>
        </p:txBody>
      </p:sp>
      <p:sp>
        <p:nvSpPr>
          <p:cNvPr id="3" name="Rectangle: Rounded Corners 2">
            <a:extLst>
              <a:ext uri="{FF2B5EF4-FFF2-40B4-BE49-F238E27FC236}">
                <a16:creationId xmlns:a16="http://schemas.microsoft.com/office/drawing/2014/main" id="{0C075A75-6C78-47AF-BAD2-BEED21FD692E}"/>
              </a:ext>
            </a:extLst>
          </p:cNvPr>
          <p:cNvSpPr/>
          <p:nvPr/>
        </p:nvSpPr>
        <p:spPr>
          <a:xfrm>
            <a:off x="181276" y="223786"/>
            <a:ext cx="1917032" cy="498109"/>
          </a:xfrm>
          <a:prstGeom prst="roundRect">
            <a:avLst/>
          </a:prstGeom>
          <a:solidFill>
            <a:schemeClr val="bg2">
              <a:lumMod val="75000"/>
            </a:schemeClr>
          </a:solidFill>
          <a:effectLst>
            <a:glow rad="241300">
              <a:schemeClr val="accent3">
                <a:satMod val="175000"/>
                <a:alpha val="63000"/>
              </a:schemeClr>
            </a:glow>
            <a:outerShdw blurRad="203200" dist="127000" dir="14100000" sx="104000" sy="104000" algn="br" rotWithShape="0">
              <a:prstClr val="black">
                <a:alpha val="38000"/>
              </a:prstClr>
            </a:outerShdw>
          </a:effectLst>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a:solidFill>
                  <a:schemeClr val="tx1">
                    <a:lumMod val="85000"/>
                    <a:lumOff val="15000"/>
                  </a:schemeClr>
                </a:solidFill>
                <a:latin typeface="Footlight MT Light" panose="0204060206030A020304" pitchFamily="18" charset="0"/>
              </a:rPr>
              <a:t>CHAPTER 5</a:t>
            </a:r>
            <a:endParaRPr lang="en-PH" sz="2800" dirty="0">
              <a:solidFill>
                <a:schemeClr val="tx1">
                  <a:lumMod val="85000"/>
                  <a:lumOff val="15000"/>
                </a:schemeClr>
              </a:solidFill>
              <a:latin typeface="Footlight MT Light" panose="0204060206030A020304" pitchFamily="18" charset="0"/>
            </a:endParaRPr>
          </a:p>
        </p:txBody>
      </p:sp>
      <p:sp>
        <p:nvSpPr>
          <p:cNvPr id="4" name="Rectangle: Rounded Corners 3">
            <a:extLst>
              <a:ext uri="{FF2B5EF4-FFF2-40B4-BE49-F238E27FC236}">
                <a16:creationId xmlns:a16="http://schemas.microsoft.com/office/drawing/2014/main" id="{7DA693D9-8772-41E8-94E5-5B842D0DF777}"/>
              </a:ext>
            </a:extLst>
          </p:cNvPr>
          <p:cNvSpPr/>
          <p:nvPr/>
        </p:nvSpPr>
        <p:spPr>
          <a:xfrm>
            <a:off x="4985819" y="243443"/>
            <a:ext cx="2220361" cy="376185"/>
          </a:xfrm>
          <a:prstGeom prst="roundRect">
            <a:avLst/>
          </a:prstGeom>
          <a:solidFill>
            <a:schemeClr val="bg1">
              <a:lumMod val="75000"/>
            </a:schemeClr>
          </a:solidFill>
          <a:ln>
            <a:solidFill>
              <a:schemeClr val="bg1">
                <a:lumMod val="85000"/>
              </a:schemeClr>
            </a:solidFill>
          </a:ln>
          <a:effectLst>
            <a:glow rad="101600">
              <a:schemeClr val="accent6">
                <a:satMod val="175000"/>
                <a:alpha val="40000"/>
              </a:schemeClr>
            </a:glow>
            <a:outerShdw blurRad="584200" dist="38100" dir="8100000" sx="104000" sy="104000" algn="tr" rotWithShape="0">
              <a:prstClr val="black">
                <a:alpha val="50000"/>
              </a:prstClr>
            </a:outerShdw>
          </a:effectLst>
          <a:scene3d>
            <a:camera prst="orthographicFront"/>
            <a:lightRig rig="threePt" dir="t"/>
          </a:scene3d>
          <a:sp3d>
            <a:bevelT w="165100" prst="coolSlan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07000"/>
              </a:lnSpc>
              <a:spcAft>
                <a:spcPts val="800"/>
              </a:spcAft>
            </a:pPr>
            <a:r>
              <a:rPr lang="en-US" sz="2000" b="1" dirty="0">
                <a:solidFill>
                  <a:schemeClr val="tx1">
                    <a:lumMod val="85000"/>
                    <a:lumOff val="15000"/>
                  </a:schemeClr>
                </a:solidFill>
                <a:effectLst/>
                <a:latin typeface="Agency FB" panose="020B0503020202020204" pitchFamily="34" charset="0"/>
                <a:ea typeface="Verdana" panose="020B0604030504040204" pitchFamily="34" charset="0"/>
                <a:cs typeface="Verdana" panose="020B0604030504040204" pitchFamily="34" charset="0"/>
              </a:rPr>
              <a:t>RECOMMENDATIONS</a:t>
            </a:r>
            <a:endParaRPr lang="en-PH" sz="2000" dirty="0">
              <a:solidFill>
                <a:schemeClr val="tx1">
                  <a:lumMod val="85000"/>
                  <a:lumOff val="15000"/>
                </a:schemeClr>
              </a:solidFill>
              <a:effectLst/>
              <a:latin typeface="Agency FB" panose="020B0503020202020204" pitchFamily="34" charset="0"/>
              <a:ea typeface="Calibri" panose="020F0502020204030204" pitchFamily="34" charset="0"/>
            </a:endParaRPr>
          </a:p>
        </p:txBody>
      </p:sp>
      <p:sp>
        <p:nvSpPr>
          <p:cNvPr id="5" name="Rectangle: Rounded Corners 4">
            <a:extLst>
              <a:ext uri="{FF2B5EF4-FFF2-40B4-BE49-F238E27FC236}">
                <a16:creationId xmlns:a16="http://schemas.microsoft.com/office/drawing/2014/main" id="{106F320B-F9EC-46E5-B1C0-23B6DAE5D17D}"/>
              </a:ext>
            </a:extLst>
          </p:cNvPr>
          <p:cNvSpPr/>
          <p:nvPr/>
        </p:nvSpPr>
        <p:spPr>
          <a:xfrm>
            <a:off x="341629" y="2800952"/>
            <a:ext cx="11508739" cy="1479350"/>
          </a:xfrm>
          <a:prstGeom prst="roundRect">
            <a:avLst/>
          </a:prstGeom>
          <a:solidFill>
            <a:schemeClr val="bg1">
              <a:lumMod val="75000"/>
            </a:schemeClr>
          </a:solidFill>
          <a:ln>
            <a:solidFill>
              <a:schemeClr val="bg1">
                <a:lumMod val="85000"/>
              </a:schemeClr>
            </a:solidFill>
          </a:ln>
          <a:effectLst>
            <a:glow rad="165100">
              <a:schemeClr val="accent1">
                <a:lumMod val="75000"/>
                <a:alpha val="40000"/>
              </a:schemeClr>
            </a:glow>
            <a:outerShdw blurRad="584200" dist="38100" dir="8100000" sx="104000" sy="104000" algn="tr" rotWithShape="0">
              <a:prstClr val="black">
                <a:alpha val="50000"/>
              </a:prstClr>
            </a:outerShdw>
          </a:effectLst>
          <a:scene3d>
            <a:camera prst="orthographicFront"/>
            <a:lightRig rig="threePt" dir="t"/>
          </a:scene3d>
          <a:sp3d>
            <a:bevelT w="165100" prst="coolSlan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lnSpc>
                <a:spcPct val="107000"/>
              </a:lnSpc>
              <a:spcAft>
                <a:spcPts val="800"/>
              </a:spcAft>
            </a:pPr>
            <a:r>
              <a:rPr lang="en-US" sz="3200" dirty="0">
                <a:solidFill>
                  <a:schemeClr val="tx1">
                    <a:lumMod val="85000"/>
                    <a:lumOff val="15000"/>
                  </a:schemeClr>
                </a:solidFill>
                <a:effectLst/>
                <a:latin typeface="Agency FB" panose="020B0503020202020204" pitchFamily="34" charset="0"/>
                <a:ea typeface="Calibri" panose="020F0502020204030204" pitchFamily="34" charset="0"/>
              </a:rPr>
              <a:t>We can recommend several tips to help students avoid smartphone addiction:</a:t>
            </a:r>
          </a:p>
        </p:txBody>
      </p:sp>
    </p:spTree>
    <p:extLst>
      <p:ext uri="{BB962C8B-B14F-4D97-AF65-F5344CB8AC3E}">
        <p14:creationId xmlns:p14="http://schemas.microsoft.com/office/powerpoint/2010/main" val="2039361049"/>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Flowchart: Process 5">
            <a:extLst>
              <a:ext uri="{FF2B5EF4-FFF2-40B4-BE49-F238E27FC236}">
                <a16:creationId xmlns:a16="http://schemas.microsoft.com/office/drawing/2014/main" id="{EC33E5D3-B3E4-410E-B2F8-52A0B937285E}"/>
              </a:ext>
            </a:extLst>
          </p:cNvPr>
          <p:cNvSpPr/>
          <p:nvPr/>
        </p:nvSpPr>
        <p:spPr>
          <a:xfrm>
            <a:off x="0" y="0"/>
            <a:ext cx="12192000" cy="6858000"/>
          </a:xfrm>
          <a:prstGeom prst="flowChartProcess">
            <a:avLst/>
          </a:prstGeom>
          <a:solidFill>
            <a:schemeClr val="bg1">
              <a:lumMod val="50000"/>
            </a:schemeClr>
          </a:solidFill>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b="1" dirty="0"/>
          </a:p>
        </p:txBody>
      </p:sp>
      <p:sp>
        <p:nvSpPr>
          <p:cNvPr id="3" name="Rectangle: Rounded Corners 2">
            <a:extLst>
              <a:ext uri="{FF2B5EF4-FFF2-40B4-BE49-F238E27FC236}">
                <a16:creationId xmlns:a16="http://schemas.microsoft.com/office/drawing/2014/main" id="{0C075A75-6C78-47AF-BAD2-BEED21FD692E}"/>
              </a:ext>
            </a:extLst>
          </p:cNvPr>
          <p:cNvSpPr/>
          <p:nvPr/>
        </p:nvSpPr>
        <p:spPr>
          <a:xfrm>
            <a:off x="181276" y="223786"/>
            <a:ext cx="1917032" cy="498109"/>
          </a:xfrm>
          <a:prstGeom prst="roundRect">
            <a:avLst/>
          </a:prstGeom>
          <a:solidFill>
            <a:schemeClr val="bg2">
              <a:lumMod val="75000"/>
            </a:schemeClr>
          </a:solidFill>
          <a:effectLst>
            <a:glow rad="241300">
              <a:schemeClr val="accent3">
                <a:satMod val="175000"/>
                <a:alpha val="63000"/>
              </a:schemeClr>
            </a:glow>
            <a:outerShdw blurRad="203200" dist="127000" dir="14100000" sx="104000" sy="104000" algn="br" rotWithShape="0">
              <a:prstClr val="black">
                <a:alpha val="38000"/>
              </a:prstClr>
            </a:outerShdw>
          </a:effectLst>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a:solidFill>
                  <a:schemeClr val="tx1">
                    <a:lumMod val="85000"/>
                    <a:lumOff val="15000"/>
                  </a:schemeClr>
                </a:solidFill>
                <a:latin typeface="Footlight MT Light" panose="0204060206030A020304" pitchFamily="18" charset="0"/>
              </a:rPr>
              <a:t>CHAPTER 5</a:t>
            </a:r>
            <a:endParaRPr lang="en-PH" sz="2800" dirty="0">
              <a:solidFill>
                <a:schemeClr val="tx1">
                  <a:lumMod val="85000"/>
                  <a:lumOff val="15000"/>
                </a:schemeClr>
              </a:solidFill>
              <a:latin typeface="Footlight MT Light" panose="0204060206030A020304" pitchFamily="18" charset="0"/>
            </a:endParaRPr>
          </a:p>
        </p:txBody>
      </p:sp>
      <p:sp>
        <p:nvSpPr>
          <p:cNvPr id="4" name="Rectangle: Rounded Corners 3">
            <a:extLst>
              <a:ext uri="{FF2B5EF4-FFF2-40B4-BE49-F238E27FC236}">
                <a16:creationId xmlns:a16="http://schemas.microsoft.com/office/drawing/2014/main" id="{7DA693D9-8772-41E8-94E5-5B842D0DF777}"/>
              </a:ext>
            </a:extLst>
          </p:cNvPr>
          <p:cNvSpPr/>
          <p:nvPr/>
        </p:nvSpPr>
        <p:spPr>
          <a:xfrm>
            <a:off x="4985819" y="243443"/>
            <a:ext cx="2220361" cy="376185"/>
          </a:xfrm>
          <a:prstGeom prst="roundRect">
            <a:avLst/>
          </a:prstGeom>
          <a:solidFill>
            <a:schemeClr val="bg1">
              <a:lumMod val="75000"/>
            </a:schemeClr>
          </a:solidFill>
          <a:ln>
            <a:solidFill>
              <a:schemeClr val="bg1">
                <a:lumMod val="85000"/>
              </a:schemeClr>
            </a:solidFill>
          </a:ln>
          <a:effectLst>
            <a:glow rad="101600">
              <a:schemeClr val="accent6">
                <a:satMod val="175000"/>
                <a:alpha val="40000"/>
              </a:schemeClr>
            </a:glow>
            <a:outerShdw blurRad="584200" dist="38100" dir="8100000" sx="104000" sy="104000" algn="tr" rotWithShape="0">
              <a:prstClr val="black">
                <a:alpha val="50000"/>
              </a:prstClr>
            </a:outerShdw>
          </a:effectLst>
          <a:scene3d>
            <a:camera prst="orthographicFront"/>
            <a:lightRig rig="threePt" dir="t"/>
          </a:scene3d>
          <a:sp3d>
            <a:bevelT w="165100" prst="coolSlan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07000"/>
              </a:lnSpc>
              <a:spcAft>
                <a:spcPts val="800"/>
              </a:spcAft>
            </a:pPr>
            <a:r>
              <a:rPr lang="en-US" sz="2000" b="1" dirty="0">
                <a:solidFill>
                  <a:schemeClr val="tx1">
                    <a:lumMod val="85000"/>
                    <a:lumOff val="15000"/>
                  </a:schemeClr>
                </a:solidFill>
                <a:effectLst/>
                <a:latin typeface="Agency FB" panose="020B0503020202020204" pitchFamily="34" charset="0"/>
                <a:ea typeface="Verdana" panose="020B0604030504040204" pitchFamily="34" charset="0"/>
                <a:cs typeface="Verdana" panose="020B0604030504040204" pitchFamily="34" charset="0"/>
              </a:rPr>
              <a:t>RECOMMENDATIONS</a:t>
            </a:r>
            <a:endParaRPr lang="en-PH" sz="2000" dirty="0">
              <a:solidFill>
                <a:schemeClr val="tx1">
                  <a:lumMod val="85000"/>
                  <a:lumOff val="15000"/>
                </a:schemeClr>
              </a:solidFill>
              <a:effectLst/>
              <a:latin typeface="Agency FB" panose="020B0503020202020204" pitchFamily="34" charset="0"/>
              <a:ea typeface="Calibri" panose="020F0502020204030204" pitchFamily="34" charset="0"/>
            </a:endParaRPr>
          </a:p>
        </p:txBody>
      </p:sp>
      <p:sp>
        <p:nvSpPr>
          <p:cNvPr id="5" name="Rectangle: Rounded Corners 4">
            <a:extLst>
              <a:ext uri="{FF2B5EF4-FFF2-40B4-BE49-F238E27FC236}">
                <a16:creationId xmlns:a16="http://schemas.microsoft.com/office/drawing/2014/main" id="{106F320B-F9EC-46E5-B1C0-23B6DAE5D17D}"/>
              </a:ext>
            </a:extLst>
          </p:cNvPr>
          <p:cNvSpPr/>
          <p:nvPr/>
        </p:nvSpPr>
        <p:spPr>
          <a:xfrm>
            <a:off x="341629" y="2550695"/>
            <a:ext cx="11508739" cy="3551722"/>
          </a:xfrm>
          <a:prstGeom prst="roundRect">
            <a:avLst/>
          </a:prstGeom>
          <a:solidFill>
            <a:schemeClr val="bg1">
              <a:lumMod val="75000"/>
            </a:schemeClr>
          </a:solidFill>
          <a:ln>
            <a:solidFill>
              <a:schemeClr val="bg1">
                <a:lumMod val="85000"/>
              </a:schemeClr>
            </a:solidFill>
          </a:ln>
          <a:effectLst>
            <a:glow rad="165100">
              <a:schemeClr val="accent1">
                <a:lumMod val="75000"/>
                <a:alpha val="40000"/>
              </a:schemeClr>
            </a:glow>
            <a:outerShdw blurRad="584200" dist="38100" dir="8100000" sx="104000" sy="104000" algn="tr" rotWithShape="0">
              <a:prstClr val="black">
                <a:alpha val="50000"/>
              </a:prstClr>
            </a:outerShdw>
          </a:effectLst>
          <a:scene3d>
            <a:camera prst="orthographicFront"/>
            <a:lightRig rig="threePt" dir="t"/>
          </a:scene3d>
          <a:sp3d>
            <a:bevelT w="165100" prst="coolSlan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514350" indent="-514350" algn="just">
              <a:lnSpc>
                <a:spcPct val="107000"/>
              </a:lnSpc>
              <a:spcAft>
                <a:spcPts val="800"/>
              </a:spcAft>
              <a:buAutoNum type="arabicPeriod"/>
            </a:pPr>
            <a:r>
              <a:rPr lang="en-US" sz="3600" dirty="0">
                <a:solidFill>
                  <a:schemeClr val="tx1">
                    <a:lumMod val="85000"/>
                    <a:lumOff val="15000"/>
                  </a:schemeClr>
                </a:solidFill>
                <a:effectLst/>
                <a:latin typeface="Agency FB" panose="020B0503020202020204" pitchFamily="34" charset="0"/>
                <a:ea typeface="Calibri" panose="020F0502020204030204" pitchFamily="34" charset="0"/>
              </a:rPr>
              <a:t>Set limits: Establish specific time periods during the day when you use your phone, and stick to those limits</a:t>
            </a:r>
          </a:p>
          <a:p>
            <a:pPr marL="514350" indent="-514350" algn="just">
              <a:lnSpc>
                <a:spcPct val="107000"/>
              </a:lnSpc>
              <a:spcAft>
                <a:spcPts val="800"/>
              </a:spcAft>
              <a:buAutoNum type="arabicPeriod"/>
            </a:pPr>
            <a:r>
              <a:rPr lang="en-US" sz="3600" dirty="0">
                <a:solidFill>
                  <a:schemeClr val="tx1">
                    <a:lumMod val="85000"/>
                    <a:lumOff val="15000"/>
                  </a:schemeClr>
                </a:solidFill>
                <a:effectLst/>
                <a:latin typeface="Agency FB" panose="020B0503020202020204" pitchFamily="34" charset="0"/>
                <a:ea typeface="Calibri" panose="020F0502020204030204" pitchFamily="34" charset="0"/>
              </a:rPr>
              <a:t>Create a schedule: Plan your day in advance and allocate time for studying, socializing, exercising, and other activities that don't involve your phone.</a:t>
            </a:r>
          </a:p>
        </p:txBody>
      </p:sp>
    </p:spTree>
    <p:extLst>
      <p:ext uri="{BB962C8B-B14F-4D97-AF65-F5344CB8AC3E}">
        <p14:creationId xmlns:p14="http://schemas.microsoft.com/office/powerpoint/2010/main" val="285249556"/>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Flowchart: Process 5">
            <a:extLst>
              <a:ext uri="{FF2B5EF4-FFF2-40B4-BE49-F238E27FC236}">
                <a16:creationId xmlns:a16="http://schemas.microsoft.com/office/drawing/2014/main" id="{EC33E5D3-B3E4-410E-B2F8-52A0B937285E}"/>
              </a:ext>
            </a:extLst>
          </p:cNvPr>
          <p:cNvSpPr/>
          <p:nvPr/>
        </p:nvSpPr>
        <p:spPr>
          <a:xfrm>
            <a:off x="0" y="0"/>
            <a:ext cx="12192000" cy="6858000"/>
          </a:xfrm>
          <a:prstGeom prst="flowChartProcess">
            <a:avLst/>
          </a:prstGeom>
          <a:solidFill>
            <a:schemeClr val="bg1">
              <a:lumMod val="50000"/>
            </a:schemeClr>
          </a:solidFill>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b="1" dirty="0"/>
          </a:p>
        </p:txBody>
      </p:sp>
      <p:sp>
        <p:nvSpPr>
          <p:cNvPr id="3" name="Rectangle: Rounded Corners 2">
            <a:extLst>
              <a:ext uri="{FF2B5EF4-FFF2-40B4-BE49-F238E27FC236}">
                <a16:creationId xmlns:a16="http://schemas.microsoft.com/office/drawing/2014/main" id="{0C075A75-6C78-47AF-BAD2-BEED21FD692E}"/>
              </a:ext>
            </a:extLst>
          </p:cNvPr>
          <p:cNvSpPr/>
          <p:nvPr/>
        </p:nvSpPr>
        <p:spPr>
          <a:xfrm>
            <a:off x="181276" y="223786"/>
            <a:ext cx="1917032" cy="498109"/>
          </a:xfrm>
          <a:prstGeom prst="roundRect">
            <a:avLst/>
          </a:prstGeom>
          <a:solidFill>
            <a:schemeClr val="bg2">
              <a:lumMod val="75000"/>
            </a:schemeClr>
          </a:solidFill>
          <a:effectLst>
            <a:glow rad="241300">
              <a:schemeClr val="accent3">
                <a:satMod val="175000"/>
                <a:alpha val="63000"/>
              </a:schemeClr>
            </a:glow>
            <a:outerShdw blurRad="203200" dist="127000" dir="14100000" sx="104000" sy="104000" algn="br" rotWithShape="0">
              <a:prstClr val="black">
                <a:alpha val="38000"/>
              </a:prstClr>
            </a:outerShdw>
          </a:effectLst>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a:solidFill>
                  <a:schemeClr val="tx1">
                    <a:lumMod val="85000"/>
                    <a:lumOff val="15000"/>
                  </a:schemeClr>
                </a:solidFill>
                <a:latin typeface="Footlight MT Light" panose="0204060206030A020304" pitchFamily="18" charset="0"/>
              </a:rPr>
              <a:t>CHAPTER 5</a:t>
            </a:r>
            <a:endParaRPr lang="en-PH" sz="2800" dirty="0">
              <a:solidFill>
                <a:schemeClr val="tx1">
                  <a:lumMod val="85000"/>
                  <a:lumOff val="15000"/>
                </a:schemeClr>
              </a:solidFill>
              <a:latin typeface="Footlight MT Light" panose="0204060206030A020304" pitchFamily="18" charset="0"/>
            </a:endParaRPr>
          </a:p>
        </p:txBody>
      </p:sp>
      <p:sp>
        <p:nvSpPr>
          <p:cNvPr id="4" name="Rectangle: Rounded Corners 3">
            <a:extLst>
              <a:ext uri="{FF2B5EF4-FFF2-40B4-BE49-F238E27FC236}">
                <a16:creationId xmlns:a16="http://schemas.microsoft.com/office/drawing/2014/main" id="{7DA693D9-8772-41E8-94E5-5B842D0DF777}"/>
              </a:ext>
            </a:extLst>
          </p:cNvPr>
          <p:cNvSpPr/>
          <p:nvPr/>
        </p:nvSpPr>
        <p:spPr>
          <a:xfrm>
            <a:off x="4985819" y="243443"/>
            <a:ext cx="2220361" cy="376185"/>
          </a:xfrm>
          <a:prstGeom prst="roundRect">
            <a:avLst/>
          </a:prstGeom>
          <a:solidFill>
            <a:schemeClr val="bg1">
              <a:lumMod val="75000"/>
            </a:schemeClr>
          </a:solidFill>
          <a:ln>
            <a:solidFill>
              <a:schemeClr val="bg1">
                <a:lumMod val="85000"/>
              </a:schemeClr>
            </a:solidFill>
          </a:ln>
          <a:effectLst>
            <a:glow rad="101600">
              <a:schemeClr val="accent6">
                <a:satMod val="175000"/>
                <a:alpha val="40000"/>
              </a:schemeClr>
            </a:glow>
            <a:outerShdw blurRad="584200" dist="38100" dir="8100000" sx="104000" sy="104000" algn="tr" rotWithShape="0">
              <a:prstClr val="black">
                <a:alpha val="50000"/>
              </a:prstClr>
            </a:outerShdw>
          </a:effectLst>
          <a:scene3d>
            <a:camera prst="orthographicFront"/>
            <a:lightRig rig="threePt" dir="t"/>
          </a:scene3d>
          <a:sp3d>
            <a:bevelT w="165100" prst="coolSlan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07000"/>
              </a:lnSpc>
              <a:spcAft>
                <a:spcPts val="800"/>
              </a:spcAft>
            </a:pPr>
            <a:r>
              <a:rPr lang="en-US" sz="2000" b="1" dirty="0">
                <a:solidFill>
                  <a:schemeClr val="tx1">
                    <a:lumMod val="85000"/>
                    <a:lumOff val="15000"/>
                  </a:schemeClr>
                </a:solidFill>
                <a:effectLst/>
                <a:latin typeface="Agency FB" panose="020B0503020202020204" pitchFamily="34" charset="0"/>
                <a:ea typeface="Verdana" panose="020B0604030504040204" pitchFamily="34" charset="0"/>
                <a:cs typeface="Verdana" panose="020B0604030504040204" pitchFamily="34" charset="0"/>
              </a:rPr>
              <a:t>RECOMMENDATIONS</a:t>
            </a:r>
            <a:endParaRPr lang="en-PH" sz="2000" dirty="0">
              <a:solidFill>
                <a:schemeClr val="tx1">
                  <a:lumMod val="85000"/>
                  <a:lumOff val="15000"/>
                </a:schemeClr>
              </a:solidFill>
              <a:effectLst/>
              <a:latin typeface="Agency FB" panose="020B0503020202020204" pitchFamily="34" charset="0"/>
              <a:ea typeface="Calibri" panose="020F0502020204030204" pitchFamily="34" charset="0"/>
            </a:endParaRPr>
          </a:p>
        </p:txBody>
      </p:sp>
      <p:sp>
        <p:nvSpPr>
          <p:cNvPr id="5" name="Rectangle: Rounded Corners 4">
            <a:extLst>
              <a:ext uri="{FF2B5EF4-FFF2-40B4-BE49-F238E27FC236}">
                <a16:creationId xmlns:a16="http://schemas.microsoft.com/office/drawing/2014/main" id="{106F320B-F9EC-46E5-B1C0-23B6DAE5D17D}"/>
              </a:ext>
            </a:extLst>
          </p:cNvPr>
          <p:cNvSpPr/>
          <p:nvPr/>
        </p:nvSpPr>
        <p:spPr>
          <a:xfrm>
            <a:off x="341629" y="2550695"/>
            <a:ext cx="11508739" cy="3551722"/>
          </a:xfrm>
          <a:prstGeom prst="roundRect">
            <a:avLst/>
          </a:prstGeom>
          <a:solidFill>
            <a:schemeClr val="bg1">
              <a:lumMod val="75000"/>
            </a:schemeClr>
          </a:solidFill>
          <a:ln>
            <a:solidFill>
              <a:schemeClr val="bg1">
                <a:lumMod val="85000"/>
              </a:schemeClr>
            </a:solidFill>
          </a:ln>
          <a:effectLst>
            <a:glow rad="165100">
              <a:schemeClr val="accent1">
                <a:lumMod val="75000"/>
                <a:alpha val="40000"/>
              </a:schemeClr>
            </a:glow>
            <a:outerShdw blurRad="584200" dist="38100" dir="8100000" sx="104000" sy="104000" algn="tr" rotWithShape="0">
              <a:prstClr val="black">
                <a:alpha val="50000"/>
              </a:prstClr>
            </a:outerShdw>
          </a:effectLst>
          <a:scene3d>
            <a:camera prst="orthographicFront"/>
            <a:lightRig rig="threePt" dir="t"/>
          </a:scene3d>
          <a:sp3d>
            <a:bevelT w="165100" prst="coolSlan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lnSpc>
                <a:spcPct val="107000"/>
              </a:lnSpc>
              <a:spcAft>
                <a:spcPts val="800"/>
              </a:spcAft>
            </a:pPr>
            <a:r>
              <a:rPr lang="en-US" sz="3600" b="0" i="0" dirty="0">
                <a:solidFill>
                  <a:srgbClr val="000000"/>
                </a:solidFill>
                <a:effectLst/>
                <a:latin typeface="Segoe UI Historic" panose="020B0502040204020203" pitchFamily="34" charset="0"/>
              </a:rPr>
              <a:t>3. Use app blockers Consider using apps or features that limit your access to certain apps or websites that may be contributing to your smartphone addiction.</a:t>
            </a:r>
            <a:endParaRPr lang="en-US" sz="3600" dirty="0">
              <a:solidFill>
                <a:schemeClr val="tx1">
                  <a:lumMod val="85000"/>
                  <a:lumOff val="15000"/>
                </a:schemeClr>
              </a:solidFill>
              <a:effectLst/>
              <a:latin typeface="Agency FB" panose="020B0503020202020204" pitchFamily="34" charset="0"/>
              <a:ea typeface="Calibri" panose="020F0502020204030204" pitchFamily="34" charset="0"/>
            </a:endParaRPr>
          </a:p>
        </p:txBody>
      </p:sp>
    </p:spTree>
    <p:extLst>
      <p:ext uri="{BB962C8B-B14F-4D97-AF65-F5344CB8AC3E}">
        <p14:creationId xmlns:p14="http://schemas.microsoft.com/office/powerpoint/2010/main" val="1963246461"/>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Flowchart: Process 5">
            <a:extLst>
              <a:ext uri="{FF2B5EF4-FFF2-40B4-BE49-F238E27FC236}">
                <a16:creationId xmlns:a16="http://schemas.microsoft.com/office/drawing/2014/main" id="{EC33E5D3-B3E4-410E-B2F8-52A0B937285E}"/>
              </a:ext>
            </a:extLst>
          </p:cNvPr>
          <p:cNvSpPr/>
          <p:nvPr/>
        </p:nvSpPr>
        <p:spPr>
          <a:xfrm>
            <a:off x="0" y="0"/>
            <a:ext cx="12192000" cy="6858000"/>
          </a:xfrm>
          <a:prstGeom prst="flowChartProcess">
            <a:avLst/>
          </a:prstGeom>
          <a:solidFill>
            <a:schemeClr val="bg1">
              <a:lumMod val="50000"/>
            </a:schemeClr>
          </a:solidFill>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b="1" dirty="0"/>
          </a:p>
        </p:txBody>
      </p:sp>
      <p:sp>
        <p:nvSpPr>
          <p:cNvPr id="3" name="Rectangle: Rounded Corners 2">
            <a:extLst>
              <a:ext uri="{FF2B5EF4-FFF2-40B4-BE49-F238E27FC236}">
                <a16:creationId xmlns:a16="http://schemas.microsoft.com/office/drawing/2014/main" id="{0C075A75-6C78-47AF-BAD2-BEED21FD692E}"/>
              </a:ext>
            </a:extLst>
          </p:cNvPr>
          <p:cNvSpPr/>
          <p:nvPr/>
        </p:nvSpPr>
        <p:spPr>
          <a:xfrm>
            <a:off x="181276" y="223786"/>
            <a:ext cx="1917032" cy="498109"/>
          </a:xfrm>
          <a:prstGeom prst="roundRect">
            <a:avLst/>
          </a:prstGeom>
          <a:solidFill>
            <a:schemeClr val="bg2">
              <a:lumMod val="75000"/>
            </a:schemeClr>
          </a:solidFill>
          <a:effectLst>
            <a:glow rad="241300">
              <a:schemeClr val="accent3">
                <a:satMod val="175000"/>
                <a:alpha val="63000"/>
              </a:schemeClr>
            </a:glow>
            <a:outerShdw blurRad="203200" dist="127000" dir="14100000" sx="104000" sy="104000" algn="br" rotWithShape="0">
              <a:prstClr val="black">
                <a:alpha val="38000"/>
              </a:prstClr>
            </a:outerShdw>
          </a:effectLst>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a:solidFill>
                  <a:schemeClr val="tx1">
                    <a:lumMod val="85000"/>
                    <a:lumOff val="15000"/>
                  </a:schemeClr>
                </a:solidFill>
                <a:latin typeface="Footlight MT Light" panose="0204060206030A020304" pitchFamily="18" charset="0"/>
              </a:rPr>
              <a:t>CHAPTER 5</a:t>
            </a:r>
            <a:endParaRPr lang="en-PH" sz="2800" dirty="0">
              <a:solidFill>
                <a:schemeClr val="tx1">
                  <a:lumMod val="85000"/>
                  <a:lumOff val="15000"/>
                </a:schemeClr>
              </a:solidFill>
              <a:latin typeface="Footlight MT Light" panose="0204060206030A020304" pitchFamily="18" charset="0"/>
            </a:endParaRPr>
          </a:p>
        </p:txBody>
      </p:sp>
      <p:sp>
        <p:nvSpPr>
          <p:cNvPr id="4" name="Rectangle: Rounded Corners 3">
            <a:extLst>
              <a:ext uri="{FF2B5EF4-FFF2-40B4-BE49-F238E27FC236}">
                <a16:creationId xmlns:a16="http://schemas.microsoft.com/office/drawing/2014/main" id="{7DA693D9-8772-41E8-94E5-5B842D0DF777}"/>
              </a:ext>
            </a:extLst>
          </p:cNvPr>
          <p:cNvSpPr/>
          <p:nvPr/>
        </p:nvSpPr>
        <p:spPr>
          <a:xfrm>
            <a:off x="4985819" y="243443"/>
            <a:ext cx="2220361" cy="376185"/>
          </a:xfrm>
          <a:prstGeom prst="roundRect">
            <a:avLst/>
          </a:prstGeom>
          <a:solidFill>
            <a:schemeClr val="bg1">
              <a:lumMod val="75000"/>
            </a:schemeClr>
          </a:solidFill>
          <a:ln>
            <a:solidFill>
              <a:schemeClr val="bg1">
                <a:lumMod val="85000"/>
              </a:schemeClr>
            </a:solidFill>
          </a:ln>
          <a:effectLst>
            <a:glow rad="101600">
              <a:schemeClr val="accent6">
                <a:satMod val="175000"/>
                <a:alpha val="40000"/>
              </a:schemeClr>
            </a:glow>
            <a:outerShdw blurRad="584200" dist="38100" dir="8100000" sx="104000" sy="104000" algn="tr" rotWithShape="0">
              <a:prstClr val="black">
                <a:alpha val="50000"/>
              </a:prstClr>
            </a:outerShdw>
          </a:effectLst>
          <a:scene3d>
            <a:camera prst="orthographicFront"/>
            <a:lightRig rig="threePt" dir="t"/>
          </a:scene3d>
          <a:sp3d>
            <a:bevelT w="165100" prst="coolSlan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07000"/>
              </a:lnSpc>
              <a:spcAft>
                <a:spcPts val="800"/>
              </a:spcAft>
            </a:pPr>
            <a:r>
              <a:rPr lang="en-US" sz="2000" b="1" dirty="0">
                <a:solidFill>
                  <a:schemeClr val="tx1">
                    <a:lumMod val="85000"/>
                    <a:lumOff val="15000"/>
                  </a:schemeClr>
                </a:solidFill>
                <a:effectLst/>
                <a:latin typeface="Agency FB" panose="020B0503020202020204" pitchFamily="34" charset="0"/>
                <a:ea typeface="Verdana" panose="020B0604030504040204" pitchFamily="34" charset="0"/>
                <a:cs typeface="Verdana" panose="020B0604030504040204" pitchFamily="34" charset="0"/>
              </a:rPr>
              <a:t>RECOMMENDATIONS</a:t>
            </a:r>
            <a:endParaRPr lang="en-PH" sz="2000" dirty="0">
              <a:solidFill>
                <a:schemeClr val="tx1">
                  <a:lumMod val="85000"/>
                  <a:lumOff val="15000"/>
                </a:schemeClr>
              </a:solidFill>
              <a:effectLst/>
              <a:latin typeface="Agency FB" panose="020B0503020202020204" pitchFamily="34" charset="0"/>
              <a:ea typeface="Calibri" panose="020F0502020204030204" pitchFamily="34" charset="0"/>
            </a:endParaRPr>
          </a:p>
        </p:txBody>
      </p:sp>
      <p:sp>
        <p:nvSpPr>
          <p:cNvPr id="5" name="Rectangle: Rounded Corners 4">
            <a:extLst>
              <a:ext uri="{FF2B5EF4-FFF2-40B4-BE49-F238E27FC236}">
                <a16:creationId xmlns:a16="http://schemas.microsoft.com/office/drawing/2014/main" id="{106F320B-F9EC-46E5-B1C0-23B6DAE5D17D}"/>
              </a:ext>
            </a:extLst>
          </p:cNvPr>
          <p:cNvSpPr/>
          <p:nvPr/>
        </p:nvSpPr>
        <p:spPr>
          <a:xfrm>
            <a:off x="341629" y="2550695"/>
            <a:ext cx="11508739" cy="3551722"/>
          </a:xfrm>
          <a:prstGeom prst="roundRect">
            <a:avLst/>
          </a:prstGeom>
          <a:solidFill>
            <a:schemeClr val="bg1">
              <a:lumMod val="75000"/>
            </a:schemeClr>
          </a:solidFill>
          <a:ln>
            <a:solidFill>
              <a:schemeClr val="bg1">
                <a:lumMod val="85000"/>
              </a:schemeClr>
            </a:solidFill>
          </a:ln>
          <a:effectLst>
            <a:glow rad="165100">
              <a:schemeClr val="accent1">
                <a:lumMod val="75000"/>
                <a:alpha val="40000"/>
              </a:schemeClr>
            </a:glow>
            <a:outerShdw blurRad="584200" dist="38100" dir="8100000" sx="104000" sy="104000" algn="tr" rotWithShape="0">
              <a:prstClr val="black">
                <a:alpha val="50000"/>
              </a:prstClr>
            </a:outerShdw>
          </a:effectLst>
          <a:scene3d>
            <a:camera prst="orthographicFront"/>
            <a:lightRig rig="threePt" dir="t"/>
          </a:scene3d>
          <a:sp3d>
            <a:bevelT w="165100" prst="coolSlan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lnSpc>
                <a:spcPct val="107000"/>
              </a:lnSpc>
              <a:spcAft>
                <a:spcPts val="800"/>
              </a:spcAft>
            </a:pPr>
            <a:r>
              <a:rPr lang="en-US" sz="3600" b="0" i="0" dirty="0">
                <a:solidFill>
                  <a:srgbClr val="000000"/>
                </a:solidFill>
                <a:effectLst/>
                <a:latin typeface="Segoe UI Historic" panose="020B0502040204020203" pitchFamily="34" charset="0"/>
              </a:rPr>
              <a:t>4. Practice mindfulness: Be aware of your phone usage and how it affects your mood, productivity, and relationships. Take breaks and practice mindfulness techniques to stay present and focused.</a:t>
            </a:r>
            <a:endParaRPr lang="en-US" sz="3600" dirty="0">
              <a:solidFill>
                <a:schemeClr val="tx1">
                  <a:lumMod val="85000"/>
                  <a:lumOff val="15000"/>
                </a:schemeClr>
              </a:solidFill>
              <a:effectLst/>
              <a:latin typeface="Agency FB" panose="020B0503020202020204" pitchFamily="34" charset="0"/>
              <a:ea typeface="Calibri" panose="020F0502020204030204" pitchFamily="34" charset="0"/>
            </a:endParaRPr>
          </a:p>
        </p:txBody>
      </p:sp>
    </p:spTree>
    <p:extLst>
      <p:ext uri="{BB962C8B-B14F-4D97-AF65-F5344CB8AC3E}">
        <p14:creationId xmlns:p14="http://schemas.microsoft.com/office/powerpoint/2010/main" val="1756459327"/>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Flowchart: Process 5">
            <a:extLst>
              <a:ext uri="{FF2B5EF4-FFF2-40B4-BE49-F238E27FC236}">
                <a16:creationId xmlns:a16="http://schemas.microsoft.com/office/drawing/2014/main" id="{EC33E5D3-B3E4-410E-B2F8-52A0B937285E}"/>
              </a:ext>
            </a:extLst>
          </p:cNvPr>
          <p:cNvSpPr/>
          <p:nvPr/>
        </p:nvSpPr>
        <p:spPr>
          <a:xfrm>
            <a:off x="0" y="0"/>
            <a:ext cx="12192000" cy="6858000"/>
          </a:xfrm>
          <a:prstGeom prst="flowChartProcess">
            <a:avLst/>
          </a:prstGeom>
          <a:solidFill>
            <a:schemeClr val="bg1">
              <a:lumMod val="50000"/>
            </a:schemeClr>
          </a:solidFill>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b="1" dirty="0"/>
          </a:p>
        </p:txBody>
      </p:sp>
      <p:sp>
        <p:nvSpPr>
          <p:cNvPr id="3" name="Rectangle: Rounded Corners 2">
            <a:extLst>
              <a:ext uri="{FF2B5EF4-FFF2-40B4-BE49-F238E27FC236}">
                <a16:creationId xmlns:a16="http://schemas.microsoft.com/office/drawing/2014/main" id="{0C075A75-6C78-47AF-BAD2-BEED21FD692E}"/>
              </a:ext>
            </a:extLst>
          </p:cNvPr>
          <p:cNvSpPr/>
          <p:nvPr/>
        </p:nvSpPr>
        <p:spPr>
          <a:xfrm>
            <a:off x="181276" y="223786"/>
            <a:ext cx="1917032" cy="498109"/>
          </a:xfrm>
          <a:prstGeom prst="roundRect">
            <a:avLst/>
          </a:prstGeom>
          <a:solidFill>
            <a:schemeClr val="bg2">
              <a:lumMod val="75000"/>
            </a:schemeClr>
          </a:solidFill>
          <a:effectLst>
            <a:glow rad="241300">
              <a:schemeClr val="accent3">
                <a:satMod val="175000"/>
                <a:alpha val="63000"/>
              </a:schemeClr>
            </a:glow>
            <a:outerShdw blurRad="203200" dist="127000" dir="14100000" sx="104000" sy="104000" algn="br" rotWithShape="0">
              <a:prstClr val="black">
                <a:alpha val="38000"/>
              </a:prstClr>
            </a:outerShdw>
          </a:effectLst>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a:solidFill>
                  <a:schemeClr val="tx1">
                    <a:lumMod val="85000"/>
                    <a:lumOff val="15000"/>
                  </a:schemeClr>
                </a:solidFill>
                <a:latin typeface="Footlight MT Light" panose="0204060206030A020304" pitchFamily="18" charset="0"/>
              </a:rPr>
              <a:t>CHAPTER 5</a:t>
            </a:r>
            <a:endParaRPr lang="en-PH" sz="2800" dirty="0">
              <a:solidFill>
                <a:schemeClr val="tx1">
                  <a:lumMod val="85000"/>
                  <a:lumOff val="15000"/>
                </a:schemeClr>
              </a:solidFill>
              <a:latin typeface="Footlight MT Light" panose="0204060206030A020304" pitchFamily="18" charset="0"/>
            </a:endParaRPr>
          </a:p>
        </p:txBody>
      </p:sp>
      <p:sp>
        <p:nvSpPr>
          <p:cNvPr id="4" name="Rectangle: Rounded Corners 3">
            <a:extLst>
              <a:ext uri="{FF2B5EF4-FFF2-40B4-BE49-F238E27FC236}">
                <a16:creationId xmlns:a16="http://schemas.microsoft.com/office/drawing/2014/main" id="{7DA693D9-8772-41E8-94E5-5B842D0DF777}"/>
              </a:ext>
            </a:extLst>
          </p:cNvPr>
          <p:cNvSpPr/>
          <p:nvPr/>
        </p:nvSpPr>
        <p:spPr>
          <a:xfrm>
            <a:off x="4985819" y="243443"/>
            <a:ext cx="2220361" cy="376185"/>
          </a:xfrm>
          <a:prstGeom prst="roundRect">
            <a:avLst/>
          </a:prstGeom>
          <a:solidFill>
            <a:schemeClr val="bg1">
              <a:lumMod val="75000"/>
            </a:schemeClr>
          </a:solidFill>
          <a:ln>
            <a:solidFill>
              <a:schemeClr val="bg1">
                <a:lumMod val="85000"/>
              </a:schemeClr>
            </a:solidFill>
          </a:ln>
          <a:effectLst>
            <a:glow rad="101600">
              <a:schemeClr val="accent6">
                <a:satMod val="175000"/>
                <a:alpha val="40000"/>
              </a:schemeClr>
            </a:glow>
            <a:outerShdw blurRad="584200" dist="38100" dir="8100000" sx="104000" sy="104000" algn="tr" rotWithShape="0">
              <a:prstClr val="black">
                <a:alpha val="50000"/>
              </a:prstClr>
            </a:outerShdw>
          </a:effectLst>
          <a:scene3d>
            <a:camera prst="orthographicFront"/>
            <a:lightRig rig="threePt" dir="t"/>
          </a:scene3d>
          <a:sp3d>
            <a:bevelT w="165100" prst="coolSlan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07000"/>
              </a:lnSpc>
              <a:spcAft>
                <a:spcPts val="800"/>
              </a:spcAft>
            </a:pPr>
            <a:r>
              <a:rPr lang="en-US" sz="2000" b="1" dirty="0">
                <a:solidFill>
                  <a:schemeClr val="tx1">
                    <a:lumMod val="85000"/>
                    <a:lumOff val="15000"/>
                  </a:schemeClr>
                </a:solidFill>
                <a:effectLst/>
                <a:latin typeface="Agency FB" panose="020B0503020202020204" pitchFamily="34" charset="0"/>
                <a:ea typeface="Verdana" panose="020B0604030504040204" pitchFamily="34" charset="0"/>
                <a:cs typeface="Verdana" panose="020B0604030504040204" pitchFamily="34" charset="0"/>
              </a:rPr>
              <a:t>RECOMMENDATIONS</a:t>
            </a:r>
            <a:endParaRPr lang="en-PH" sz="2000" dirty="0">
              <a:solidFill>
                <a:schemeClr val="tx1">
                  <a:lumMod val="85000"/>
                  <a:lumOff val="15000"/>
                </a:schemeClr>
              </a:solidFill>
              <a:effectLst/>
              <a:latin typeface="Agency FB" panose="020B0503020202020204" pitchFamily="34" charset="0"/>
              <a:ea typeface="Calibri" panose="020F0502020204030204" pitchFamily="34" charset="0"/>
            </a:endParaRPr>
          </a:p>
        </p:txBody>
      </p:sp>
      <p:sp>
        <p:nvSpPr>
          <p:cNvPr id="5" name="Rectangle: Rounded Corners 4">
            <a:extLst>
              <a:ext uri="{FF2B5EF4-FFF2-40B4-BE49-F238E27FC236}">
                <a16:creationId xmlns:a16="http://schemas.microsoft.com/office/drawing/2014/main" id="{106F320B-F9EC-46E5-B1C0-23B6DAE5D17D}"/>
              </a:ext>
            </a:extLst>
          </p:cNvPr>
          <p:cNvSpPr/>
          <p:nvPr/>
        </p:nvSpPr>
        <p:spPr>
          <a:xfrm>
            <a:off x="341629" y="2550695"/>
            <a:ext cx="11508739" cy="3551722"/>
          </a:xfrm>
          <a:prstGeom prst="roundRect">
            <a:avLst/>
          </a:prstGeom>
          <a:solidFill>
            <a:schemeClr val="bg1">
              <a:lumMod val="75000"/>
            </a:schemeClr>
          </a:solidFill>
          <a:ln>
            <a:solidFill>
              <a:schemeClr val="bg1">
                <a:lumMod val="85000"/>
              </a:schemeClr>
            </a:solidFill>
          </a:ln>
          <a:effectLst>
            <a:glow rad="165100">
              <a:schemeClr val="accent1">
                <a:lumMod val="75000"/>
                <a:alpha val="40000"/>
              </a:schemeClr>
            </a:glow>
            <a:outerShdw blurRad="584200" dist="38100" dir="8100000" sx="104000" sy="104000" algn="tr" rotWithShape="0">
              <a:prstClr val="black">
                <a:alpha val="50000"/>
              </a:prstClr>
            </a:outerShdw>
          </a:effectLst>
          <a:scene3d>
            <a:camera prst="orthographicFront"/>
            <a:lightRig rig="threePt" dir="t"/>
          </a:scene3d>
          <a:sp3d>
            <a:bevelT w="165100" prst="coolSlan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lnSpc>
                <a:spcPct val="107000"/>
              </a:lnSpc>
              <a:spcAft>
                <a:spcPts val="800"/>
              </a:spcAft>
            </a:pPr>
            <a:r>
              <a:rPr lang="en-US" sz="3600" b="0" i="0" dirty="0">
                <a:solidFill>
                  <a:srgbClr val="000000"/>
                </a:solidFill>
                <a:effectLst/>
                <a:latin typeface="Segoe UI Historic" panose="020B0502040204020203" pitchFamily="34" charset="0"/>
              </a:rPr>
              <a:t>5. Find alternative activities: Replace phone usage with other activities you enjoy. such as reading a book, going for a walk, or having a conversation with a friend.</a:t>
            </a:r>
          </a:p>
        </p:txBody>
      </p:sp>
    </p:spTree>
    <p:extLst>
      <p:ext uri="{BB962C8B-B14F-4D97-AF65-F5344CB8AC3E}">
        <p14:creationId xmlns:p14="http://schemas.microsoft.com/office/powerpoint/2010/main" val="2561930345"/>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412</TotalTime>
  <Words>2682</Words>
  <Application>Microsoft Office PowerPoint</Application>
  <PresentationFormat>Widescreen</PresentationFormat>
  <Paragraphs>204</Paragraphs>
  <Slides>51</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51</vt:i4>
      </vt:variant>
    </vt:vector>
  </HeadingPairs>
  <TitlesOfParts>
    <vt:vector size="60" baseType="lpstr">
      <vt:lpstr>Agency FB</vt:lpstr>
      <vt:lpstr>Arial</vt:lpstr>
      <vt:lpstr>Bauhaus 93</vt:lpstr>
      <vt:lpstr>Bodoni MT</vt:lpstr>
      <vt:lpstr>Calibri</vt:lpstr>
      <vt:lpstr>Calibri Light</vt:lpstr>
      <vt:lpstr>Footlight MT Light</vt:lpstr>
      <vt:lpstr>Segoe UI Historic</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Ryan</dc:creator>
  <cp:lastModifiedBy>Admin</cp:lastModifiedBy>
  <cp:revision>40</cp:revision>
  <dcterms:created xsi:type="dcterms:W3CDTF">2025-01-26T09:14:36Z</dcterms:created>
  <dcterms:modified xsi:type="dcterms:W3CDTF">2025-02-14T02:12:54Z</dcterms:modified>
</cp:coreProperties>
</file>